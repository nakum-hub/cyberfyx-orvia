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227421a81746da" /><Relationship Type="http://schemas.openxmlformats.org/officeDocument/2006/relationships/extended-properties" Target="/docProps/app.xml" Id="Rca6732c18bfe4a9a" /><Relationship Type="http://schemas.openxmlformats.org/officeDocument/2006/relationships/officeDocument" Target="/ppt/presentation.xml" Id="Rac3fda616e7c476c" /></Relationships>
</file>

<file path=ppt/presentation.xml><?xml version="1.0" encoding="utf-8"?>
<p:presentation xmlns:p="http://schemas.openxmlformats.org/presentationml/2006/main">
  <p:sldMasterIdLst>
    <p:sldMasterId xmlns:r="http://schemas.openxmlformats.org/officeDocument/2006/relationships" id="2147483648" r:id="Re7a4f16e543249bc"/>
  </p:sldMasterIdLst>
  <p:notesMasterIdLst>
    <p:notesMasterId xmlns:r="http://schemas.openxmlformats.org/officeDocument/2006/relationships" r:id="R7a1c86400a2e4c0c"/>
  </p:notesMasterIdLst>
  <p:sldIdLst>
    <p:sldId xmlns:r="http://schemas.openxmlformats.org/officeDocument/2006/relationships" id="256" r:id="R963e29e3352849ab"/>
    <p:sldId xmlns:r="http://schemas.openxmlformats.org/officeDocument/2006/relationships" id="257" r:id="Rcd4bc6f8766c4e24"/>
    <p:sldId xmlns:r="http://schemas.openxmlformats.org/officeDocument/2006/relationships" id="258" r:id="R95e962c9450c415b"/>
    <p:sldId xmlns:r="http://schemas.openxmlformats.org/officeDocument/2006/relationships" id="259" r:id="R52ba8c318a604880"/>
    <p:sldId xmlns:r="http://schemas.openxmlformats.org/officeDocument/2006/relationships" id="260" r:id="Rc2b52391aa914c46"/>
    <p:sldId xmlns:r="http://schemas.openxmlformats.org/officeDocument/2006/relationships" id="261" r:id="R5f7267a86861419b"/>
    <p:sldId xmlns:r="http://schemas.openxmlformats.org/officeDocument/2006/relationships" id="262" r:id="R6086652757ca446d"/>
    <p:sldId xmlns:r="http://schemas.openxmlformats.org/officeDocument/2006/relationships" id="263" r:id="R10442d5d3e77464b"/>
    <p:sldId xmlns:r="http://schemas.openxmlformats.org/officeDocument/2006/relationships" id="264" r:id="R0dd46352d6224f40"/>
    <p:sldId xmlns:r="http://schemas.openxmlformats.org/officeDocument/2006/relationships" id="265" r:id="Rb3f47c9d7942463e"/>
    <p:sldId xmlns:r="http://schemas.openxmlformats.org/officeDocument/2006/relationships" id="266" r:id="R118806b3e653401b"/>
    <p:sldId xmlns:r="http://schemas.openxmlformats.org/officeDocument/2006/relationships" id="267" r:id="R52ee340b1a3346e4"/>
    <p:sldId xmlns:r="http://schemas.openxmlformats.org/officeDocument/2006/relationships" id="268" r:id="R26405f4e02cb4102"/>
    <p:sldId xmlns:r="http://schemas.openxmlformats.org/officeDocument/2006/relationships" id="269" r:id="R8020b3bb9d724dfc"/>
    <p:sldId xmlns:r="http://schemas.openxmlformats.org/officeDocument/2006/relationships" id="270" r:id="R992ba4439fb44725"/>
    <p:sldId xmlns:r="http://schemas.openxmlformats.org/officeDocument/2006/relationships" id="271" r:id="R7ea14396cd1c4354"/>
    <p:sldId xmlns:r="http://schemas.openxmlformats.org/officeDocument/2006/relationships" id="272" r:id="R57f851e1d122416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97be7586eb41e2" /><Relationship Type="http://schemas.openxmlformats.org/officeDocument/2006/relationships/slideMaster" Target="/ppt/slideMasters/slideMaster1.xml" Id="Re7a4f16e543249bc" /><Relationship Type="http://schemas.openxmlformats.org/officeDocument/2006/relationships/notesMaster" Target="/ppt/notesMasters/notesMaster1.xml" Id="R7a1c86400a2e4c0c" /><Relationship Type="http://schemas.openxmlformats.org/officeDocument/2006/relationships/presProps" Target="/ppt/presProps.xml" Id="R995ab9d7ffe2466f" /><Relationship Type="http://schemas.openxmlformats.org/officeDocument/2006/relationships/tableStyles" Target="/ppt/tableStyles.xml" Id="R1493eda23ffb4efd" /><Relationship Type="http://schemas.openxmlformats.org/officeDocument/2006/relationships/slide" Target="/ppt/slides/slide1.xml" Id="R963e29e3352849ab" /><Relationship Type="http://schemas.openxmlformats.org/officeDocument/2006/relationships/slide" Target="/ppt/slides/slide2.xml" Id="Rcd4bc6f8766c4e24" /><Relationship Type="http://schemas.openxmlformats.org/officeDocument/2006/relationships/slide" Target="/ppt/slides/slide3.xml" Id="R95e962c9450c415b" /><Relationship Type="http://schemas.openxmlformats.org/officeDocument/2006/relationships/slide" Target="/ppt/slides/slide4.xml" Id="R52ba8c318a604880" /><Relationship Type="http://schemas.openxmlformats.org/officeDocument/2006/relationships/slide" Target="/ppt/slides/slide5.xml" Id="Rc2b52391aa914c46" /><Relationship Type="http://schemas.openxmlformats.org/officeDocument/2006/relationships/slide" Target="/ppt/slides/slide6.xml" Id="R5f7267a86861419b" /><Relationship Type="http://schemas.openxmlformats.org/officeDocument/2006/relationships/slide" Target="/ppt/slides/slide7.xml" Id="R6086652757ca446d" /><Relationship Type="http://schemas.openxmlformats.org/officeDocument/2006/relationships/slide" Target="/ppt/slides/slide8.xml" Id="R10442d5d3e77464b" /><Relationship Type="http://schemas.openxmlformats.org/officeDocument/2006/relationships/slide" Target="/ppt/slides/slide9.xml" Id="R0dd46352d6224f40" /><Relationship Type="http://schemas.openxmlformats.org/officeDocument/2006/relationships/slide" Target="/ppt/slides/slide10.xml" Id="Rb3f47c9d7942463e" /><Relationship Type="http://schemas.openxmlformats.org/officeDocument/2006/relationships/slide" Target="/ppt/slides/slide11.xml" Id="R118806b3e653401b" /><Relationship Type="http://schemas.openxmlformats.org/officeDocument/2006/relationships/slide" Target="/ppt/slides/slide12.xml" Id="R52ee340b1a3346e4" /><Relationship Type="http://schemas.openxmlformats.org/officeDocument/2006/relationships/slide" Target="/ppt/slides/slide13.xml" Id="R26405f4e02cb4102" /><Relationship Type="http://schemas.openxmlformats.org/officeDocument/2006/relationships/slide" Target="/ppt/slides/slide14.xml" Id="R8020b3bb9d724dfc" /><Relationship Type="http://schemas.openxmlformats.org/officeDocument/2006/relationships/slide" Target="/ppt/slides/slide15.xml" Id="R992ba4439fb44725" /><Relationship Type="http://schemas.openxmlformats.org/officeDocument/2006/relationships/slide" Target="/ppt/slides/slide16.xml" Id="R7ea14396cd1c4354" /><Relationship Type="http://schemas.openxmlformats.org/officeDocument/2006/relationships/slide" Target="/ppt/slides/slide17.xml" Id="R57f851e1d12241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76bf8b90cc47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da56a96a6e4aae" /><Relationship Type="http://schemas.openxmlformats.org/officeDocument/2006/relationships/notesMaster" Target="/ppt/notesMasters/notesMaster1.xml" Id="R8d2b4596e12f49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50853f6af94c38" /><Relationship Type="http://schemas.openxmlformats.org/officeDocument/2006/relationships/notesMaster" Target="/ppt/notesMasters/notesMaster1.xml" Id="Rafb43508d24b48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242b9cdb2b482f" /><Relationship Type="http://schemas.openxmlformats.org/officeDocument/2006/relationships/notesMaster" Target="/ppt/notesMasters/notesMaster1.xml" Id="R51a8a27242d847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2c4ccc7a7d43dd" /><Relationship Type="http://schemas.openxmlformats.org/officeDocument/2006/relationships/notesMaster" Target="/ppt/notesMasters/notesMaster1.xml" Id="R3ad4e65d74074f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aa4f891d8a4c6d" /><Relationship Type="http://schemas.openxmlformats.org/officeDocument/2006/relationships/notesMaster" Target="/ppt/notesMasters/notesMaster1.xml" Id="R64941ac39f344d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79f40ea2fd4180" /><Relationship Type="http://schemas.openxmlformats.org/officeDocument/2006/relationships/notesMaster" Target="/ppt/notesMasters/notesMaster1.xml" Id="R8fb926b1843440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2bf4d238374b6c" /><Relationship Type="http://schemas.openxmlformats.org/officeDocument/2006/relationships/notesMaster" Target="/ppt/notesMasters/notesMaster1.xml" Id="R1a30d39084d647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7bdaf2c8214696" /><Relationship Type="http://schemas.openxmlformats.org/officeDocument/2006/relationships/notesMaster" Target="/ppt/notesMasters/notesMaster1.xml" Id="R95b5be7e5a0c46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750f28591843ab" /><Relationship Type="http://schemas.openxmlformats.org/officeDocument/2006/relationships/notesMaster" Target="/ppt/notesMasters/notesMaster1.xml" Id="Ra9079eb2fe0044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be3f2b7de14b4d" /><Relationship Type="http://schemas.openxmlformats.org/officeDocument/2006/relationships/notesMaster" Target="/ppt/notesMasters/notesMaster1.xml" Id="R80455a5619384e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27eca8386e4b7b" /><Relationship Type="http://schemas.openxmlformats.org/officeDocument/2006/relationships/notesMaster" Target="/ppt/notesMasters/notesMaster1.xml" Id="Rb36c6b5f35f542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e19822e499415a" /><Relationship Type="http://schemas.openxmlformats.org/officeDocument/2006/relationships/notesMaster" Target="/ppt/notesMasters/notesMaster1.xml" Id="R16cc720b195444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ae5448dcf444e2" /><Relationship Type="http://schemas.openxmlformats.org/officeDocument/2006/relationships/notesMaster" Target="/ppt/notesMasters/notesMaster1.xml" Id="R0f269456b1b043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0afba2081e4f7e" /><Relationship Type="http://schemas.openxmlformats.org/officeDocument/2006/relationships/notesMaster" Target="/ppt/notesMasters/notesMaster1.xml" Id="Rcbd454414b1e4e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2e1ca211684b77" /><Relationship Type="http://schemas.openxmlformats.org/officeDocument/2006/relationships/notesMaster" Target="/ppt/notesMasters/notesMaster1.xml" Id="R87dbf5e8ca5d425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c374b246c54003" /><Relationship Type="http://schemas.openxmlformats.org/officeDocument/2006/relationships/notesMaster" Target="/ppt/notesMasters/notesMaster1.xml" Id="R5a8277fac2504b5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ece6b4015244d7e" /><Relationship Type="http://schemas.openxmlformats.org/officeDocument/2006/relationships/notesMaster" Target="/ppt/notesMasters/notesMaster1.xml" Id="R4ac450f312de48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pasted content. Wording reproduced as requested. This is not an independent factual audit. References [1] and [2] are unresolved in the supplied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Every ORVIA use case maps an active privacy choice to downstream execution and independent telemetry observation.</a:t>
            </a:r>
          </a:p>
          <a:p xmlns:a="http://schemas.openxmlformats.org/drawingml/2006/main">
            <a:r>
              <a:t>* Use Case 1: Automated Consent Withdrawal Enforcement</a:t>
            </a:r>
          </a:p>
          <a:p xmlns:a="http://schemas.openxmlformats.org/drawingml/2006/main">
            <a:r>
              <a:t>* Actor: Data Principal (End User) / Third-Party Registered Consent Manager.</a:t>
            </a:r>
          </a:p>
          <a:p xmlns:a="http://schemas.openxmlformats.org/drawingml/2006/main">
            <a:r>
              <a:t>   * Input: Cryptographically signed withdrawal token containing principal_id, purpose_id, and timestamp (t0).</a:t>
            </a:r>
          </a:p>
          <a:p xmlns:a="http://schemas.openxmlformats.org/drawingml/2006/main">
            <a:r>
              <a:t>   * ORVIA Processing: Bypasses standard forms; ingests payload via mock-consent-manager.ts, generates a versioned purpose/action entry, locks the epoch sequence, and passes the instruction to the processing boundary.</a:t>
            </a:r>
          </a:p>
          <a:p xmlns:a="http://schemas.openxmlformats.org/drawingml/2006/main">
            <a:r>
              <a:t>   * Downstream Action: Triggers the operations/executor.ts script to command local databases (e.g., PostgreSQL) and connected SaaS applications to change user status flags and halt processing.</a:t>
            </a:r>
          </a:p>
          <a:p xmlns:a="http://schemas.openxmlformats.org/drawingml/2006/main">
            <a:r>
              <a:t>   * Verification Method: Deploys an independent verification loop using separate read-only database credentials to scan target data storage tables programmatically.</a:t>
            </a:r>
          </a:p>
          <a:p xmlns:a="http://schemas.openxmlformats.org/drawingml/2006/main">
            <a:r>
              <a:t>   * Evidence Output: Generates a hash-chained TargetObservation receipt detailing exact execution states, ignoring internal API success responses.</a:t>
            </a:r>
          </a:p>
          <a:p xmlns:a="http://schemas.openxmlformats.org/drawingml/2006/main">
            <a:r>
              <a:t>   * Expected Result: Downstream field is_marketing_allowed changes to false within the specified grace period.</a:t>
            </a:r>
          </a:p>
          <a:p xmlns:a="http://schemas.openxmlformats.org/drawingml/2006/main">
            <a:r>
              <a:t>   * Failure Cases: Stale database caches, slow message broker queues, or downstream network timeouts occur. If target data remains active, ORVIA forces a persistent TIMEOUT_EFFECT_UNKNOWN or OBSERVED_VIOLATION flag into the pipeline.</a:t>
            </a:r>
          </a:p>
          <a:p xmlns:a="http://schemas.openxmlformats.org/drawingml/2006/main">
            <a:r>
              <a:t>* Use Case 2: Multi-Language Notice Drift Containment</a:t>
            </a:r>
          </a:p>
          <a:p xmlns:a="http://schemas.openxmlformats.org/drawingml/2006/main">
            <a:r>
              <a:t>* Actor: Control Owner (Product Manager / Data Protection Officer).</a:t>
            </a:r>
          </a:p>
          <a:p xmlns:a="http://schemas.openxmlformats.org/drawingml/2006/main">
            <a:r>
              <a:t>   * Input: Modification of an English notice string inside code configuration files during a deployment sprint.</a:t>
            </a:r>
          </a:p>
          <a:p xmlns:a="http://schemas.openxmlformats.org/drawingml/2006/main">
            <a:r>
              <a:t>   * ORVIA Processing: Context engine scans the application repository during continuous integration (CI) execution.</a:t>
            </a:r>
          </a:p>
          <a:p xmlns:a="http://schemas.openxmlformats.org/drawingml/2006/main">
            <a:r>
              <a:t>   * Downstream Action: Analyzes corresponding structural localization variables for the 21 remaining regional languages of the Eighth Schedule.</a:t>
            </a:r>
          </a:p>
          <a:p xmlns:a="http://schemas.openxmlformats.org/drawingml/2006/main">
            <a:r>
              <a:t>   * Verification Method: Validates text changes against the baseline database to check for legal contextual alignment.</a:t>
            </a:r>
          </a:p>
          <a:p xmlns:a="http://schemas.openxmlformats.org/drawingml/2006/main">
            <a:r>
              <a:t>   * Evidence Output: Creates an automated repository compliance log detailing language synchronization status.</a:t>
            </a:r>
          </a:p>
          <a:p xmlns:a="http://schemas.openxmlformats.org/drawingml/2006/main">
            <a:r>
              <a:t>   * Expected Result: All 22 language versions maintain consistent legal alignment before deployment.</a:t>
            </a:r>
          </a:p>
          <a:p xmlns:a="http://schemas.openxmlformats.org/drawingml/2006/main">
            <a:r>
              <a:t>   * Failure Case: English modifications are pushed without updating regional translations, causing a language mismatch that can invalidate consent. ORVIA actively throws an engineering error (NoticeContextDrift) and fails the build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Status Overview: The underlying verification plumbing is active, but the inputs must be scaled from synthetic models to production connections.</a:t>
            </a:r>
          </a:p>
          <a:p xmlns:a="http://schemas.openxmlformats.org/drawingml/2006/main">
            <a:r>
              <a:t/>
            </a:r>
          </a:p>
          <a:p xmlns:a="http://schemas.openxmlformats.org/drawingml/2006/main">
            <a:r>
              <a:t>┌───────────────────────────┬──────────────────────────────────────────────┬───────────────────────────────────────────────┐</a:t>
            </a:r>
          </a:p>
          <a:p xmlns:a="http://schemas.openxmlformats.org/drawingml/2006/main">
            <a:r>
              <a:t>│ Use Case Journey          │ What Exists Now (Current Repository Build)    │ Target Architecture (Unfinished End State)   │</a:t>
            </a:r>
          </a:p>
          <a:p xmlns:a="http://schemas.openxmlformats.org/drawingml/2006/main">
            <a:r>
              <a:t>├───────────────────────────┼──────────────────────────────────────────────┼───────────────────────────────────────────────┤</a:t>
            </a:r>
          </a:p>
          <a:p xmlns:a="http://schemas.openxmlformats.org/drawingml/2006/main">
            <a:r>
              <a:t>│ Consent Revocation        │ Operates within synthetic environments       │ Connects directly to production providers     │</a:t>
            </a:r>
          </a:p>
          <a:p xmlns:a="http://schemas.openxmlformats.org/drawingml/2006/main">
            <a:r>
              <a:t>│ Verification              │ using local 'records-synthetic' structures.  │ (e.g., SendGrid suppression rails, Twilio).   │</a:t>
            </a:r>
          </a:p>
          <a:p xmlns:a="http://schemas.openxmlformats.org/drawingml/2006/main">
            <a:r>
              <a:t>├───────────────────────────┼──────────────────────────────────────────────┼───────────────────────────────────────────────┤</a:t>
            </a:r>
          </a:p>
          <a:p xmlns:a="http://schemas.openxmlformats.org/drawingml/2006/main">
            <a:r>
              <a:t>│ Child Profiling Rail      │ Holds core processing data logic structures  │ Live active API gateway proxy blocks outbound │</a:t>
            </a:r>
          </a:p>
          <a:p xmlns:a="http://schemas.openxmlformats.org/drawingml/2006/main">
            <a:r>
              <a:t>│ (DPDPA Section 9)         │ for capturing age verification events.       │ ad pixel tracking on minor profiles.          │</a:t>
            </a:r>
          </a:p>
          <a:p xmlns:a="http://schemas.openxmlformats.org/drawingml/2006/main">
            <a:r>
              <a:t>├───────────────────────────┼──────────────────────────────────────────────┼───────────────────────────────────────────────┤</a:t>
            </a:r>
          </a:p>
          <a:p xmlns:a="http://schemas.openxmlformats.org/drawingml/2006/main">
            <a:r>
              <a:t>│ Multi-Clock Breach        │ Monitors a single 72-hour regulatory clock   │ Ingests live infrastructure alert webhooks    │</a:t>
            </a:r>
          </a:p>
          <a:p xmlns:a="http://schemas.openxmlformats.org/drawingml/2006/main">
            <a:r>
              <a:t>│ Containment               │ manually anchored by operators.              │ to run parallel 6h CERT-In / 72h DPDPA clocks.│</a:t>
            </a:r>
          </a:p>
          <a:p xmlns:a="http://schemas.openxmlformats.org/drawingml/2006/main">
            <a:r>
              <a:t>└───────────────────────────┴──────────────────────────────────────────────┴───────────────────────────────────────────────┘</a:t>
            </a:r>
          </a:p>
          <a:p xmlns:a="http://schemas.openxmlformats.org/drawingml/2006/main">
            <a:r>
              <a:t/>
            </a:r>
          </a:p>
          <a:p xmlns:a="http://schemas.openxmlformats.org/drawingml/2006/main">
            <a:r>
              <a:t/>
            </a:r>
          </a:p>
          <a:p xmlns:a="http://schemas.openxmlformats.org/drawingml/2006/main">
            <a:r>
              <a:t>* Testing Baseline Reference: All operational code tracks against the Birch and Aster synthetic enterprise networks, utilizing designated non-production datasets to validate pipeline behavior under stress.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Global and domestic GRC platforms focus primarily on process governance, documentation, and external data discovery, leaving an open market space for ORVIA's deep operational enforcement model.</a:t>
            </a:r>
          </a:p>
          <a:p xmlns:a="http://schemas.openxmlformats.org/drawingml/2006/main">
            <a:r>
              <a:t/>
            </a:r>
          </a:p>
          <a:p xmlns:a="http://schemas.openxmlformats.org/drawingml/2006/main">
            <a:r>
              <a:t>┌─────────────────┬─────────────────────────────────────────────┬──────────────────────────────────────────────────────────┐</a:t>
            </a:r>
          </a:p>
          <a:p xmlns:a="http://schemas.openxmlformats.org/drawingml/2006/main">
            <a:r>
              <a:t>│ Platform        │ Technical Core &amp; Documented Modules          │ DPDPA-Specific &amp; GRC Capabilities                       │</a:t>
            </a:r>
          </a:p>
          <a:p xmlns:a="http://schemas.openxmlformats.org/drawingml/2006/main">
            <a:r>
              <a:t>├─────────────────┼─────────────────────────────────────────────┼──────────────────────────────────────────────────────────┤</a:t>
            </a:r>
          </a:p>
          <a:p xmlns:a="http://schemas.openxmlformats.org/drawingml/2006/main">
            <a:r>
              <a:t>│ OneTrust        │ • Enterprise privacy governance platform     │ • Integrates DPDPA requirements into its global module   │</a:t>
            </a:r>
          </a:p>
          <a:p xmlns:a="http://schemas.openxmlformats.org/drawingml/2006/main">
            <a:r>
              <a:t>│                 │ • Consent Management, DSAR automation,      │   suite as a localized compliance package.               │</a:t>
            </a:r>
          </a:p>
          <a:p xmlns:a="http://schemas.openxmlformats.org/drawingml/2006/main">
            <a:r>
              <a:t>│                 │   Vendor Risk, and automated Data Discovery.│ • Relies on questionnaire audits and data inventories.   │</a:t>
            </a:r>
          </a:p>
          <a:p xmlns:a="http://schemas.openxmlformats.org/drawingml/2006/main">
            <a:r>
              <a:t>├─────────────────┼─────────────────────────────────────────────┼──────────────────────────────────────────────────────────┤</a:t>
            </a:r>
          </a:p>
          <a:p xmlns:a="http://schemas.openxmlformats.org/drawingml/2006/main">
            <a:r>
              <a:t>│ BigID           │ • AI-driven data intelligence engine        │ • Maps personal data locations by scanning for regional  │</a:t>
            </a:r>
          </a:p>
          <a:p xmlns:a="http://schemas.openxmlformats.org/drawingml/2006/main">
            <a:r>
              <a:t>│                 │ • Scans and classifies massive structured    │   geographies and Data Principal identity sets.          │</a:t>
            </a:r>
          </a:p>
          <a:p xmlns:a="http://schemas.openxmlformats.org/drawingml/2006/main">
            <a:r>
              <a:t>│                 │   and unstructured data repositories.       │ • Strong data inventory; relies on downstream platforms. │</a:t>
            </a:r>
          </a:p>
          <a:p xmlns:a="http://schemas.openxmlformats.org/drawingml/2006/main">
            <a:r>
              <a:t>├─────────────────┼─────────────────────────────────────────────┼──────────────────────────────────────────────────────────┤</a:t>
            </a:r>
          </a:p>
          <a:p xmlns:a="http://schemas.openxmlformats.org/drawingml/2006/main">
            <a:r>
              <a:t>│ Securiti.ai     │ • DataAI Command Platform                   │ • Automates discovery, data lineage, and compliance checks│</a:t>
            </a:r>
          </a:p>
          <a:p xmlns:a="http://schemas.openxmlformats.org/drawingml/2006/main">
            <a:r>
              <a:t>│                 │ • Cloud data mapping, classification, and   │   across distributed global cloud environments.          │</a:t>
            </a:r>
          </a:p>
          <a:p xmlns:a="http://schemas.openxmlformats.org/drawingml/2006/main">
            <a:r>
              <a:t>│                 │   policy controls across SaaS/Cloud stacks. │ • Provides architectural visibility; relies on checklists│</a:t>
            </a:r>
          </a:p>
          <a:p xmlns:a="http://schemas.openxmlformats.org/drawingml/2006/main">
            <a:r>
              <a:t>├─────────────────┼─────────────────────────────────────────────┼──────────────────────────────────────────────────────────┤</a:t>
            </a:r>
          </a:p>
          <a:p xmlns:a="http://schemas.openxmlformats.org/drawingml/2006/main">
            <a:r>
              <a:t>│ Vanta / Drata   │ • Automated GRC compliance engines          │ • Focuses on structural security framework alignment      │</a:t>
            </a:r>
          </a:p>
          <a:p xmlns:a="http://schemas.openxmlformats.org/drawingml/2006/main">
            <a:r>
              <a:t>│                 │   targeting SOC2, ISO27001, and privacy.    │   (e.g., automated screenshot collection for audits).    │</a:t>
            </a:r>
          </a:p>
          <a:p xmlns:a="http://schemas.openxmlformats.org/drawingml/2006/main">
            <a:r>
              <a:t>│                 │ • Integrates continuous API evidence capture│ • Limited native configuration for Indian DPDPA rules.   │</a:t>
            </a:r>
          </a:p>
          <a:p xmlns:a="http://schemas.openxmlformats.org/drawingml/2006/main">
            <a:r>
              <a:t>└─────────────────┴─────────────────────────────────────────────┴──────────────────────────────────────────────────────────┘</a:t>
            </a:r>
          </a:p>
          <a:p xmlns:a="http://schemas.openxmlformats.org/drawingml/2006/main">
            <a:r>
              <a:t/>
            </a:r>
          </a:p>
          <a:p xmlns:a="http://schemas.openxmlformats.org/drawingml/2006/main">
            <a:r>
              <a:t/>
            </a:r>
          </a:p>
          <a:p xmlns:a="http://schemas.openxmlformats.org/drawingml/2006/main">
            <a:r>
              <a:t>* Strategic Takeaway: These systems are built as passive platforms of record. They verify that a policy exists, but they do not programmatically prove that downstream internal code behaves correctly when a single user opt-out occurs.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Domestic platforms focus heavily on localized DPDPA features, primarily targeting consent collection, basic data mapping, and standard regulatory compliance tracking.</a:t>
            </a:r>
          </a:p>
          <a:p xmlns:a="http://schemas.openxmlformats.org/drawingml/2006/main">
            <a:r>
              <a:t/>
            </a:r>
          </a:p>
          <a:p xmlns:a="http://schemas.openxmlformats.org/drawingml/2006/main">
            <a:r>
              <a:t>┌─────────────────┬─────────────────────────────────────────────┬──────────────────────────────────────────────────────────┐</a:t>
            </a:r>
          </a:p>
          <a:p xmlns:a="http://schemas.openxmlformats.org/drawingml/2006/main">
            <a:r>
              <a:t>│ Platform        │ Documented Modules &amp; Architecture           │ DPDPA Capabilities &amp; Limitations                         │</a:t>
            </a:r>
          </a:p>
          <a:p xmlns:a="http://schemas.openxmlformats.org/drawingml/2006/main">
            <a:r>
              <a:t>├─────────────────┼─────────────────────────────────────────────┼──────────────────────────────────────────────────────────┤</a:t>
            </a:r>
          </a:p>
          <a:p xmlns:a="http://schemas.openxmlformats.org/drawingml/2006/main">
            <a:r>
              <a:t>│ Redacto         │ • AI document intelligence engine           │ • Automated data mapping, risk analysis, AI-driven DPIA, │</a:t>
            </a:r>
          </a:p>
          <a:p xmlns:a="http://schemas.openxmlformats.org/drawingml/2006/main">
            <a:r>
              <a:t>│                 │ • Consent infrastructure logs and automated │   and text/file data masking or redaction.               │</a:t>
            </a:r>
          </a:p>
          <a:p xmlns:a="http://schemas.openxmlformats.org/drawingml/2006/main">
            <a:r>
              <a:t>│                 │   data discovery pipelines.                 │ • Operates on claims; missing dynamic code verification. │</a:t>
            </a:r>
          </a:p>
          <a:p xmlns:a="http://schemas.openxmlformats.org/drawingml/2006/main">
            <a:r>
              <a:t>├─────────────────┼─────────────────────────────────────────────┼──────────────────────────────────────────────────────────┤</a:t>
            </a:r>
          </a:p>
          <a:p xmlns:a="http://schemas.openxmlformats.org/drawingml/2006/main">
            <a:r>
              <a:t>│ IDfy Privy      │ • Full-stack identity verification engine   │ • Multilingual consent management tied directly to       │</a:t>
            </a:r>
          </a:p>
          <a:p xmlns:a="http://schemas.openxmlformats.org/drawingml/2006/main">
            <a:r>
              <a:t>│                 │   integrated with data privacy tools.       │   Data Principal request verification.                   │</a:t>
            </a:r>
          </a:p>
          <a:p xmlns:a="http://schemas.openxmlformats.org/drawingml/2006/main">
            <a:r>
              <a:t>│                 │ • Data lineage tracking and automated PIAs. │ • Strong intake gate; limited real-time runtime control. │</a:t>
            </a:r>
          </a:p>
          <a:p xmlns:a="http://schemas.openxmlformats.org/drawingml/2006/main">
            <a:r>
              <a:t>├─────────────────┼─────────────────────────────────────────────┼──────────────────────────────────────────────────────────┤</a:t>
            </a:r>
          </a:p>
          <a:p xmlns:a="http://schemas.openxmlformats.org/drawingml/2006/main">
            <a:r>
              <a:t>│ miniOrange      │ • Identity security and access platform     │ • Combines DPDPA software tools with managed privacy     │</a:t>
            </a:r>
          </a:p>
          <a:p xmlns:a="http://schemas.openxmlformats.org/drawingml/2006/main">
            <a:r>
              <a:t>│                 │   with custom privacy extensions.           │   services, gap assessments, and data discovery.         │</a:t>
            </a:r>
          </a:p>
          <a:p xmlns:a="http://schemas.openxmlformats.org/drawingml/2006/main">
            <a:r>
              <a:t>│                 │ • Data Loss Prevention (DLP) focus.         │ • Focuses on security layers rather than code controls.  │</a:t>
            </a:r>
          </a:p>
          <a:p xmlns:a="http://schemas.openxmlformats.org/drawingml/2006/main">
            <a:r>
              <a:t>└─────────────────┴─────────────────────────────────────────────┴──────────────────────────────────────────────────────────┘</a:t>
            </a:r>
          </a:p>
          <a:p xmlns:a="http://schemas.openxmlformats.org/drawingml/2006/main">
            <a:r>
              <a:t/>
            </a:r>
          </a:p>
          <a:p xmlns:a="http://schemas.openxmlformats.org/drawingml/2006/main">
            <a:r>
              <a:t/>
            </a:r>
          </a:p>
          <a:p xmlns:a="http://schemas.openxmlformats.org/drawingml/2006/main">
            <a:r>
              <a:t>* Additional Competitor Context: Platforms like GoTrust provide cookie scanning and compliance automation; PrivaSapien leverages privacy-enhancing technologies (PETs) like anonymization alongside responsible AI governance; and CookieYes serves as a streamlined website cookie consent banner.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positions its features directly against established GRC capabilities, highlighting the gaps between passive documentation and active code verification.</a:t>
            </a:r>
          </a:p>
          <a:p xmlns:a="http://schemas.openxmlformats.org/drawingml/2006/main">
            <a:r>
              <a:t/>
            </a:r>
          </a:p>
          <a:p xmlns:a="http://schemas.openxmlformats.org/drawingml/2006/main">
            <a:r>
              <a:t>┌─────────────────────────────────┬──────────────────────────────┬──────────────────────────────┬──────────────────────────┐</a:t>
            </a:r>
          </a:p>
          <a:p xmlns:a="http://schemas.openxmlformats.org/drawingml/2006/main">
            <a:r>
              <a:t>│ Feature / Capability Module     │ Enterprise (OneTrust/BigID)  │ Compliance (Vanta/Sprinto)   │ ORVIA Platform Status    │</a:t>
            </a:r>
          </a:p>
          <a:p xmlns:a="http://schemas.openxmlformats.org/drawingml/2006/main">
            <a:r>
              <a:t>├─────────────────────────────────┼──────────────────────────────┼──────────────────────────────┼──────────────────────────┤</a:t>
            </a:r>
          </a:p>
          <a:p xmlns:a="http://schemas.openxmlformats.org/drawingml/2006/main">
            <a:r>
              <a:t>│ Questionnaires &amp; Assessments    │ BUILT (Scale Templates)      │ BUILT (Audit Checklists)     │ PARTIAL (Legal Only)     │</a:t>
            </a:r>
          </a:p>
          <a:p xmlns:a="http://schemas.openxmlformats.org/drawingml/2006/main">
            <a:r>
              <a:t>├─────────────────────────────────┼──────────────────────────────┼──────────────────────────────┼──────────────────────────┤</a:t>
            </a:r>
          </a:p>
          <a:p xmlns:a="http://schemas.openxmlformats.org/drawingml/2006/main">
            <a:r>
              <a:t>│ Metadata Discovery &amp; Mapping    │ BUILT (Multi-Connector Scan) │ NOT BUILT (Manual Upload)    │ BUILT (PostgreSQL)       │</a:t>
            </a:r>
          </a:p>
          <a:p xmlns:a="http://schemas.openxmlformats.org/drawingml/2006/main">
            <a:r>
              <a:t>├─────────────────────────────────┼──────────────────────────────┼──────────────────────────────┼──────────────────────────┤</a:t>
            </a:r>
          </a:p>
          <a:p xmlns:a="http://schemas.openxmlformats.org/drawingml/2006/main">
            <a:r>
              <a:t>│ Real-Time Consent Enforcement   │ PARTIAL (Log Registration)   │ NOT BUILT                    │ BUILT (Durable Runner)   │</a:t>
            </a:r>
          </a:p>
          <a:p xmlns:a="http://schemas.openxmlformats.org/drawingml/2006/main">
            <a:r>
              <a:t>├─────────────────────────────────┼──────────────────────────────┼──────────────────────────────┼──────────────────────────┤</a:t>
            </a:r>
          </a:p>
          <a:p xmlns:a="http://schemas.openxmlformats.org/drawingml/2006/main">
            <a:r>
              <a:t>│ Downstream Telemetry Verification│ NOT BUILT                    │ NOT BUILT                    │ BUILT (Canary Trap)      │</a:t>
            </a:r>
          </a:p>
          <a:p xmlns:a="http://schemas.openxmlformats.org/drawingml/2006/main">
            <a:r>
              <a:t>├─────────────────────────────────┼──────────────────────────────┼──────────────────────────────┼──────────────────────────┤</a:t>
            </a:r>
          </a:p>
          <a:p xmlns:a="http://schemas.openxmlformats.org/drawingml/2006/main">
            <a:r>
              <a:t>│ CI/CD Regression Gate           │ NOT BUILT                    │ NOT BUILT                    │ BUILT (CI Runner)        │</a:t>
            </a:r>
          </a:p>
          <a:p xmlns:a="http://schemas.openxmlformats.org/drawingml/2006/main">
            <a:r>
              <a:t>├─────────────────────────────────┼──────────────────────────────┼──────────────────────────────┼──────────────────────────┤</a:t>
            </a:r>
          </a:p>
          <a:p xmlns:a="http://schemas.openxmlformats.org/drawingml/2006/main">
            <a:r>
              <a:t>│ Eighth Schedule Drift Guard     │ NOT BUILT (Static Trans)     │ NOT BUILT                    │ PARTIAL (Git Hook)       │</a:t>
            </a:r>
          </a:p>
          <a:p xmlns:a="http://schemas.openxmlformats.org/drawingml/2006/main">
            <a:r>
              <a:t>├─────────────────────────────────┼──────────────────────────────┼──────────────────────────────┼──────────────────────────┤</a:t>
            </a:r>
          </a:p>
          <a:p xmlns:a="http://schemas.openxmlformats.org/drawingml/2006/main">
            <a:r>
              <a:t>│ AI Custom Model Governance      │ BUILT (Risk Registry)        │ NOT BUILT                    │ V2 (M19–M25 Engines)     │</a:t>
            </a:r>
          </a:p>
          <a:p xmlns:a="http://schemas.openxmlformats.org/drawingml/2006/main">
            <a:r>
              <a:t>└─────────────────────────────────┴──────────────────────────────┴──────────────────────────────┴──────────────────────────┘</a:t>
            </a:r>
          </a:p>
          <a:p xmlns:a="http://schemas.openxmlformats.org/drawingml/2006/main">
            <a:r>
              <a:t/>
            </a:r>
          </a:p>
          <a:p xmlns:a="http://schemas.openxmlformats.org/drawingml/2006/main">
            <a:r>
              <a:t/>
            </a:r>
          </a:p>
          <a:p xmlns:a="http://schemas.openxmlformats.org/drawingml/2006/main">
            <a:r>
              <a:t>* Key Distinction: ORVIA avoids broad feature-count competition. Instead, it functions as a technical verification layer that can feed clean operational evidence into existing enterprise compliance platforms.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Architectural Overview: ORVIA runs as an append-only, secure processing system. The design uses a customer-local core node to execute and verify privacy controls, separating internal operational logs from the external vendor licensing layer.</a:t>
            </a:r>
          </a:p>
          <a:p xmlns:a="http://schemas.openxmlformats.org/drawingml/2006/main">
            <a:r>
              <a:t>* The Operating Spine: Manages identity parsing, policy compilation, durable data workflows, bounded database connection execution, independent verification routing, and the cryptographic evidence chain.</a:t>
            </a:r>
          </a:p>
          <a:p xmlns:a="http://schemas.openxmlformats.org/drawingml/2006/main">
            <a:r>
              <a:t>* The 33-Module Core Inventory (By Strategic Tier):</a:t>
            </a:r>
          </a:p>
          <a:p xmlns:a="http://schemas.openxmlformats.org/drawingml/2006/main">
            <a:r>
              <a:t>* Tier 1: Core Engine &amp; Processing Infrastructure (M01–M08)</a:t>
            </a:r>
          </a:p>
          <a:p xmlns:a="http://schemas.openxmlformats.org/drawingml/2006/main">
            <a:r>
              <a:t>   * Identity &amp; Scoping Engine, Policy Compiler, Durable Workflow Coordinator, Action Executor, Target Observer, Telemetry Router, Data Lineage Engine, RLS Migration Guard.</a:t>
            </a:r>
          </a:p>
          <a:p xmlns:a="http://schemas.openxmlformats.org/drawingml/2006/main">
            <a:r>
              <a:t>   * Tier 2: India DPDPA Specialized Components (M09–M18)</a:t>
            </a:r>
          </a:p>
          <a:p xmlns:a="http://schemas.openxmlformats.org/drawingml/2006/main">
            <a:r>
              <a:t>   * Consent Manager Gateway, Eighth Schedule Notice Matrix, Breach Clock Coordinator, CERT-In Incident Hook, Canary Manager, Minor Profile Interceptor, Regional Language Verification API, SDF Governance Package, DPIA Workflow Tracker, Vendor Contract Monitor.</a:t>
            </a:r>
          </a:p>
          <a:p xmlns:a="http://schemas.openxmlformats.org/drawingml/2006/main">
            <a:r>
              <a:t>   * Tier 3: Advanced Intelligence &amp; V2 Features (M19–M25)</a:t>
            </a:r>
          </a:p>
          <a:p xmlns:a="http://schemas.openxmlformats.org/drawingml/2006/main">
            <a:r>
              <a:t>   * Non-Model AI Usage Monitor, Shadow Tool Scanner, Contextual Risk Forecaster, Autonomous Data Minimizer, Anonymization Integrity Checker, Adversarial Failure Simulator, Predictive Breach Impact Analyst.</a:t>
            </a:r>
          </a:p>
          <a:p xmlns:a="http://schemas.openxmlformats.org/drawingml/2006/main">
            <a:r>
              <a:t>   * Tier 4: Enterprise GRC &amp; Reporting Systems (M26–M33)</a:t>
            </a:r>
          </a:p>
          <a:p xmlns:a="http://schemas.openxmlformats.org/drawingml/2006/main">
            <a:r>
              <a:t>   * Evidence Packaging Factory, Public Verification Server, Workspace UI Shell, Local CLI Suite, Audit Snapshot Builder, Entitlement Verification Bridge, Card Graphics Generator, Sync Ledger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Core Engineering Dependencies: The Action Executor (M04) must verify states with the Target Observer (M05) before reporting results to the Evidence Packaging Factory (M26), ensuring the execution path remains isolated from the verification loop.</a:t>
            </a:r>
          </a:p>
          <a:p xmlns:a="http://schemas.openxmlformats.org/drawingml/2006/main">
            <a:r>
              <a:t>* Runtime Boundary Division:</a:t>
            </a:r>
          </a:p>
          <a:p xmlns:a="http://schemas.openxmlformats.org/drawingml/2006/main">
            <a:r>
              <a:t/>
            </a:r>
          </a:p>
          <a:p xmlns:a="http://schemas.openxmlformats.org/drawingml/2006/main">
            <a:r>
              <a:t>┌──────────────────────────────────────────────────────────────┐</a:t>
            </a:r>
          </a:p>
          <a:p xmlns:a="http://schemas.openxmlformats.org/drawingml/2006/main">
            <a:r>
              <a:t>│  CUSTOMER LOCAL RUNTIME ENVIRONMENT (Data Remains Local)      │</a:t>
            </a:r>
          </a:p>
          <a:p xmlns:a="http://schemas.openxmlformats.org/drawingml/2006/main">
            <a:r>
              <a:t>│  • M01-M08 Operating Spine Engine  • M13 Canary Monitor Pool │</a:t>
            </a:r>
          </a:p>
          <a:p xmlns:a="http://schemas.openxmlformats.org/drawingml/2006/main">
            <a:r>
              <a:t>│  • M29 Local CLI Suite Workstation • M27 Public Verify Node  │</a:t>
            </a:r>
          </a:p>
          <a:p xmlns:a="http://schemas.openxmlformats.org/drawingml/2006/main">
            <a:r>
              <a:t>└──────────────────────────────┬───────────────────────────────┘</a:t>
            </a:r>
          </a:p>
          <a:p xmlns:a="http://schemas.openxmlformats.org/drawingml/2006/main">
            <a:r>
              <a:t>                               │ (Secure Licensing Check Only)</a:t>
            </a:r>
          </a:p>
          <a:p xmlns:a="http://schemas.openxmlformats.org/drawingml/2006/main">
            <a:r>
              <a:t>                               ▼</a:t>
            </a:r>
          </a:p>
          <a:p xmlns:a="http://schemas.openxmlformats.org/drawingml/2006/main">
            <a:r>
              <a:t>┌──────────────────────────────────────────────────────────────┐</a:t>
            </a:r>
          </a:p>
          <a:p xmlns:a="http://schemas.openxmlformats.org/drawingml/2006/main">
            <a:r>
              <a:t>│  ORVIA VENDOR BOUNDARY ENVIRONMENT (Limited Shared Context)  │</a:t>
            </a:r>
          </a:p>
          <a:p xmlns:a="http://schemas.openxmlformats.org/drawingml/2006/main">
            <a:r>
              <a:t>│  • Commercial Entitlement Verification Bridge (M31)          │</a:t>
            </a:r>
          </a:p>
          <a:p xmlns:a="http://schemas.openxmlformats.org/drawingml/2006/main">
            <a:r>
              <a:t>│  • Signed Download / Core Capability Update Catalog Delivery │</a:t>
            </a:r>
          </a:p>
          <a:p xmlns:a="http://schemas.openxmlformats.org/drawingml/2006/main">
            <a:r>
              <a:t>└──────────────────────────────────────────────────────────────┘</a:t>
            </a:r>
          </a:p>
          <a:p xmlns:a="http://schemas.openxmlformats.org/drawingml/2006/main">
            <a:r>
              <a:t/>
            </a:r>
          </a:p>
          <a:p xmlns:a="http://schemas.openxmlformats.org/drawingml/2006/main">
            <a:r>
              <a:t/>
            </a:r>
          </a:p>
          <a:p xmlns:a="http://schemas.openxmlformats.org/drawingml/2006/main">
            <a:r>
              <a:t>* V1 vs. V2 Structural Split: V1 includes the active data pipeline, regional language notice monitors, and core GRC proof generation tools. V2 contains modules M19 to M25, introducing automated custom AI governance, behavioral data scanners, and machine-driven threat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avoids high-level database statements. Data elements connect within a strictly typed, append-only entity relationship map.</a:t>
            </a:r>
          </a:p>
          <a:p xmlns:a="http://schemas.openxmlformats.org/drawingml/2006/main">
            <a:r>
              <a:t/>
            </a:r>
          </a:p>
          <a:p xmlns:a="http://schemas.openxmlformats.org/drawingml/2006/main">
            <a:r>
              <a:t>                     ┌──────────────────┐</a:t>
            </a:r>
          </a:p>
          <a:p xmlns:a="http://schemas.openxmlformats.org/drawingml/2006/main">
            <a:r>
              <a:t>                     │   ORGANISATION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REGULATORY SOURCE├──&gt;│OBLIGATION ├──&gt;│  ORVIA CONTROL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PROCESSING ACT.  ├──&gt;│  PURPOSE  ├──&gt;│  NOTICE VERSION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DATA ASSET RES.  ├──&gt;│  CONSENT  ├──&gt;│ RIGHTS CASE REG.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TELEMETRY PROBE  ├──&gt;│OBSERVATION├──&gt;│ EVIDENCE PACKAGE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 FINDING/INCIDENT │</a:t>
            </a:r>
          </a:p>
          <a:p xmlns:a="http://schemas.openxmlformats.org/drawingml/2006/main">
            <a:r>
              <a:t>                                        └──────────────────┘</a:t>
            </a:r>
          </a:p>
          <a:p xmlns:a="http://schemas.openxmlformats.org/drawingml/2006/main">
            <a:r>
              <a:t/>
            </a:r>
          </a:p>
          <a:p xmlns:a="http://schemas.openxmlformats.org/drawingml/2006/main">
            <a:r>
              <a:t/>
            </a:r>
          </a:p>
          <a:p xmlns:a="http://schemas.openxmlformats.org/drawingml/2006/main">
            <a:r>
              <a:t>* Current Code Mapping vs. Target Model Graph: The current active repository contains verified tables for consent records, update logs, and evidence tracking. The final model graph extends these structures to map external vendor constraints, multilingual variables, and automated incident flags directly into database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maps legal requirements directly to automated verification scripts, minimizing reliance on manual business declarations.</a:t>
            </a:r>
          </a:p>
          <a:p xmlns:a="http://schemas.openxmlformats.org/drawingml/2006/main">
            <a:r>
              <a:t>* The Technical Verification Path:</a:t>
            </a:r>
          </a:p>
          <a:p xmlns:a="http://schemas.openxmlformats.org/drawingml/2006/main">
            <a:r>
              <a:t>$$\text{DPDP Source Provision} \longrightarrow \text{Obligation Rule} \longrightarrow \text{Applicability Scope} \longrightarrow \text{ORVIA Control Engine} \longrightarrow \text{System Implementation} \longrightarrow \text{Evidence Parameter} \longrightarrow \text{Verification Method} \longrightarrow \text{Automated Test Rig}$$ </a:t>
            </a:r>
          </a:p>
          <a:p xmlns:a="http://schemas.openxmlformats.org/drawingml/2006/main">
            <a:r>
              <a:t>* DPDPA 2023 / Rules 2025 Control Families:</a:t>
            </a:r>
          </a:p>
          <a:p xmlns:a="http://schemas.openxmlformats.org/drawingml/2006/main">
            <a:r>
              <a:t>* Family 1: Accountable Consent Lifecycle (Sec 5 &amp; Sec 6)</a:t>
            </a:r>
          </a:p>
          <a:p xmlns:a="http://schemas.openxmlformats.org/drawingml/2006/main">
            <a:r>
              <a:t>   * ORVIA provides automated purpose tracking, signature verification, and latency measurement. The organization provides the core database layout and interface mappings. Automated checks verify that data access flags match active user selections. Manual tracking is restricted to offline consent documents.</a:t>
            </a:r>
          </a:p>
          <a:p xmlns:a="http://schemas.openxmlformats.org/drawingml/2006/main">
            <a:r>
              <a:t>   * Family 2: Precision Rights Fulfillment (Sec 11, 12 &amp; 13)</a:t>
            </a:r>
          </a:p>
          <a:p xmlns:a="http://schemas.openxmlformats.org/drawingml/2006/main">
            <a:r>
              <a:t>   * ORVIA automates access timelines and verifies profile erasure states. The organization configures data extraction tools and handles manual reviews. Automated checks verify data deletion using read-only database connections. Legal justifications for data retention require manual review.</a:t>
            </a:r>
          </a:p>
          <a:p xmlns:a="http://schemas.openxmlformats.org/drawingml/2006/main">
            <a:r>
              <a:t>   * Family 3: Zero-Delay Breach Management (Sec 8(6) &amp; CERT-In Rules)</a:t>
            </a:r>
          </a:p>
          <a:p xmlns:a="http://schemas.openxmlformats.org/drawingml/2006/main">
            <a:r>
              <a:t>   * ORVIA calculates time intervals, generates alerts, and tracks recovery tasks. The organization connects internal log servers and manages the incident response team. Automated checks time the interval between an system alert and team acknowledgment. Evaluating overall liability risks remains a manual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The Core Problem: No enterprise client or startup will ever give a compliance vendor access to their live customer database to "test" if a privacy platform works. To deliver a complete, market-ready tool, ORVIA must validate its verification loops internally.</a:t>
            </a:r>
          </a:p>
          <a:p xmlns:a="http://schemas.openxmlformats.org/drawingml/2006/main">
            <a:r>
              <a:t>The Solution: ORVIA builds automated twin networks named Aster and Birch. These are hyper-realistic, synthetic client application environments that mirror real-world Indian enterprise data models, e.g. at commit e95b5acab785cad14e1687a92c8c368eb3caf909.</a:t>
            </a:r>
          </a:p>
          <a:p xmlns:a="http://schemas.openxmlformats.org/drawingml/2006/main">
            <a:r>
              <a:t>On What Basis Are We Doing This? (The Statutory &amp; Technical Alignment):</a:t>
            </a:r>
          </a:p>
          <a:p xmlns:a="http://schemas.openxmlformats.org/drawingml/2006/main">
            <a:r>
              <a:t>Every synthetic profile, database row, and communication event is strictly engineered around the constraints of the DPDPA 2023 and TRAI TCCCPR 2018 (DLT Systems).</a:t>
            </a:r>
          </a:p>
          <a:p xmlns:a="http://schemas.openxmlformats.org/drawingml/2006/main">
            <a:r>
              <a:t>The Controlled Testing Matrices:</a:t>
            </a:r>
          </a:p>
          <a:p xmlns:a="http://schemas.openxmlformats.org/drawingml/2006/main">
            <a:r>
              <a:t>Positive Dataset Baselines: Simulates clean operational journeys. A user profile switches is_marketing_allowed from true to false via a mock Consent Manager token; ORVIA verifies the status registers perfectly in the target datastore within cessation_latency_ms.</a:t>
            </a:r>
          </a:p>
          <a:p xmlns:a="http://schemas.openxmlformats.org/drawingml/2006/main">
            <a:r>
              <a:t>Adverse / Negative Dataset Baselines: Simulates active privacy failures. The user revokes consent, but a synthetic, pre-queued backend task tries to fire a marketing email. ORVIA’s P3 Canary Trap intercepts the ping, flags an ObservedViolation, and intentionally crashes the CI/CD pipeline build.</a:t>
            </a:r>
          </a:p>
          <a:p xmlns:a="http://schemas.openxmlformats.org/drawingml/2006/main">
            <a:r>
              <a:t>Boundary &amp; Cross-Tenant Baselines: Seeds deliberately malformed tokens and multi-tenant intersection flows to test row-level security (RLS), database timeouts (TIMEOUT_EFFECT_UNKNOWN), and state restorations from old application backups.</a:t>
            </a:r>
          </a:p>
          <a:p xmlns:a="http://schemas.openxmlformats.org/drawingml/2006/main">
            <a:r>
              <a:t>Traceability Matrix: The test engine maps every synthetic failure directly back to a specific DPDPA section (e.g., Section 6(6) processing cessation). If a code update breaks a compliance path in the sandbox, the internal test runner detects it before a client ever downloads the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Baselines establish the core technical reference points for the ORVIA engine, defining ownership, tracking changes, and setting clear release criteria.</a:t>
            </a:r>
          </a:p>
          <a:p xmlns:a="http://schemas.openxmlformats.org/drawingml/2006/main">
            <a:r>
              <a:t/>
            </a:r>
          </a:p>
          <a:p xmlns:a="http://schemas.openxmlformats.org/drawingml/2006/main">
            <a:r>
              <a:t>┌───────────────────────────┬──────────────────────────────────────────────┬───────────────────────────────────────────────┐</a:t>
            </a:r>
          </a:p>
          <a:p xmlns:a="http://schemas.openxmlformats.org/drawingml/2006/main">
            <a:r>
              <a:t>│ Baseline Type             │ Source Framework &amp; Documentation Baseline     │ Owner &amp; Versioning Framework                  │</a:t>
            </a:r>
          </a:p>
          <a:p xmlns:a="http://schemas.openxmlformats.org/drawingml/2006/main">
            <a:r>
              <a:t>├───────────────────────────┼──────────────────────────────────────────────┼───────────────────────────────────────────────┤</a:t>
            </a:r>
          </a:p>
          <a:p xmlns:a="http://schemas.openxmlformats.org/drawingml/2006/main">
            <a:r>
              <a:t>│ Regulatory Baseline       │ Official text of the DPDPA 2023 and the      │ Legal Counsel / DPO.                          │</a:t>
            </a:r>
          </a:p>
          <a:p xmlns:a="http://schemas.openxmlformats.org/drawingml/2006/main">
            <a:r>
              <a:t>│                           │ notified MeitY Rules 2025.          │ Versioned by official gazette release date.   │</a:t>
            </a:r>
          </a:p>
          <a:p xmlns:a="http://schemas.openxmlformats.org/drawingml/2006/main">
            <a:r>
              <a:t>├───────────────────────────┼──────────────────────────────────────────────┼───────────────────────────────────────────────┤</a:t>
            </a:r>
          </a:p>
          <a:p xmlns:a="http://schemas.openxmlformats.org/drawingml/2006/main">
            <a:r>
              <a:t>│ Product Baseline          │ Approved master capability registry file     │ Product Management.                           │</a:t>
            </a:r>
          </a:p>
          <a:p xmlns:a="http://schemas.openxmlformats.org/drawingml/2006/main">
            <a:r>
              <a:t>│                           │ `tracking/capabilities.json`.      │ Monitored by repository commit hash [1].│</a:t>
            </a:r>
          </a:p>
          <a:p xmlns:a="http://schemas.openxmlformats.org/drawingml/2006/main">
            <a:r>
              <a:t>├───────────────────────────┼──────────────────────────────────────────────┼───────────────────────────────────────────────┤</a:t>
            </a:r>
          </a:p>
          <a:p xmlns:a="http://schemas.openxmlformats.org/drawingml/2006/main">
            <a:r>
              <a:t>│ Control Baseline          │ Standard structural control blueprints        │ Privacy Systems Architect.                    │</a:t>
            </a:r>
          </a:p>
          <a:p xmlns:a="http://schemas.openxmlformats.org/drawingml/2006/main">
            <a:r>
              <a:t>│                           │ and evidence validation schemas.   │ Managed via JSON schema definition sets.      │</a:t>
            </a:r>
          </a:p>
          <a:p xmlns:a="http://schemas.openxmlformats.org/drawingml/2006/main">
            <a:r>
              <a:t>├───────────────────────────┼──────────────────────────────────────────────┼───────────────────────────────────────────────┤</a:t>
            </a:r>
          </a:p>
          <a:p xmlns:a="http://schemas.openxmlformats.org/drawingml/2006/main">
            <a:r>
              <a:t>│ Test Baseline             │ Verified integration test scenarios and      │ QA &amp; Engineering Lead.                        │</a:t>
            </a:r>
          </a:p>
          <a:p xmlns:a="http://schemas.openxmlformats.org/drawingml/2006/main">
            <a:r>
              <a:t>│                           │ synthetic database test arrays.    │ Tied to the target repository release tag.    │</a:t>
            </a:r>
          </a:p>
          <a:p xmlns:a="http://schemas.openxmlformats.org/drawingml/2006/main">
            <a:r>
              <a:t>├───────────────────────────┼──────────────────────────────────────────────┼───────────────────────────────────────────────┤</a:t>
            </a:r>
          </a:p>
          <a:p xmlns:a="http://schemas.openxmlformats.org/drawingml/2006/main">
            <a:r>
              <a:t>│ Security Baseline         │ Least-privilege database roles, timeout      │ SecOps Coordinator.                           │</a:t>
            </a:r>
          </a:p>
          <a:p xmlns:a="http://schemas.openxmlformats.org/drawingml/2006/main">
            <a:r>
              <a:t>│                           │ limits, and RLS configurations. │ Tracked through static code checks.           │</a:t>
            </a:r>
          </a:p>
          <a:p xmlns:a="http://schemas.openxmlformats.org/drawingml/2006/main">
            <a:r>
              <a:t>├───────────────────────────┼──────────────────────────────────────────────┼───────────────────────────────────────────────┤</a:t>
            </a:r>
          </a:p>
          <a:p xmlns:a="http://schemas.openxmlformats.org/drawingml/2006/main">
            <a:r>
              <a:t>│ Release Baseline          │ Explicit build criteria: all unit passes,    │ Release Engineering.                          │</a:t>
            </a:r>
          </a:p>
          <a:p xmlns:a="http://schemas.openxmlformats.org/drawingml/2006/main">
            <a:r>
              <a:t>│                           │ clean lints, and E2E validation.   │ Signed via build verification hashes [2]│</a:t>
            </a:r>
          </a:p>
          <a:p xmlns:a="http://schemas.openxmlformats.org/drawingml/2006/main">
            <a:r>
              <a:t>└───────────────────────────┴──────────────────────────────────────────────┴───────────────────────────────────────────────┘</a:t>
            </a:r>
          </a:p>
          <a:p xmlns:a="http://schemas.openxmlformats.org/drawingml/2006/main">
            <a:r>
              <a:t/>
            </a:r>
          </a:p>
          <a:p xmlns:a="http://schemas.openxmlformats.org/drawingml/2006/main">
            <a:r>
              <a:t/>
            </a:r>
          </a:p>
          <a:p xmlns:a="http://schemas.openxmlformats.org/drawingml/2006/main">
            <a:r>
              <a:t>* Application Logic: If a system check fails to match the established baseline parameters, the running engine flags a variance, preventing outdated validation logs from generating active compliance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Current Codebase Reality: Product development has moved past the initial prototype stages. A recent codebase audit confirms that 100 out of 104 routed regulatory requirements are built and verified within active code structures [2].</a:t>
            </a:r>
          </a:p>
          <a:p xmlns:a="http://schemas.openxmlformats.org/drawingml/2006/main">
            <a:r>
              <a:t>* Current System Status (Module Breakdown):</a:t>
            </a:r>
          </a:p>
          <a:p xmlns:a="http://schemas.openxmlformats.org/drawingml/2006/main">
            <a:r>
              <a:t>* Durable Workflow Engine: Fully built. Successfully processes state sequences, manages execution steps, and routes events.</a:t>
            </a:r>
          </a:p>
          <a:p xmlns:a="http://schemas.openxmlformats.org/drawingml/2006/main">
            <a:r>
              <a:t>   * Database Isolation Models: Fully built. Implements row-level security (RLS) layers across database structures.</a:t>
            </a:r>
          </a:p>
          <a:p xmlns:a="http://schemas.openxmlformats.org/drawingml/2006/main">
            <a:r>
              <a:t>   * PostgreSQL Discovery Module: Partially built. Safely scans column metadata within a 20-relation limit but does not classify active data values.</a:t>
            </a:r>
          </a:p>
          <a:p xmlns:a="http://schemas.openxmlformats.org/drawingml/2006/main">
            <a:r>
              <a:t>   * Outbound Production Adapters: Open / Not Built. Relies on synthetic testing connectors; live production configurations are pending.</a:t>
            </a:r>
          </a:p>
          <a:p xmlns:a="http://schemas.openxmlformats.org/drawingml/2006/main">
            <a:r>
              <a:t>   * Acceptance Testing Layer: Not Run. The canonical testing suites T01 to T34 are coded but lack a finalized validation pass for full production release.</a:t>
            </a:r>
          </a:p>
          <a:p xmlns:a="http://schemas.openxmlformats.org/drawingml/2006/main">
            <a:r>
              <a:t>* Strategic Action Plan: Avoid marketing broad compliance statements. Focus engineering tasks on completing a single production adapter and completing the active release candidate verification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In ORVIA, a "Catalog" is a package structure containing signed, versioned data assets that define compliance behavior.</a:t>
            </a:r>
          </a:p>
          <a:p xmlns:a="http://schemas.openxmlformats.org/drawingml/2006/main">
            <a:r>
              <a:t>* The Six Functional Catalogs:</a:t>
            </a:r>
          </a:p>
          <a:p xmlns:a="http://schemas.openxmlformats.org/drawingml/2006/main">
            <a:r>
              <a:t>1. Regulatory Catalog: Tracks verified changes in data laws and updated reporting rules.</a:t>
            </a:r>
          </a:p>
          <a:p xmlns:a="http://schemas.openxmlformats.org/drawingml/2006/main">
            <a:r>
              <a:t>   2. Control Catalog: Defines explicit database criteria for specific compliance mandates.</a:t>
            </a:r>
          </a:p>
          <a:p xmlns:a="http://schemas.openxmlformats.org/drawingml/2006/main">
            <a:r>
              <a:t>   3. Connector Catalog: Manages connection parameters and security access methods.</a:t>
            </a:r>
          </a:p>
          <a:p xmlns:a="http://schemas.openxmlformats.org/drawingml/2006/main">
            <a:r>
              <a:t>   4. Evidence Catalog: Defines data structures for secure telemetry log packaging.</a:t>
            </a:r>
          </a:p>
          <a:p xmlns:a="http://schemas.openxmlformats.org/drawingml/2006/main">
            <a:r>
              <a:t>   5. Test Catalog: Contains automated integration and validation testing scripts.</a:t>
            </a:r>
          </a:p>
          <a:p xmlns:a="http://schemas.openxmlformats.org/drawingml/2006/main">
            <a:r>
              <a:t>   6. Commercial Catalog: Tracks licence keys, feature options, and updates.</a:t>
            </a:r>
          </a:p>
          <a:p xmlns:a="http://schemas.openxmlformats.org/drawingml/2006/main">
            <a:r>
              <a:t>* The Lifecycle of a Catalog Item:</a:t>
            </a:r>
          </a:p>
          <a:p xmlns:a="http://schemas.openxmlformats.org/drawingml/2006/main">
            <a:r>
              <a:t/>
            </a:r>
          </a:p>
          <a:p xmlns:a="http://schemas.openxmlformats.org/drawingml/2006/main">
            <a:r>
              <a:t>$$\text{Cryptographic Package Signing} \longrightarrow \text{Admin Impact Review} \longrightarrow \text{User Selection} \longrightarrow \text{Local Instance Setup} \longrightarrow \text{Active Telemetry Check} \longrightarrow \text{Historical Log Archiving}$$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maintains clear operational boundaries to ensure sensitive user logs never leave the customer's secure environment.</a:t>
            </a:r>
          </a:p>
          <a:p xmlns:a="http://schemas.openxmlformats.org/drawingml/2006/main">
            <a:r>
              <a:t>* Operational Boundary Map:</a:t>
            </a:r>
          </a:p>
          <a:p xmlns:a="http://schemas.openxmlformats.org/drawingml/2006/main">
            <a:r>
              <a:t/>
            </a:r>
          </a:p>
          <a:p xmlns:a="http://schemas.openxmlformats.org/drawingml/2006/main">
            <a:r>
              <a:t>┌────────────────────────────────────────────────────────────────────────┐</a:t>
            </a:r>
          </a:p>
          <a:p xmlns:a="http://schemas.openxmlformats.org/drawingml/2006/main">
            <a:r>
              <a:t>│  CUSTOMER DESKTOP / CLOUD NODE RUNTIME                                 │</a:t>
            </a:r>
          </a:p>
          <a:p xmlns:a="http://schemas.openxmlformats.org/drawingml/2006/main">
            <a:r>
              <a:t>│  • Local database tracking tables  • Native connector pipelines        │</a:t>
            </a:r>
          </a:p>
          <a:p xmlns:a="http://schemas.openxmlformats.org/drawingml/2006/main">
            <a:r>
              <a:t>│  • Active canary monitoring pools  • Anonymized telemetry summaries    │</a:t>
            </a:r>
          </a:p>
          <a:p xmlns:a="http://schemas.openxmlformats.org/drawingml/2006/main">
            <a:r>
              <a:t>└──────────────────────────────────┬─────────────────────────────────────┘</a:t>
            </a:r>
          </a:p>
          <a:p xmlns:a="http://schemas.openxmlformats.org/drawingml/2006/main">
            <a:r>
              <a:t>                                   │</a:t>
            </a:r>
          </a:p>
          <a:p xmlns:a="http://schemas.openxmlformats.org/drawingml/2006/main">
            <a:r>
              <a:t>                                   │ (Secure License Tokens Only)</a:t>
            </a:r>
          </a:p>
          <a:p xmlns:a="http://schemas.openxmlformats.org/drawingml/2006/main">
            <a:r>
              <a:t>                                   ▼</a:t>
            </a:r>
          </a:p>
          <a:p xmlns:a="http://schemas.openxmlformats.org/drawingml/2006/main">
            <a:r>
              <a:t>┌────────────────────────────────────────────────────────────────────────┐</a:t>
            </a:r>
          </a:p>
          <a:p xmlns:a="http://schemas.openxmlformats.org/drawingml/2006/main">
            <a:r>
              <a:t>│  ORVIA VENDOR CLOUD ENDPOINT                                           │</a:t>
            </a:r>
          </a:p>
          <a:p xmlns:a="http://schemas.openxmlformats.org/drawingml/2006/main">
            <a:r>
              <a:t>│  • Cryptographic verification key registry                             │</a:t>
            </a:r>
          </a:p>
          <a:p xmlns:a="http://schemas.openxmlformats.org/drawingml/2006/main">
            <a:r>
              <a:t>│  • Feature update packages and signed configuration files              │</a:t>
            </a:r>
          </a:p>
          <a:p xmlns:a="http://schemas.openxmlformats.org/drawingml/2006/main">
            <a:r>
              <a:t>│  • Anonymized technical support metrics                                │</a:t>
            </a:r>
          </a:p>
          <a:p xmlns:a="http://schemas.openxmlformats.org/drawingml/2006/main">
            <a:r>
              <a:t>└────────────────────────────────────────────────────────────────────────┘</a:t>
            </a:r>
          </a:p>
          <a:p xmlns:a="http://schemas.openxmlformats.org/drawingml/2006/main">
            <a:r>
              <a:t/>
            </a:r>
          </a:p>
          <a:p xmlns:a="http://schemas.openxmlformats.org/drawingml/2006/main">
            <a:r>
              <a:t/>
            </a:r>
          </a:p>
          <a:p xmlns:a="http://schemas.openxmlformats.org/drawingml/2006/main">
            <a:r>
              <a:t>* Core Architectural Guardrails:</a:t>
            </a:r>
          </a:p>
          <a:p xmlns:a="http://schemas.openxmlformats.org/drawingml/2006/main">
            <a:r>
              <a:t>* Zero Raw Data Storage: The vendor platform cannot read or store a client's customer identities, database keys, or telemetry content.</a:t>
            </a:r>
          </a:p>
          <a:p xmlns:a="http://schemas.openxmlformats.org/drawingml/2006/main">
            <a:r>
              <a:t>   * Isolated Telemetry Verification: The public verification URL (/verify/[digest]) presents a cryptographically signed cryptographic summary hash, proving system compliance without exposing personal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A structured execution strategy replaces high-level roadmaps, focusing engineering tasks on validation gates and production readiness.</a:t>
            </a:r>
          </a:p>
          <a:p xmlns:a="http://schemas.openxmlformats.org/drawingml/2006/main">
            <a:r>
              <a:t/>
            </a:r>
          </a:p>
          <a:p xmlns:a="http://schemas.openxmlformats.org/drawingml/2006/main">
            <a:r>
              <a:t>  MILESTONE 1: SPRINT           MILESTONE 2: PROOF            MILESTONE 3: COMPLY          MILESTONE 4: LAUNCH</a:t>
            </a:r>
          </a:p>
          <a:p xmlns:a="http://schemas.openxmlformats.org/drawingml/2006/main">
            <a:r>
              <a:t>┌────────────────────────┐    ┌────────────────────────┐    ┌────────────────────────┐    ┌────────────────────────┐</a:t>
            </a:r>
          </a:p>
          <a:p xmlns:a="http://schemas.openxmlformats.org/drawingml/2006/main">
            <a:r>
              <a:t>│ • Freeze Code Baseline │ ──&gt;│ • Complete CI/CD Gate  │ ──&gt;│ • Run T01-T34 Testing  │ ──&gt;│ • Secure Pilot Release │</a:t>
            </a:r>
          </a:p>
          <a:p xmlns:a="http://schemas.openxmlformats.org/drawingml/2006/main">
            <a:r>
              <a:t>│ • Build Live Adapters  │    │ • Deploy Web-Probe     │    │ • Audit Data Models    │    │ • Generate Proof Card  │</a:t>
            </a:r>
          </a:p>
          <a:p xmlns:a="http://schemas.openxmlformats.org/drawingml/2006/main">
            <a:r>
              <a:t>│ • Secure Pilot DB      │    │ • Generate Signed Card │    │ • Lock Production KMS  │    │ • Initiate Expansion   │</a:t>
            </a:r>
          </a:p>
          <a:p xmlns:a="http://schemas.openxmlformats.org/drawingml/2006/main">
            <a:r>
              <a:t>└────────────────────────┘    └────────────────────────┘    └────────────────────────┘    └────────────────────────┘</a:t>
            </a:r>
          </a:p>
          <a:p xmlns:a="http://schemas.openxmlformats.org/drawingml/2006/main">
            <a:r>
              <a:t/>
            </a:r>
          </a:p>
          <a:p xmlns:a="http://schemas.openxmlformats.org/drawingml/2006/main">
            <a:r>
              <a:t/>
            </a:r>
          </a:p>
          <a:p xmlns:a="http://schemas.openxmlformats.org/drawingml/2006/main">
            <a:r>
              <a:t>* Milestone 1: The Core Production Sprint (Weeks 1–2)</a:t>
            </a:r>
          </a:p>
          <a:p xmlns:a="http://schemas.openxmlformats.org/drawingml/2006/main">
            <a:r>
              <a:t>* Deliverables: Live PostgreSQL readback adapters, a functional SendGrid/Twilio communication adapter, and local canary infrastructure migrations.</a:t>
            </a:r>
          </a:p>
          <a:p xmlns:a="http://schemas.openxmlformats.org/drawingml/2006/main">
            <a:r>
              <a:t>   * Dependencies: Access to the developer repository branch and allowlisted non-production database targets.</a:t>
            </a:r>
          </a:p>
          <a:p xmlns:a="http://schemas.openxmlformats.org/drawingml/2006/main">
            <a:r>
              <a:t>   * Acceptance Gate: The canary service must successfully catch a simulated tracking leak and log an error.</a:t>
            </a:r>
          </a:p>
          <a:p xmlns:a="http://schemas.openxmlformats.org/drawingml/2006/main">
            <a:r>
              <a:t>* Milestone 2: Security Assessment &amp; Release Verification (Weeks 3–4)</a:t>
            </a:r>
          </a:p>
          <a:p xmlns:a="http://schemas.openxmlformats.org/drawingml/2006/main">
            <a:r>
              <a:t>* Deliverables: The complete Playwright web scanning tool, the public verification dashboard, and a production-grade encryption key infrastructure.</a:t>
            </a:r>
          </a:p>
          <a:p xmlns:a="http://schemas.openxmlformats.org/drawingml/2006/main">
            <a:r>
              <a:t>   * Dependencies: Successful completion of Milestone 1 and final code reviews.</a:t>
            </a:r>
          </a:p>
          <a:p xmlns:a="http://schemas.openxmlformats.org/drawingml/2006/main">
            <a:r>
              <a:t>   * Acceptance Gate: Passing the T01 to T34 integration test suites with zero errors.</a:t>
            </a:r>
          </a:p>
          <a:p xmlns:a="http://schemas.openxmlformats.org/drawingml/2006/main">
            <a:r>
              <a:t>* Milestone 3: Customer Onboarding &amp; Regional Scaling (Month 2+)</a:t>
            </a:r>
          </a:p>
          <a:p xmlns:a="http://schemas.openxmlformats.org/drawingml/2006/main">
            <a:r>
              <a:t>* Deliverables: Deployment of the 22-language notice validation hook and multi-region regulatory configurations.</a:t>
            </a:r>
          </a:p>
          <a:p xmlns:a="http://schemas.openxmlformats.org/drawingml/2006/main">
            <a:r>
              <a:t>   * Dependencies: Signed agreements with pilot enterprises and stable versions of the DPDPA Rules.</a:t>
            </a:r>
          </a:p>
          <a:p xmlns:a="http://schemas.openxmlformats.org/drawingml/2006/main">
            <a:r>
              <a:t>   * Acceptance Gate: Successful verification logs generated across three distinct enterprise test 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Statutory Foundations:</a:t>
            </a:r>
          </a:p>
          <a:p xmlns:a="http://schemas.openxmlformats.org/drawingml/2006/main">
            <a:r>
              <a:t>* Digital Personal Data Protection Act (DPDPA 2023): Focuses on Sections 5 (Notice Obligations), 6 (Consent Parameters), 8 (Data Protection Duties), and 9 (Child-Safety Protections).</a:t>
            </a:r>
          </a:p>
          <a:p xmlns:a="http://schemas.openxmlformats.org/drawingml/2006/main">
            <a:r>
              <a:t>   * MeitY Regulatory Update Guidelines (Rules 2025): Defines notified timelines, Consent Manager registration criteria, and reporting procedures.</a:t>
            </a:r>
          </a:p>
          <a:p xmlns:a="http://schemas.openxmlformats.org/drawingml/2006/main">
            <a:r>
              <a:t>   * CERT-In Cyber Security Directions: Establishes the 6-hour incident notification requirement and data logging rules.</a:t>
            </a:r>
          </a:p>
          <a:p xmlns:a="http://schemas.openxmlformats.org/drawingml/2006/main">
            <a:r>
              <a:t>* Competitor Documentation Baselines:</a:t>
            </a:r>
          </a:p>
          <a:p xmlns:a="http://schemas.openxmlformats.org/drawingml/2006/main">
            <a:r>
              <a:t>* OneTrust Global Architecture Suite: Product blueprints covering automated consent tracking and preference registries.</a:t>
            </a:r>
          </a:p>
          <a:p xmlns:a="http://schemas.openxmlformats.org/drawingml/2006/main">
            <a:r>
              <a:t>   * Vanta Automated Testing Framework: Structural configurations for continuous control checks and audit log collection.</a:t>
            </a:r>
          </a:p>
          <a:p xmlns:a="http://schemas.openxmlformats.org/drawingml/2006/main">
            <a:r>
              <a:t>   * Localized Indian Platforms: Process tracking features derived from Redacto, IDfy Privy, and miniOrange.</a:t>
            </a:r>
          </a:p>
          <a:p xmlns:a="http://schemas.openxmlformats.org/drawingml/2006/main">
            <a:r>
              <a:t>* Technical Engineering Frameworks:</a:t>
            </a:r>
          </a:p>
          <a:p xmlns:a="http://schemas.openxmlformats.org/drawingml/2006/main">
            <a:r>
              <a:t>* NIST Privacy Framework (V1.1): Controls for automated data mapping and continuous telemetry checking.</a:t>
            </a:r>
          </a:p>
          <a:p xmlns:a="http://schemas.openxmlformats.org/drawingml/2006/main">
            <a:r>
              <a:t>   * ISO/IEC 27701 Architecture Standards: Reference patterns for separating database execution paths from verification tracking routines.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916a157a6942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7d029af4bc4f86" /><Relationship Type="http://schemas.openxmlformats.org/officeDocument/2006/relationships/slideLayout" Target="/ppt/slideLayouts/slideLayout1.xml" Id="Rb9d5a78c3fd84a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d5a78c3fd84a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5711efe6444d85" /><Relationship Type="http://schemas.openxmlformats.org/officeDocument/2006/relationships/notesSlide" Target="/ppt/notesSlides/notesSlide1.xml" Id="R99516751d24449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347e983b5d40f8" /><Relationship Type="http://schemas.openxmlformats.org/officeDocument/2006/relationships/notesSlide" Target="/ppt/notesSlides/notesSlide2.xml" Id="Rb3d73baf83a54e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dab2662f334eed" /><Relationship Type="http://schemas.openxmlformats.org/officeDocument/2006/relationships/notesSlide" Target="/ppt/notesSlides/notesSlide3.xml" Id="Rcd4ce81ea2ac48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cc449bef8d4777" /><Relationship Type="http://schemas.openxmlformats.org/officeDocument/2006/relationships/notesSlide" Target="/ppt/notesSlides/notesSlide4.xml" Id="Rb39c9664fb4848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9a918aff5a4e9c" /><Relationship Type="http://schemas.openxmlformats.org/officeDocument/2006/relationships/notesSlide" Target="/ppt/notesSlides/notesSlide5.xml" Id="Rb414587d60314e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ccd11348da4324" /><Relationship Type="http://schemas.openxmlformats.org/officeDocument/2006/relationships/notesSlide" Target="/ppt/notesSlides/notesSlide6.xml" Id="Rd14f4b83bea74f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d3b465006c43e9" /><Relationship Type="http://schemas.openxmlformats.org/officeDocument/2006/relationships/notesSlide" Target="/ppt/notesSlides/notesSlide7.xml" Id="Rf3917945a84b4c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f1d6d565174012" /><Relationship Type="http://schemas.openxmlformats.org/officeDocument/2006/relationships/notesSlide" Target="/ppt/notesSlides/notesSlide8.xml" Id="Re7c2156488ef4c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696a9f90ca42e5" /><Relationship Type="http://schemas.openxmlformats.org/officeDocument/2006/relationships/notesSlide" Target="/ppt/notesSlides/notesSlide9.xml" Id="R663536e246ba48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63d9929dbf4fa6" /><Relationship Type="http://schemas.openxmlformats.org/officeDocument/2006/relationships/notesSlide" Target="/ppt/notesSlides/notesSlide10.xml" Id="Rfe2b597b281f45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9bcfbbbf554ed3" /><Relationship Type="http://schemas.openxmlformats.org/officeDocument/2006/relationships/notesSlide" Target="/ppt/notesSlides/notesSlide11.xml" Id="Rcc105c1b370d48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c78e4e307e4204" /><Relationship Type="http://schemas.openxmlformats.org/officeDocument/2006/relationships/notesSlide" Target="/ppt/notesSlides/notesSlide12.xml" Id="Rcc724785ecb843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c2d107b92943da" /><Relationship Type="http://schemas.openxmlformats.org/officeDocument/2006/relationships/notesSlide" Target="/ppt/notesSlides/notesSlide13.xml" Id="Rb845ce6e5bdf45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b6b8e22096d4608" /><Relationship Type="http://schemas.openxmlformats.org/officeDocument/2006/relationships/notesSlide" Target="/ppt/notesSlides/notesSlide14.xml" Id="R156a6ceee25e47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6d73d3876ee4cdc" /><Relationship Type="http://schemas.openxmlformats.org/officeDocument/2006/relationships/notesSlide" Target="/ppt/notesSlides/notesSlide15.xml" Id="Reb0dbd229ce842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73176af0e8c4d57" /><Relationship Type="http://schemas.openxmlformats.org/officeDocument/2006/relationships/notesSlide" Target="/ppt/notesSlides/notesSlide16.xml" Id="R590dc8642ea2446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7117541246b4995" /><Relationship Type="http://schemas.openxmlformats.org/officeDocument/2006/relationships/notesSlide" Target="/ppt/notesSlides/notesSlide17.xml" Id="R78ff2ad1cf8f45f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94F939-4238-460E-A75E-C265BCC426EC}"/>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ORVIA Project Technical Briefing &amp; Investor Pitch Deck</a:t>
            </a:r>
          </a:p>
        </p:txBody>
      </p:sp>
      <p:sp>
        <p:nvSpPr>
          <p:cNvPr id="2" name="">
            <a:extLst xmlns:a="http://schemas.openxmlformats.org/drawingml/2006/main">
              <a:ext uri="{FF2B5EF4-FFF2-40B4-BE49-F238E27FC236}">
                <a16:creationId xmlns:a16="http://schemas.microsoft.com/office/drawing/2014/main" id="{5D20AA33-FD2E-4C5D-A496-A595983940FE}"/>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Comprehensive Slide-by-Slide Content Document</a:t>
            </a:r>
          </a:p>
        </p:txBody>
      </p:sp>
      <p:sp>
        <p:nvSpPr>
          <p:cNvPr id="3" name="">
            <a:extLst xmlns:a="http://schemas.openxmlformats.org/drawingml/2006/main">
              <a:ext uri="{FF2B5EF4-FFF2-40B4-BE49-F238E27FC236}">
                <a16:creationId xmlns:a16="http://schemas.microsoft.com/office/drawing/2014/main" id="{F665A0B3-3E3F-476E-B9E0-56AF6E816FF2}"/>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C34CA74C-4A5F-4198-B30E-646B5D8B5AEC}"/>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B55E125-0506-4101-9FE8-C0837D235DCB}"/>
              </a:ext>
            </a:extLst>
          </p:cNvPr>
          <p:cNvSpPr>
            <a:spLocks xmlns:a="http://schemas.openxmlformats.org/drawingml/2006/main" noGrp="1"/>
          </p:cNvSpPr>
          <p:nvPr/>
        </p:nvSpPr>
        <p:spPr>
          <a:xfrm xmlns:a="http://schemas.openxmlformats.org/drawingml/2006/main">
            <a:off x="762000" y="4095750"/>
            <a:ext cx="1485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0">
                <a:solidFill>
                  <a:srgbClr val="14283F"/>
                </a:solidFill>
                <a:latin typeface="Arial"/>
                <a:ea typeface="Arial"/>
                <a:cs typeface="Arial"/>
              </a:defRPr>
            </a:pPr>
            <a:r>
              <a:rPr sz="3150" b="0">
                <a:solidFill>
                  <a:srgbClr val="14283F"/>
                </a:solidFill>
                <a:latin typeface="Arial"/>
                <a:ea typeface="Arial"/>
                <a:cs typeface="Arial"/>
              </a:rPr>
              <a:t>Audience: CEO, Co-Founders, Board of Directors, and Early Enterprise Pilots</a:t>
            </a:r>
          </a:p>
        </p:txBody>
      </p:sp>
      <p:sp>
        <p:nvSpPr>
          <p:cNvPr id="6" name="">
            <a:extLst xmlns:a="http://schemas.openxmlformats.org/drawingml/2006/main">
              <a:ext uri="{FF2B5EF4-FFF2-40B4-BE49-F238E27FC236}">
                <a16:creationId xmlns:a16="http://schemas.microsoft.com/office/drawing/2014/main" id="{CE56901E-18B1-4AFB-8795-84D291C29802}"/>
              </a:ext>
            </a:extLst>
          </p:cNvPr>
          <p:cNvSpPr>
            <a:spLocks xmlns:a="http://schemas.openxmlformats.org/drawingml/2006/main" noGrp="1"/>
          </p:cNvSpPr>
          <p:nvPr/>
        </p:nvSpPr>
        <p:spPr>
          <a:xfrm xmlns:a="http://schemas.openxmlformats.org/drawingml/2006/main">
            <a:off x="762000" y="6191250"/>
            <a:ext cx="1485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435466"/>
                </a:solidFill>
                <a:latin typeface="Arial"/>
                <a:ea typeface="Arial"/>
                <a:cs typeface="Arial"/>
              </a:defRPr>
            </a:pPr>
            <a:r>
              <a:rPr sz="2400" b="0">
                <a:solidFill>
                  <a:srgbClr val="435466"/>
                </a:solidFill>
                <a:latin typeface="Arial"/>
                <a:ea typeface="Arial"/>
                <a:cs typeface="Arial"/>
              </a:rPr>
              <a:t>Current Engineering Checkpoint: September 28, 2026 [2]</a:t>
            </a:r>
          </a:p>
        </p:txBody>
      </p:sp>
    </p:spTree>
    <p:extLst>
      <p:ext uri="{BB962C8B-B14F-4D97-AF65-F5344CB8AC3E}">
        <p14:creationId xmlns:p14="http://schemas.microsoft.com/office/powerpoint/2010/main" val="9777660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7574C7B-E17A-492C-8F5C-1A1AD7753D74}"/>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Use Cases &amp; Basis for Testing (Part 1)</a:t>
            </a:r>
          </a:p>
        </p:txBody>
      </p:sp>
      <p:sp>
        <p:nvSpPr>
          <p:cNvPr id="2" name="">
            <a:extLst xmlns:a="http://schemas.openxmlformats.org/drawingml/2006/main">
              <a:ext uri="{FF2B5EF4-FFF2-40B4-BE49-F238E27FC236}">
                <a16:creationId xmlns:a16="http://schemas.microsoft.com/office/drawing/2014/main" id="{1F61DDD4-B7B9-4710-9716-F564F9669955}"/>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Core Operational Workflows (Actors, Processing, Verification, and Failure Realities)</a:t>
            </a:r>
          </a:p>
        </p:txBody>
      </p:sp>
      <p:sp>
        <p:nvSpPr>
          <p:cNvPr id="3" name="">
            <a:extLst xmlns:a="http://schemas.openxmlformats.org/drawingml/2006/main">
              <a:ext uri="{FF2B5EF4-FFF2-40B4-BE49-F238E27FC236}">
                <a16:creationId xmlns:a16="http://schemas.microsoft.com/office/drawing/2014/main" id="{1A64AD0D-9CDA-4574-9222-CD5C761AB00A}"/>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9FCA63E8-4A49-4D04-B596-613944815B6C}"/>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DC2495A-6C3A-4528-9A9F-DA901EBA9A59}"/>
              </a:ext>
            </a:extLst>
          </p:cNvPr>
          <p:cNvSpPr>
            <a:spLocks xmlns:a="http://schemas.openxmlformats.org/drawingml/2006/main" noGrp="1"/>
          </p:cNvSpPr>
          <p:nvPr/>
        </p:nvSpPr>
        <p:spPr>
          <a:xfrm xmlns:a="http://schemas.openxmlformats.org/drawingml/2006/main">
            <a:off x="762000" y="23241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Overview: Every ORVIA use case maps an active privacy choice to downstream execution and independent telemetry observation.</a:t>
            </a:r>
          </a:p>
        </p:txBody>
      </p:sp>
      <p:sp>
        <p:nvSpPr>
          <p:cNvPr id="6" name="">
            <a:extLst xmlns:a="http://schemas.openxmlformats.org/drawingml/2006/main">
              <a:ext uri="{FF2B5EF4-FFF2-40B4-BE49-F238E27FC236}">
                <a16:creationId xmlns:a16="http://schemas.microsoft.com/office/drawing/2014/main" id="{81370816-8D02-4AA7-86C4-5F207B73AE69}"/>
              </a:ext>
            </a:extLst>
          </p:cNvPr>
          <p:cNvSpPr>
            <a:spLocks xmlns:a="http://schemas.openxmlformats.org/drawingml/2006/main" noGrp="1"/>
          </p:cNvSpPr>
          <p:nvPr/>
        </p:nvSpPr>
        <p:spPr>
          <a:xfrm xmlns:a="http://schemas.openxmlformats.org/drawingml/2006/main">
            <a:off x="762000" y="29622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Use Case 1: Automated Consent Withdrawal Enforcement</a:t>
            </a:r>
          </a:p>
        </p:txBody>
      </p:sp>
      <p:sp>
        <p:nvSpPr>
          <p:cNvPr id="7" name="">
            <a:extLst xmlns:a="http://schemas.openxmlformats.org/drawingml/2006/main">
              <a:ext uri="{FF2B5EF4-FFF2-40B4-BE49-F238E27FC236}">
                <a16:creationId xmlns:a16="http://schemas.microsoft.com/office/drawing/2014/main" id="{E7A4F5ED-E5E7-4E19-BD93-3D31CC639CF8}"/>
              </a:ext>
            </a:extLst>
          </p:cNvPr>
          <p:cNvSpPr>
            <a:spLocks xmlns:a="http://schemas.openxmlformats.org/drawingml/2006/main" noGrp="1"/>
          </p:cNvSpPr>
          <p:nvPr/>
        </p:nvSpPr>
        <p:spPr>
          <a:xfrm xmlns:a="http://schemas.openxmlformats.org/drawingml/2006/main">
            <a:off x="762000" y="33147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Actor: Data Principal (End User) / Third-Party Registered Consent Manager.</a:t>
            </a:r>
          </a:p>
        </p:txBody>
      </p:sp>
      <p:sp>
        <p:nvSpPr>
          <p:cNvPr id="8" name="">
            <a:extLst xmlns:a="http://schemas.openxmlformats.org/drawingml/2006/main">
              <a:ext uri="{FF2B5EF4-FFF2-40B4-BE49-F238E27FC236}">
                <a16:creationId xmlns:a16="http://schemas.microsoft.com/office/drawing/2014/main" id="{F87083E8-B971-482A-AA54-EE1986E8C935}"/>
              </a:ext>
            </a:extLst>
          </p:cNvPr>
          <p:cNvSpPr>
            <a:spLocks xmlns:a="http://schemas.openxmlformats.org/drawingml/2006/main" noGrp="1"/>
          </p:cNvSpPr>
          <p:nvPr/>
        </p:nvSpPr>
        <p:spPr>
          <a:xfrm xmlns:a="http://schemas.openxmlformats.org/drawingml/2006/main">
            <a:off x="762000" y="39528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Input: Cryptographically signed withdrawal token containing principal_id, purpose_id, and timestamp (t0).</a:t>
            </a:r>
          </a:p>
        </p:txBody>
      </p:sp>
      <p:sp>
        <p:nvSpPr>
          <p:cNvPr id="9" name="">
            <a:extLst xmlns:a="http://schemas.openxmlformats.org/drawingml/2006/main">
              <a:ext uri="{FF2B5EF4-FFF2-40B4-BE49-F238E27FC236}">
                <a16:creationId xmlns:a16="http://schemas.microsoft.com/office/drawing/2014/main" id="{3D26A89E-A727-42CE-BECA-61D3CBF3A38D}"/>
              </a:ext>
            </a:extLst>
          </p:cNvPr>
          <p:cNvSpPr>
            <a:spLocks xmlns:a="http://schemas.openxmlformats.org/drawingml/2006/main" noGrp="1"/>
          </p:cNvSpPr>
          <p:nvPr/>
        </p:nvSpPr>
        <p:spPr>
          <a:xfrm xmlns:a="http://schemas.openxmlformats.org/drawingml/2006/main">
            <a:off x="762000" y="4591050"/>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Processing: Bypasses standard forms; ingests payload via mock-consent-manager.ts, generates a versioned purpose/action entry, locks the epoch sequence, and passes the instruction to the processing boundary.</a:t>
            </a:r>
          </a:p>
        </p:txBody>
      </p:sp>
      <p:sp>
        <p:nvSpPr>
          <p:cNvPr id="10" name="">
            <a:extLst xmlns:a="http://schemas.openxmlformats.org/drawingml/2006/main">
              <a:ext uri="{FF2B5EF4-FFF2-40B4-BE49-F238E27FC236}">
                <a16:creationId xmlns:a16="http://schemas.microsoft.com/office/drawing/2014/main" id="{D12B86A8-280B-49AE-9FA9-C50058D8C56A}"/>
              </a:ext>
            </a:extLst>
          </p:cNvPr>
          <p:cNvSpPr>
            <a:spLocks xmlns:a="http://schemas.openxmlformats.org/drawingml/2006/main" noGrp="1"/>
          </p:cNvSpPr>
          <p:nvPr/>
        </p:nvSpPr>
        <p:spPr>
          <a:xfrm xmlns:a="http://schemas.openxmlformats.org/drawingml/2006/main">
            <a:off x="762000" y="580072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Downstream Action: Triggers the operations/executor.ts script to command local databases (e.g., PostgreSQL) and connected SaaS applications to change user status flags and halt processing.</a:t>
            </a:r>
          </a:p>
        </p:txBody>
      </p:sp>
      <p:sp>
        <p:nvSpPr>
          <p:cNvPr id="11" name="">
            <a:extLst xmlns:a="http://schemas.openxmlformats.org/drawingml/2006/main">
              <a:ext uri="{FF2B5EF4-FFF2-40B4-BE49-F238E27FC236}">
                <a16:creationId xmlns:a16="http://schemas.microsoft.com/office/drawing/2014/main" id="{7355EE0A-B229-4BB4-BA5A-CBF3D9B1071F}"/>
              </a:ext>
            </a:extLst>
          </p:cNvPr>
          <p:cNvSpPr>
            <a:spLocks xmlns:a="http://schemas.openxmlformats.org/drawingml/2006/main" noGrp="1"/>
          </p:cNvSpPr>
          <p:nvPr/>
        </p:nvSpPr>
        <p:spPr>
          <a:xfrm xmlns:a="http://schemas.openxmlformats.org/drawingml/2006/main">
            <a:off x="762000" y="6724650"/>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Verification Method: Deploys an independent verification loop using separate read-only database credentials to scan target data storage tables programmatically.</a:t>
            </a:r>
          </a:p>
        </p:txBody>
      </p:sp>
      <p:sp>
        <p:nvSpPr>
          <p:cNvPr id="12" name="">
            <a:extLst xmlns:a="http://schemas.openxmlformats.org/drawingml/2006/main">
              <a:ext uri="{FF2B5EF4-FFF2-40B4-BE49-F238E27FC236}">
                <a16:creationId xmlns:a16="http://schemas.microsoft.com/office/drawing/2014/main" id="{ED5D0CF6-A92E-44BA-A2B9-D2B9D2E322B1}"/>
              </a:ext>
            </a:extLst>
          </p:cNvPr>
          <p:cNvSpPr>
            <a:spLocks xmlns:a="http://schemas.openxmlformats.org/drawingml/2006/main" noGrp="1"/>
          </p:cNvSpPr>
          <p:nvPr/>
        </p:nvSpPr>
        <p:spPr>
          <a:xfrm xmlns:a="http://schemas.openxmlformats.org/drawingml/2006/main">
            <a:off x="762000" y="764857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Evidence Output: Generates a hash-chained TargetObservation receipt detailing exact execution states, ignoring internal API success responses.</a:t>
            </a:r>
          </a:p>
        </p:txBody>
      </p:sp>
      <p:sp>
        <p:nvSpPr>
          <p:cNvPr id="13" name="">
            <a:extLst xmlns:a="http://schemas.openxmlformats.org/drawingml/2006/main">
              <a:ext uri="{FF2B5EF4-FFF2-40B4-BE49-F238E27FC236}">
                <a16:creationId xmlns:a16="http://schemas.microsoft.com/office/drawing/2014/main" id="{71C10F40-AF0B-444A-B652-B4B73097B73F}"/>
              </a:ext>
            </a:extLst>
          </p:cNvPr>
          <p:cNvSpPr>
            <a:spLocks xmlns:a="http://schemas.openxmlformats.org/drawingml/2006/main" noGrp="1"/>
          </p:cNvSpPr>
          <p:nvPr/>
        </p:nvSpPr>
        <p:spPr>
          <a:xfrm xmlns:a="http://schemas.openxmlformats.org/drawingml/2006/main">
            <a:off x="762000" y="85725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Expected Result: Downstream field is_marketing_allowed changes to false within the specified grace period.</a:t>
            </a:r>
          </a:p>
        </p:txBody>
      </p:sp>
      <p:sp>
        <p:nvSpPr>
          <p:cNvPr id="14" name="">
            <a:extLst xmlns:a="http://schemas.openxmlformats.org/drawingml/2006/main">
              <a:ext uri="{FF2B5EF4-FFF2-40B4-BE49-F238E27FC236}">
                <a16:creationId xmlns:a16="http://schemas.microsoft.com/office/drawing/2014/main" id="{8C8436A2-983B-4FB9-A5FE-4905DD126793}"/>
              </a:ext>
            </a:extLst>
          </p:cNvPr>
          <p:cNvSpPr>
            <a:spLocks xmlns:a="http://schemas.openxmlformats.org/drawingml/2006/main" noGrp="1"/>
          </p:cNvSpPr>
          <p:nvPr/>
        </p:nvSpPr>
        <p:spPr>
          <a:xfrm xmlns:a="http://schemas.openxmlformats.org/drawingml/2006/main">
            <a:off x="9429750" y="2324100"/>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Failure Cases: Stale database caches, slow message broker queues, or downstream network timeouts occur. If target data remains active, ORVIA forces a persistent TIMEOUT_EFFECT_UNKNOWN or OBSERVED_VIOLATION flag into the pipeline.</a:t>
            </a:r>
          </a:p>
        </p:txBody>
      </p:sp>
      <p:sp>
        <p:nvSpPr>
          <p:cNvPr id="15" name="">
            <a:extLst xmlns:a="http://schemas.openxmlformats.org/drawingml/2006/main">
              <a:ext uri="{FF2B5EF4-FFF2-40B4-BE49-F238E27FC236}">
                <a16:creationId xmlns:a16="http://schemas.microsoft.com/office/drawing/2014/main" id="{0CAF7804-A757-442B-B221-CB8BD522E42C}"/>
              </a:ext>
            </a:extLst>
          </p:cNvPr>
          <p:cNvSpPr>
            <a:spLocks xmlns:a="http://schemas.openxmlformats.org/drawingml/2006/main" noGrp="1"/>
          </p:cNvSpPr>
          <p:nvPr/>
        </p:nvSpPr>
        <p:spPr>
          <a:xfrm xmlns:a="http://schemas.openxmlformats.org/drawingml/2006/main">
            <a:off x="9429750" y="35337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Use Case 2: Multi-Language Notice Drift Containment</a:t>
            </a:r>
          </a:p>
        </p:txBody>
      </p:sp>
      <p:sp>
        <p:nvSpPr>
          <p:cNvPr id="16" name="">
            <a:extLst xmlns:a="http://schemas.openxmlformats.org/drawingml/2006/main">
              <a:ext uri="{FF2B5EF4-FFF2-40B4-BE49-F238E27FC236}">
                <a16:creationId xmlns:a16="http://schemas.microsoft.com/office/drawing/2014/main" id="{2B67072F-4ABF-4B3E-BD8B-2AC596995012}"/>
              </a:ext>
            </a:extLst>
          </p:cNvPr>
          <p:cNvSpPr>
            <a:spLocks xmlns:a="http://schemas.openxmlformats.org/drawingml/2006/main" noGrp="1"/>
          </p:cNvSpPr>
          <p:nvPr/>
        </p:nvSpPr>
        <p:spPr>
          <a:xfrm xmlns:a="http://schemas.openxmlformats.org/drawingml/2006/main">
            <a:off x="9429750" y="3886200"/>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Actor: Control Owner (Product Manager / Data Protection Officer).</a:t>
            </a:r>
          </a:p>
        </p:txBody>
      </p:sp>
      <p:sp>
        <p:nvSpPr>
          <p:cNvPr id="17" name="">
            <a:extLst xmlns:a="http://schemas.openxmlformats.org/drawingml/2006/main">
              <a:ext uri="{FF2B5EF4-FFF2-40B4-BE49-F238E27FC236}">
                <a16:creationId xmlns:a16="http://schemas.microsoft.com/office/drawing/2014/main" id="{1D3875C9-6BC2-411F-AF5E-B2FFD1CAF509}"/>
              </a:ext>
            </a:extLst>
          </p:cNvPr>
          <p:cNvSpPr>
            <a:spLocks xmlns:a="http://schemas.openxmlformats.org/drawingml/2006/main" noGrp="1"/>
          </p:cNvSpPr>
          <p:nvPr/>
        </p:nvSpPr>
        <p:spPr>
          <a:xfrm xmlns:a="http://schemas.openxmlformats.org/drawingml/2006/main">
            <a:off x="9429750" y="423862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Input: Modification of an English notice string inside code configuration files during a deployment sprint.</a:t>
            </a:r>
          </a:p>
        </p:txBody>
      </p:sp>
      <p:sp>
        <p:nvSpPr>
          <p:cNvPr id="18" name="">
            <a:extLst xmlns:a="http://schemas.openxmlformats.org/drawingml/2006/main">
              <a:ext uri="{FF2B5EF4-FFF2-40B4-BE49-F238E27FC236}">
                <a16:creationId xmlns:a16="http://schemas.microsoft.com/office/drawing/2014/main" id="{B954B631-5E2E-4954-82D9-65668CAA72A4}"/>
              </a:ext>
            </a:extLst>
          </p:cNvPr>
          <p:cNvSpPr>
            <a:spLocks xmlns:a="http://schemas.openxmlformats.org/drawingml/2006/main" noGrp="1"/>
          </p:cNvSpPr>
          <p:nvPr/>
        </p:nvSpPr>
        <p:spPr>
          <a:xfrm xmlns:a="http://schemas.openxmlformats.org/drawingml/2006/main">
            <a:off x="9429750" y="48768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Processing: Context engine scans the application repository during continuous integration (CI) execution.</a:t>
            </a:r>
          </a:p>
        </p:txBody>
      </p:sp>
      <p:sp>
        <p:nvSpPr>
          <p:cNvPr id="19" name="">
            <a:extLst xmlns:a="http://schemas.openxmlformats.org/drawingml/2006/main">
              <a:ext uri="{FF2B5EF4-FFF2-40B4-BE49-F238E27FC236}">
                <a16:creationId xmlns:a16="http://schemas.microsoft.com/office/drawing/2014/main" id="{AEADA4C1-C18D-4B32-AEDC-90F1F93B78C4}"/>
              </a:ext>
            </a:extLst>
          </p:cNvPr>
          <p:cNvSpPr>
            <a:spLocks xmlns:a="http://schemas.openxmlformats.org/drawingml/2006/main" noGrp="1"/>
          </p:cNvSpPr>
          <p:nvPr/>
        </p:nvSpPr>
        <p:spPr>
          <a:xfrm xmlns:a="http://schemas.openxmlformats.org/drawingml/2006/main">
            <a:off x="9429750" y="551497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Downstream Action: Analyzes corresponding structural localization variables for the 21 remaining regional languages of the Eighth Schedule.</a:t>
            </a:r>
          </a:p>
        </p:txBody>
      </p:sp>
      <p:sp>
        <p:nvSpPr>
          <p:cNvPr id="20" name="">
            <a:extLst xmlns:a="http://schemas.openxmlformats.org/drawingml/2006/main">
              <a:ext uri="{FF2B5EF4-FFF2-40B4-BE49-F238E27FC236}">
                <a16:creationId xmlns:a16="http://schemas.microsoft.com/office/drawing/2014/main" id="{1A36EBC1-9A7D-442A-8CAB-5E193F1E26DB}"/>
              </a:ext>
            </a:extLst>
          </p:cNvPr>
          <p:cNvSpPr>
            <a:spLocks xmlns:a="http://schemas.openxmlformats.org/drawingml/2006/main" noGrp="1"/>
          </p:cNvSpPr>
          <p:nvPr/>
        </p:nvSpPr>
        <p:spPr>
          <a:xfrm xmlns:a="http://schemas.openxmlformats.org/drawingml/2006/main">
            <a:off x="9429750" y="64389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Verification Method: Validates text changes against the baseline database to check for legal contextual alignment.</a:t>
            </a:r>
          </a:p>
        </p:txBody>
      </p:sp>
      <p:sp>
        <p:nvSpPr>
          <p:cNvPr id="21" name="">
            <a:extLst xmlns:a="http://schemas.openxmlformats.org/drawingml/2006/main">
              <a:ext uri="{FF2B5EF4-FFF2-40B4-BE49-F238E27FC236}">
                <a16:creationId xmlns:a16="http://schemas.microsoft.com/office/drawing/2014/main" id="{D1E198D7-FF63-4A92-A63F-743742CDC177}"/>
              </a:ext>
            </a:extLst>
          </p:cNvPr>
          <p:cNvSpPr>
            <a:spLocks xmlns:a="http://schemas.openxmlformats.org/drawingml/2006/main" noGrp="1"/>
          </p:cNvSpPr>
          <p:nvPr/>
        </p:nvSpPr>
        <p:spPr>
          <a:xfrm xmlns:a="http://schemas.openxmlformats.org/drawingml/2006/main">
            <a:off x="9429750" y="70770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Evidence Output: Creates an automated repository compliance log detailing language synchronization status.</a:t>
            </a:r>
          </a:p>
        </p:txBody>
      </p:sp>
      <p:sp>
        <p:nvSpPr>
          <p:cNvPr id="22" name="">
            <a:extLst xmlns:a="http://schemas.openxmlformats.org/drawingml/2006/main">
              <a:ext uri="{FF2B5EF4-FFF2-40B4-BE49-F238E27FC236}">
                <a16:creationId xmlns:a16="http://schemas.microsoft.com/office/drawing/2014/main" id="{653DDC69-89C1-419D-A389-7E060E1697FD}"/>
              </a:ext>
            </a:extLst>
          </p:cNvPr>
          <p:cNvSpPr>
            <a:spLocks xmlns:a="http://schemas.openxmlformats.org/drawingml/2006/main" noGrp="1"/>
          </p:cNvSpPr>
          <p:nvPr/>
        </p:nvSpPr>
        <p:spPr>
          <a:xfrm xmlns:a="http://schemas.openxmlformats.org/drawingml/2006/main">
            <a:off x="9429750" y="771525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Expected Result: All 22 language versions maintain consistent legal alignment before deployment.</a:t>
            </a:r>
          </a:p>
        </p:txBody>
      </p:sp>
      <p:sp>
        <p:nvSpPr>
          <p:cNvPr id="23" name="">
            <a:extLst xmlns:a="http://schemas.openxmlformats.org/drawingml/2006/main">
              <a:ext uri="{FF2B5EF4-FFF2-40B4-BE49-F238E27FC236}">
                <a16:creationId xmlns:a16="http://schemas.microsoft.com/office/drawing/2014/main" id="{04B4DCC7-DB86-4CCE-B3B0-BAFEE1690342}"/>
              </a:ext>
            </a:extLst>
          </p:cNvPr>
          <p:cNvSpPr>
            <a:spLocks xmlns:a="http://schemas.openxmlformats.org/drawingml/2006/main" noGrp="1"/>
          </p:cNvSpPr>
          <p:nvPr/>
        </p:nvSpPr>
        <p:spPr>
          <a:xfrm xmlns:a="http://schemas.openxmlformats.org/drawingml/2006/main">
            <a:off x="9429750" y="8353425"/>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Failure Case: English modifications are pushed without updating regional translations, causing a language mismatch that can invalidate consent. ORVIA actively throws an engineering error (NoticeContextDrift) and fails the build pipeline.</a:t>
            </a:r>
          </a:p>
        </p:txBody>
      </p:sp>
    </p:spTree>
    <p:extLst>
      <p:ext uri="{BB962C8B-B14F-4D97-AF65-F5344CB8AC3E}">
        <p14:creationId xmlns:p14="http://schemas.microsoft.com/office/powerpoint/2010/main" val="17021423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56F63C-F694-4F14-848D-1C54479DBB2A}"/>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Use Cases &amp; Basis for Testing (Part 2)</a:t>
            </a:r>
          </a:p>
        </p:txBody>
      </p:sp>
      <p:sp>
        <p:nvSpPr>
          <p:cNvPr id="2" name="">
            <a:extLst xmlns:a="http://schemas.openxmlformats.org/drawingml/2006/main">
              <a:ext uri="{FF2B5EF4-FFF2-40B4-BE49-F238E27FC236}">
                <a16:creationId xmlns:a16="http://schemas.microsoft.com/office/drawing/2014/main" id="{B1A1E282-A01F-4C44-BE02-31652BCB95CF}"/>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Current Build Delta vs. Target Functional End State</a:t>
            </a:r>
          </a:p>
        </p:txBody>
      </p:sp>
      <p:sp>
        <p:nvSpPr>
          <p:cNvPr id="3" name="">
            <a:extLst xmlns:a="http://schemas.openxmlformats.org/drawingml/2006/main">
              <a:ext uri="{FF2B5EF4-FFF2-40B4-BE49-F238E27FC236}">
                <a16:creationId xmlns:a16="http://schemas.microsoft.com/office/drawing/2014/main" id="{11C2CC99-A599-45C1-B9CB-C7729A7B9FC6}"/>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E1319715-1B38-4A32-94F3-CFA270A78FF8}"/>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79339D18-BD5A-413D-B7F8-A84322A06400}"/>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Status Overview: The underlying verification plumbing is active, but the inputs must be scaled from synthetic models to production connections.</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Use Case Journey</a:t>
                      </a:r>
                    </a:p>
                  </a:txBody>
                  <a:tcPr marL="91440" marR="91440" marT="45720" marB="45720">
                    <a:solidFill>
                      <a:srgbClr val="14283F"/>
                    </a:solidFill>
                  </a:tcPr>
                </a:tc>
                <a:tc>
                  <a:txBody>
                    <a:bodyPr/>
                    <a:lstStyle/>
                    <a:p>
                      <a:r>
                        <a:rPr sz="2025" b="1">
                          <a:solidFill>
                            <a:srgbClr val="FFFFFF"/>
                          </a:solidFill>
                          <a:latin typeface="Arial"/>
                          <a:ea typeface="Arial"/>
                          <a:cs typeface="Arial"/>
                        </a:rPr>
                        <a:t>What Exists Now (Current Repository Build)</a:t>
                      </a:r>
                    </a:p>
                  </a:txBody>
                  <a:tcPr marL="91440" marR="91440" marT="45720" marB="45720">
                    <a:solidFill>
                      <a:srgbClr val="14283F"/>
                    </a:solidFill>
                  </a:tcPr>
                </a:tc>
                <a:tc>
                  <a:txBody>
                    <a:bodyPr/>
                    <a:lstStyle/>
                    <a:p>
                      <a:r>
                        <a:rPr sz="2025" b="1">
                          <a:solidFill>
                            <a:srgbClr val="FFFFFF"/>
                          </a:solidFill>
                          <a:latin typeface="Arial"/>
                          <a:ea typeface="Arial"/>
                          <a:cs typeface="Arial"/>
                        </a:rPr>
                        <a:t>Target Architecture (Unfinished End State)</a:t>
                      </a:r>
                    </a:p>
                  </a:txBody>
                  <a:tcPr marL="91440" marR="91440" marT="45720" marB="45720">
                    <a:solidFill>
                      <a:srgbClr val="14283F"/>
                    </a:solidFill>
                  </a:tcPr>
                </a:tc>
              </a:tr>
              <a:tr h="1312164">
                <a:tc>
                  <a:txBody>
                    <a:bodyPr/>
                    <a:lstStyle/>
                    <a:p>
                      <a:r>
                        <a:rPr sz="2025" b="1">
                          <a:solidFill>
                            <a:srgbClr val="14283F"/>
                          </a:solidFill>
                          <a:latin typeface="Arial"/>
                          <a:ea typeface="Arial"/>
                          <a:cs typeface="Arial"/>
                        </a:rPr>
                        <a:t>Consent Revocation Verification</a:t>
                      </a:r>
                    </a:p>
                  </a:txBody>
                  <a:tcPr marL="91440" marR="91440" marT="45720" marB="45720">
                    <a:solidFill>
                      <a:srgbClr val="F0F6F6"/>
                    </a:solidFill>
                  </a:tcPr>
                </a:tc>
                <a:tc>
                  <a:txBody>
                    <a:bodyPr/>
                    <a:lstStyle/>
                    <a:p>
                      <a:r>
                        <a:rPr sz="2025" b="0">
                          <a:solidFill>
                            <a:srgbClr val="14283F"/>
                          </a:solidFill>
                          <a:latin typeface="Arial"/>
                          <a:ea typeface="Arial"/>
                          <a:cs typeface="Arial"/>
                        </a:rPr>
                        <a:t>Operates within synthetic environments using local 'records-synthetic' structures.</a:t>
                      </a:r>
                    </a:p>
                  </a:txBody>
                  <a:tcPr marL="91440" marR="91440" marT="45720" marB="45720">
                    <a:solidFill>
                      <a:srgbClr val="F0F6F6"/>
                    </a:solidFill>
                  </a:tcPr>
                </a:tc>
                <a:tc>
                  <a:txBody>
                    <a:bodyPr/>
                    <a:lstStyle/>
                    <a:p>
                      <a:r>
                        <a:rPr sz="2025" b="0">
                          <a:solidFill>
                            <a:srgbClr val="14283F"/>
                          </a:solidFill>
                          <a:latin typeface="Arial"/>
                          <a:ea typeface="Arial"/>
                          <a:cs typeface="Arial"/>
                        </a:rPr>
                        <a:t>Connects directly to production providers (e.g., SendGrid suppression rails, Twilio).</a:t>
                      </a:r>
                    </a:p>
                  </a:txBody>
                  <a:tcPr marL="91440" marR="91440" marT="45720" marB="45720">
                    <a:solidFill>
                      <a:srgbClr val="F0F6F6"/>
                    </a:solidFill>
                  </a:tcPr>
                </a:tc>
              </a:tr>
              <a:tr h="1312164">
                <a:tc>
                  <a:txBody>
                    <a:bodyPr/>
                    <a:lstStyle/>
                    <a:p>
                      <a:r>
                        <a:rPr sz="2025" b="1">
                          <a:solidFill>
                            <a:srgbClr val="14283F"/>
                          </a:solidFill>
                          <a:latin typeface="Arial"/>
                          <a:ea typeface="Arial"/>
                          <a:cs typeface="Arial"/>
                        </a:rPr>
                        <a:t>Child Profiling Rail (DPDPA Section 9)</a:t>
                      </a:r>
                    </a:p>
                  </a:txBody>
                  <a:tcPr marL="91440" marR="91440" marT="45720" marB="45720">
                    <a:solidFill>
                      <a:srgbClr val="FFFFFF"/>
                    </a:solidFill>
                  </a:tcPr>
                </a:tc>
                <a:tc>
                  <a:txBody>
                    <a:bodyPr/>
                    <a:lstStyle/>
                    <a:p>
                      <a:r>
                        <a:rPr sz="2025" b="0">
                          <a:solidFill>
                            <a:srgbClr val="14283F"/>
                          </a:solidFill>
                          <a:latin typeface="Arial"/>
                          <a:ea typeface="Arial"/>
                          <a:cs typeface="Arial"/>
                        </a:rPr>
                        <a:t>Holds core processing data logic structures for capturing age verification events.</a:t>
                      </a:r>
                    </a:p>
                  </a:txBody>
                  <a:tcPr marL="91440" marR="91440" marT="45720" marB="45720">
                    <a:solidFill>
                      <a:srgbClr val="FFFFFF"/>
                    </a:solidFill>
                  </a:tcPr>
                </a:tc>
                <a:tc>
                  <a:txBody>
                    <a:bodyPr/>
                    <a:lstStyle/>
                    <a:p>
                      <a:r>
                        <a:rPr sz="2025" b="0">
                          <a:solidFill>
                            <a:srgbClr val="14283F"/>
                          </a:solidFill>
                          <a:latin typeface="Arial"/>
                          <a:ea typeface="Arial"/>
                          <a:cs typeface="Arial"/>
                        </a:rPr>
                        <a:t>Live active API gateway proxy blocks outbound ad pixel tracking on minor profiles.</a:t>
                      </a:r>
                    </a:p>
                  </a:txBody>
                  <a:tcPr marL="91440" marR="91440" marT="45720" marB="45720">
                    <a:solidFill>
                      <a:srgbClr val="FFFFFF"/>
                    </a:solidFill>
                  </a:tcPr>
                </a:tc>
              </a:tr>
              <a:tr h="1312164">
                <a:tc>
                  <a:txBody>
                    <a:bodyPr/>
                    <a:lstStyle/>
                    <a:p>
                      <a:r>
                        <a:rPr sz="2025" b="1">
                          <a:solidFill>
                            <a:srgbClr val="14283F"/>
                          </a:solidFill>
                          <a:latin typeface="Arial"/>
                          <a:ea typeface="Arial"/>
                          <a:cs typeface="Arial"/>
                        </a:rPr>
                        <a:t>Multi-Clock Breach Containment</a:t>
                      </a:r>
                    </a:p>
                  </a:txBody>
                  <a:tcPr marL="91440" marR="91440" marT="45720" marB="45720">
                    <a:solidFill>
                      <a:srgbClr val="F0F6F6"/>
                    </a:solidFill>
                  </a:tcPr>
                </a:tc>
                <a:tc>
                  <a:txBody>
                    <a:bodyPr/>
                    <a:lstStyle/>
                    <a:p>
                      <a:r>
                        <a:rPr sz="2025" b="0">
                          <a:solidFill>
                            <a:srgbClr val="14283F"/>
                          </a:solidFill>
                          <a:latin typeface="Arial"/>
                          <a:ea typeface="Arial"/>
                          <a:cs typeface="Arial"/>
                        </a:rPr>
                        <a:t>Monitors a single 72-hour regulatory clock manually anchored by operators.</a:t>
                      </a:r>
                    </a:p>
                  </a:txBody>
                  <a:tcPr marL="91440" marR="91440" marT="45720" marB="45720">
                    <a:solidFill>
                      <a:srgbClr val="F0F6F6"/>
                    </a:solidFill>
                  </a:tcPr>
                </a:tc>
                <a:tc>
                  <a:txBody>
                    <a:bodyPr/>
                    <a:lstStyle/>
                    <a:p>
                      <a:r>
                        <a:rPr sz="2025" b="0">
                          <a:solidFill>
                            <a:srgbClr val="14283F"/>
                          </a:solidFill>
                          <a:latin typeface="Arial"/>
                          <a:ea typeface="Arial"/>
                          <a:cs typeface="Arial"/>
                        </a:rPr>
                        <a:t>Ingests live infrastructure alert webhooks to run parallel 6h CERT-In / 72h DPDPA clocks.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99FC5995-7EE2-40A7-975B-4114CEBDB37F}"/>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Testing Baseline Reference: All operational code tracks against the Birch and Aster synthetic enterprise networks, utilizing designated non-production datasets to validate pipeline behavior under stress.</a:t>
            </a:r>
          </a:p>
        </p:txBody>
      </p:sp>
    </p:spTree>
    <p:extLst>
      <p:ext uri="{BB962C8B-B14F-4D97-AF65-F5344CB8AC3E}">
        <p14:creationId xmlns:p14="http://schemas.microsoft.com/office/powerpoint/2010/main" val="1572451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6065B5-2A29-4D94-988B-065FA30CC05B}"/>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1)</a:t>
            </a:r>
          </a:p>
        </p:txBody>
      </p:sp>
      <p:sp>
        <p:nvSpPr>
          <p:cNvPr id="2" name="">
            <a:extLst xmlns:a="http://schemas.openxmlformats.org/drawingml/2006/main">
              <a:ext uri="{FF2B5EF4-FFF2-40B4-BE49-F238E27FC236}">
                <a16:creationId xmlns:a16="http://schemas.microsoft.com/office/drawing/2014/main" id="{F61A73A9-3C42-4348-A4A2-EA77EDB69962}"/>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Comprehensive Market Landscape Mapping (Global vs. Local Privacy Suites)</a:t>
            </a:r>
          </a:p>
        </p:txBody>
      </p:sp>
      <p:sp>
        <p:nvSpPr>
          <p:cNvPr id="3" name="">
            <a:extLst xmlns:a="http://schemas.openxmlformats.org/drawingml/2006/main">
              <a:ext uri="{FF2B5EF4-FFF2-40B4-BE49-F238E27FC236}">
                <a16:creationId xmlns:a16="http://schemas.microsoft.com/office/drawing/2014/main" id="{64D0A383-3A5D-4010-A802-85BDCD4F2032}"/>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D99C28D9-A55C-4A22-BFDE-529F9A233B5C}"/>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9E351CF-C610-4555-964F-52AAC92446A5}"/>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Global and domestic GRC platforms focus primarily on process governance, documentation, and external data discovery, leaving an open market space for ORVIA's deep operational enforcement model.</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Platform</a:t>
                      </a:r>
                    </a:p>
                  </a:txBody>
                  <a:tcPr marL="91440" marR="91440" marT="45720" marB="45720">
                    <a:solidFill>
                      <a:srgbClr val="14283F"/>
                    </a:solidFill>
                  </a:tcPr>
                </a:tc>
                <a:tc>
                  <a:txBody>
                    <a:bodyPr/>
                    <a:lstStyle/>
                    <a:p>
                      <a:r>
                        <a:rPr sz="2025" b="1">
                          <a:solidFill>
                            <a:srgbClr val="FFFFFF"/>
                          </a:solidFill>
                          <a:latin typeface="Arial"/>
                          <a:ea typeface="Arial"/>
                          <a:cs typeface="Arial"/>
                        </a:rPr>
                        <a:t>Technical Core &amp; Documented Modules</a:t>
                      </a:r>
                    </a:p>
                  </a:txBody>
                  <a:tcPr marL="91440" marR="91440" marT="45720" marB="45720">
                    <a:solidFill>
                      <a:srgbClr val="14283F"/>
                    </a:solidFill>
                  </a:tcPr>
                </a:tc>
                <a:tc>
                  <a:txBody>
                    <a:bodyPr/>
                    <a:lstStyle/>
                    <a:p>
                      <a:r>
                        <a:rPr sz="2025" b="1">
                          <a:solidFill>
                            <a:srgbClr val="FFFFFF"/>
                          </a:solidFill>
                          <a:latin typeface="Arial"/>
                          <a:ea typeface="Arial"/>
                          <a:cs typeface="Arial"/>
                        </a:rPr>
                        <a:t>DPDPA-Specific &amp; GRC Capabilities</a:t>
                      </a:r>
                    </a:p>
                  </a:txBody>
                  <a:tcPr marL="91440" marR="91440" marT="45720" marB="45720">
                    <a:solidFill>
                      <a:srgbClr val="14283F"/>
                    </a:solidFill>
                  </a:tcPr>
                </a:tc>
              </a:tr>
              <a:tr h="984123">
                <a:tc>
                  <a:txBody>
                    <a:bodyPr/>
                    <a:lstStyle/>
                    <a:p>
                      <a:r>
                        <a:rPr sz="2025" b="1">
                          <a:solidFill>
                            <a:srgbClr val="14283F"/>
                          </a:solidFill>
                          <a:latin typeface="Arial"/>
                          <a:ea typeface="Arial"/>
                          <a:cs typeface="Arial"/>
                        </a:rPr>
                        <a:t>OneTrust</a:t>
                      </a:r>
                    </a:p>
                  </a:txBody>
                  <a:tcPr marL="91440" marR="91440" marT="45720" marB="45720">
                    <a:solidFill>
                      <a:srgbClr val="F0F6F6"/>
                    </a:solidFill>
                  </a:tcPr>
                </a:tc>
                <a:tc>
                  <a:txBody>
                    <a:bodyPr/>
                    <a:lstStyle/>
                    <a:p>
                      <a:r>
                        <a:rPr sz="2025" b="0">
                          <a:solidFill>
                            <a:srgbClr val="14283F"/>
                          </a:solidFill>
                          <a:latin typeface="Arial"/>
                          <a:ea typeface="Arial"/>
                          <a:cs typeface="Arial"/>
                        </a:rPr>
                        <a:t>• Enterprise privacy governance platform • Consent Management, DSAR automation, Vendor Risk, and automated Data Discovery.</a:t>
                      </a:r>
                    </a:p>
                  </a:txBody>
                  <a:tcPr marL="91440" marR="91440" marT="45720" marB="45720">
                    <a:solidFill>
                      <a:srgbClr val="F0F6F6"/>
                    </a:solidFill>
                  </a:tcPr>
                </a:tc>
                <a:tc>
                  <a:txBody>
                    <a:bodyPr/>
                    <a:lstStyle/>
                    <a:p>
                      <a:r>
                        <a:rPr sz="2025" b="0">
                          <a:solidFill>
                            <a:srgbClr val="14283F"/>
                          </a:solidFill>
                          <a:latin typeface="Arial"/>
                          <a:ea typeface="Arial"/>
                          <a:cs typeface="Arial"/>
                        </a:rPr>
                        <a:t>• Integrates DPDPA requirements into its global module suite as a localized compliance package. • Relies on questionnaire audits and data inventories.</a:t>
                      </a:r>
                    </a:p>
                  </a:txBody>
                  <a:tcPr marL="91440" marR="91440" marT="45720" marB="45720">
                    <a:solidFill>
                      <a:srgbClr val="F0F6F6"/>
                    </a:solidFill>
                  </a:tcPr>
                </a:tc>
              </a:tr>
              <a:tr h="984123">
                <a:tc>
                  <a:txBody>
                    <a:bodyPr/>
                    <a:lstStyle/>
                    <a:p>
                      <a:r>
                        <a:rPr sz="2025" b="1">
                          <a:solidFill>
                            <a:srgbClr val="14283F"/>
                          </a:solidFill>
                          <a:latin typeface="Arial"/>
                          <a:ea typeface="Arial"/>
                          <a:cs typeface="Arial"/>
                        </a:rPr>
                        <a:t>BigID</a:t>
                      </a:r>
                    </a:p>
                  </a:txBody>
                  <a:tcPr marL="91440" marR="91440" marT="45720" marB="45720">
                    <a:solidFill>
                      <a:srgbClr val="FFFFFF"/>
                    </a:solidFill>
                  </a:tcPr>
                </a:tc>
                <a:tc>
                  <a:txBody>
                    <a:bodyPr/>
                    <a:lstStyle/>
                    <a:p>
                      <a:r>
                        <a:rPr sz="2025" b="0">
                          <a:solidFill>
                            <a:srgbClr val="14283F"/>
                          </a:solidFill>
                          <a:latin typeface="Arial"/>
                          <a:ea typeface="Arial"/>
                          <a:cs typeface="Arial"/>
                        </a:rPr>
                        <a:t>• AI-driven data intelligence engine • Scans and classifies massive structured and unstructured data repositories.</a:t>
                      </a:r>
                    </a:p>
                  </a:txBody>
                  <a:tcPr marL="91440" marR="91440" marT="45720" marB="45720">
                    <a:solidFill>
                      <a:srgbClr val="FFFFFF"/>
                    </a:solidFill>
                  </a:tcPr>
                </a:tc>
                <a:tc>
                  <a:txBody>
                    <a:bodyPr/>
                    <a:lstStyle/>
                    <a:p>
                      <a:r>
                        <a:rPr sz="2025" b="0">
                          <a:solidFill>
                            <a:srgbClr val="14283F"/>
                          </a:solidFill>
                          <a:latin typeface="Arial"/>
                          <a:ea typeface="Arial"/>
                          <a:cs typeface="Arial"/>
                        </a:rPr>
                        <a:t>• Maps personal data locations by scanning for regional geographies and Data Principal identity sets. • Strong data inventory; relies on downstream platforms.</a:t>
                      </a:r>
                    </a:p>
                  </a:txBody>
                  <a:tcPr marL="91440" marR="91440" marT="45720" marB="45720">
                    <a:solidFill>
                      <a:srgbClr val="FFFFFF"/>
                    </a:solidFill>
                  </a:tcPr>
                </a:tc>
              </a:tr>
              <a:tr h="984123">
                <a:tc>
                  <a:txBody>
                    <a:bodyPr/>
                    <a:lstStyle/>
                    <a:p>
                      <a:r>
                        <a:rPr sz="2025" b="1">
                          <a:solidFill>
                            <a:srgbClr val="14283F"/>
                          </a:solidFill>
                          <a:latin typeface="Arial"/>
                          <a:ea typeface="Arial"/>
                          <a:cs typeface="Arial"/>
                        </a:rPr>
                        <a:t>Securiti.ai</a:t>
                      </a:r>
                    </a:p>
                  </a:txBody>
                  <a:tcPr marL="91440" marR="91440" marT="45720" marB="45720">
                    <a:solidFill>
                      <a:srgbClr val="F0F6F6"/>
                    </a:solidFill>
                  </a:tcPr>
                </a:tc>
                <a:tc>
                  <a:txBody>
                    <a:bodyPr/>
                    <a:lstStyle/>
                    <a:p>
                      <a:r>
                        <a:rPr sz="2025" b="0">
                          <a:solidFill>
                            <a:srgbClr val="14283F"/>
                          </a:solidFill>
                          <a:latin typeface="Arial"/>
                          <a:ea typeface="Arial"/>
                          <a:cs typeface="Arial"/>
                        </a:rPr>
                        <a:t>• DataAI Command Platform • Cloud data mapping, classification, and policy controls across SaaS/Cloud stacks.</a:t>
                      </a:r>
                    </a:p>
                  </a:txBody>
                  <a:tcPr marL="91440" marR="91440" marT="45720" marB="45720">
                    <a:solidFill>
                      <a:srgbClr val="F0F6F6"/>
                    </a:solidFill>
                  </a:tcPr>
                </a:tc>
                <a:tc>
                  <a:txBody>
                    <a:bodyPr/>
                    <a:lstStyle/>
                    <a:p>
                      <a:r>
                        <a:rPr sz="2025" b="0">
                          <a:solidFill>
                            <a:srgbClr val="14283F"/>
                          </a:solidFill>
                          <a:latin typeface="Arial"/>
                          <a:ea typeface="Arial"/>
                          <a:cs typeface="Arial"/>
                        </a:rPr>
                        <a:t>• Automates discovery, data lineage, and compliance checks across distributed global cloud environments. • Provides architectural visibility; relies on checklists</a:t>
                      </a:r>
                    </a:p>
                  </a:txBody>
                  <a:tcPr marL="91440" marR="91440" marT="45720" marB="45720">
                    <a:solidFill>
                      <a:srgbClr val="F0F6F6"/>
                    </a:solidFill>
                  </a:tcPr>
                </a:tc>
              </a:tr>
              <a:tr h="984123">
                <a:tc>
                  <a:txBody>
                    <a:bodyPr/>
                    <a:lstStyle/>
                    <a:p>
                      <a:r>
                        <a:rPr sz="2025" b="1">
                          <a:solidFill>
                            <a:srgbClr val="14283F"/>
                          </a:solidFill>
                          <a:latin typeface="Arial"/>
                          <a:ea typeface="Arial"/>
                          <a:cs typeface="Arial"/>
                        </a:rPr>
                        <a:t>Vanta / Drata</a:t>
                      </a:r>
                    </a:p>
                  </a:txBody>
                  <a:tcPr marL="91440" marR="91440" marT="45720" marB="45720">
                    <a:solidFill>
                      <a:srgbClr val="FFFFFF"/>
                    </a:solidFill>
                  </a:tcPr>
                </a:tc>
                <a:tc>
                  <a:txBody>
                    <a:bodyPr/>
                    <a:lstStyle/>
                    <a:p>
                      <a:r>
                        <a:rPr sz="2025" b="0">
                          <a:solidFill>
                            <a:srgbClr val="14283F"/>
                          </a:solidFill>
                          <a:latin typeface="Arial"/>
                          <a:ea typeface="Arial"/>
                          <a:cs typeface="Arial"/>
                        </a:rPr>
                        <a:t>• Automated GRC compliance engines targeting SOC2, ISO27001, and privacy. • Integrates continuous API evidence capture</a:t>
                      </a:r>
                    </a:p>
                  </a:txBody>
                  <a:tcPr marL="91440" marR="91440" marT="45720" marB="45720">
                    <a:solidFill>
                      <a:srgbClr val="FFFFFF"/>
                    </a:solidFill>
                  </a:tcPr>
                </a:tc>
                <a:tc>
                  <a:txBody>
                    <a:bodyPr/>
                    <a:lstStyle/>
                    <a:p>
                      <a:r>
                        <a:rPr sz="2025" b="0">
                          <a:solidFill>
                            <a:srgbClr val="14283F"/>
                          </a:solidFill>
                          <a:latin typeface="Arial"/>
                          <a:ea typeface="Arial"/>
                          <a:cs typeface="Arial"/>
                        </a:rPr>
                        <a:t>• Focuses on structural security framework alignment (e.g., automated screenshot collection for audits). • Limited native configuration for Indian DPDPA rules.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AF7445E-64CF-447F-A13B-D2E4D4108D78}"/>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Strategic Takeaway: These systems are built as passive platforms of record. They verify that a policy exists, but they do not programmatically prove that downstream internal code behaves correctly when a single user opt-out occurs.</a:t>
            </a:r>
          </a:p>
        </p:txBody>
      </p:sp>
    </p:spTree>
    <p:extLst>
      <p:ext uri="{BB962C8B-B14F-4D97-AF65-F5344CB8AC3E}">
        <p14:creationId xmlns:p14="http://schemas.microsoft.com/office/powerpoint/2010/main" val="19896474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D46E22-E128-4368-BD8A-ECBDB4E5EDA5}"/>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2)</a:t>
            </a:r>
          </a:p>
        </p:txBody>
      </p:sp>
      <p:sp>
        <p:nvSpPr>
          <p:cNvPr id="2" name="">
            <a:extLst xmlns:a="http://schemas.openxmlformats.org/drawingml/2006/main">
              <a:ext uri="{FF2B5EF4-FFF2-40B4-BE49-F238E27FC236}">
                <a16:creationId xmlns:a16="http://schemas.microsoft.com/office/drawing/2014/main" id="{82610A8F-A978-44BB-9D27-B4ADF5F61FDE}"/>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Regional Indian Challenger Platforms</a:t>
            </a:r>
          </a:p>
        </p:txBody>
      </p:sp>
      <p:sp>
        <p:nvSpPr>
          <p:cNvPr id="3" name="">
            <a:extLst xmlns:a="http://schemas.openxmlformats.org/drawingml/2006/main">
              <a:ext uri="{FF2B5EF4-FFF2-40B4-BE49-F238E27FC236}">
                <a16:creationId xmlns:a16="http://schemas.microsoft.com/office/drawing/2014/main" id="{F6B8FA78-6F44-40D9-9B1E-148BCB701130}"/>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ECCBAB53-9FD6-4273-AEF5-11377C6466A7}"/>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7C5B317-0F7E-419E-97E8-288A9FAFB601}"/>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Domestic platforms focus heavily on localized DPDPA features, primarily targeting consent collection, basic data mapping, and standard regulatory compliance tracking.</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Platform</a:t>
                      </a:r>
                    </a:p>
                  </a:txBody>
                  <a:tcPr marL="91440" marR="91440" marT="45720" marB="45720">
                    <a:solidFill>
                      <a:srgbClr val="14283F"/>
                    </a:solidFill>
                  </a:tcPr>
                </a:tc>
                <a:tc>
                  <a:txBody>
                    <a:bodyPr/>
                    <a:lstStyle/>
                    <a:p>
                      <a:r>
                        <a:rPr sz="2025" b="1">
                          <a:solidFill>
                            <a:srgbClr val="FFFFFF"/>
                          </a:solidFill>
                          <a:latin typeface="Arial"/>
                          <a:ea typeface="Arial"/>
                          <a:cs typeface="Arial"/>
                        </a:rPr>
                        <a:t>Documented Modules &amp; Architecture</a:t>
                      </a:r>
                    </a:p>
                  </a:txBody>
                  <a:tcPr marL="91440" marR="91440" marT="45720" marB="45720">
                    <a:solidFill>
                      <a:srgbClr val="14283F"/>
                    </a:solidFill>
                  </a:tcPr>
                </a:tc>
                <a:tc>
                  <a:txBody>
                    <a:bodyPr/>
                    <a:lstStyle/>
                    <a:p>
                      <a:r>
                        <a:rPr sz="2025" b="1">
                          <a:solidFill>
                            <a:srgbClr val="FFFFFF"/>
                          </a:solidFill>
                          <a:latin typeface="Arial"/>
                          <a:ea typeface="Arial"/>
                          <a:cs typeface="Arial"/>
                        </a:rPr>
                        <a:t>DPDPA Capabilities &amp; Limitations</a:t>
                      </a:r>
                    </a:p>
                  </a:txBody>
                  <a:tcPr marL="91440" marR="91440" marT="45720" marB="45720">
                    <a:solidFill>
                      <a:srgbClr val="14283F"/>
                    </a:solidFill>
                  </a:tcPr>
                </a:tc>
              </a:tr>
              <a:tr h="1312164">
                <a:tc>
                  <a:txBody>
                    <a:bodyPr/>
                    <a:lstStyle/>
                    <a:p>
                      <a:r>
                        <a:rPr sz="2025" b="1">
                          <a:solidFill>
                            <a:srgbClr val="14283F"/>
                          </a:solidFill>
                          <a:latin typeface="Arial"/>
                          <a:ea typeface="Arial"/>
                          <a:cs typeface="Arial"/>
                        </a:rPr>
                        <a:t>Redacto</a:t>
                      </a:r>
                    </a:p>
                  </a:txBody>
                  <a:tcPr marL="91440" marR="91440" marT="45720" marB="45720">
                    <a:solidFill>
                      <a:srgbClr val="F0F6F6"/>
                    </a:solidFill>
                  </a:tcPr>
                </a:tc>
                <a:tc>
                  <a:txBody>
                    <a:bodyPr/>
                    <a:lstStyle/>
                    <a:p>
                      <a:r>
                        <a:rPr sz="2025" b="0">
                          <a:solidFill>
                            <a:srgbClr val="14283F"/>
                          </a:solidFill>
                          <a:latin typeface="Arial"/>
                          <a:ea typeface="Arial"/>
                          <a:cs typeface="Arial"/>
                        </a:rPr>
                        <a:t>• AI document intelligence engine • Consent infrastructure logs and automated data discovery pipelines.</a:t>
                      </a:r>
                    </a:p>
                  </a:txBody>
                  <a:tcPr marL="91440" marR="91440" marT="45720" marB="45720">
                    <a:solidFill>
                      <a:srgbClr val="F0F6F6"/>
                    </a:solidFill>
                  </a:tcPr>
                </a:tc>
                <a:tc>
                  <a:txBody>
                    <a:bodyPr/>
                    <a:lstStyle/>
                    <a:p>
                      <a:r>
                        <a:rPr sz="2025" b="0">
                          <a:solidFill>
                            <a:srgbClr val="14283F"/>
                          </a:solidFill>
                          <a:latin typeface="Arial"/>
                          <a:ea typeface="Arial"/>
                          <a:cs typeface="Arial"/>
                        </a:rPr>
                        <a:t>• Automated data mapping, risk analysis, AI-driven DPIA, and text/file data masking or redaction. • Operates on claims; missing dynamic code verification.</a:t>
                      </a:r>
                    </a:p>
                  </a:txBody>
                  <a:tcPr marL="91440" marR="91440" marT="45720" marB="45720">
                    <a:solidFill>
                      <a:srgbClr val="F0F6F6"/>
                    </a:solidFill>
                  </a:tcPr>
                </a:tc>
              </a:tr>
              <a:tr h="1312164">
                <a:tc>
                  <a:txBody>
                    <a:bodyPr/>
                    <a:lstStyle/>
                    <a:p>
                      <a:r>
                        <a:rPr sz="2025" b="1">
                          <a:solidFill>
                            <a:srgbClr val="14283F"/>
                          </a:solidFill>
                          <a:latin typeface="Arial"/>
                          <a:ea typeface="Arial"/>
                          <a:cs typeface="Arial"/>
                        </a:rPr>
                        <a:t>IDfy Privy</a:t>
                      </a:r>
                    </a:p>
                  </a:txBody>
                  <a:tcPr marL="91440" marR="91440" marT="45720" marB="45720">
                    <a:solidFill>
                      <a:srgbClr val="FFFFFF"/>
                    </a:solidFill>
                  </a:tcPr>
                </a:tc>
                <a:tc>
                  <a:txBody>
                    <a:bodyPr/>
                    <a:lstStyle/>
                    <a:p>
                      <a:r>
                        <a:rPr sz="2025" b="0">
                          <a:solidFill>
                            <a:srgbClr val="14283F"/>
                          </a:solidFill>
                          <a:latin typeface="Arial"/>
                          <a:ea typeface="Arial"/>
                          <a:cs typeface="Arial"/>
                        </a:rPr>
                        <a:t>• Full-stack identity verification engine integrated with data privacy tools. • Data lineage tracking and automated PIAs.</a:t>
                      </a:r>
                    </a:p>
                  </a:txBody>
                  <a:tcPr marL="91440" marR="91440" marT="45720" marB="45720">
                    <a:solidFill>
                      <a:srgbClr val="FFFFFF"/>
                    </a:solidFill>
                  </a:tcPr>
                </a:tc>
                <a:tc>
                  <a:txBody>
                    <a:bodyPr/>
                    <a:lstStyle/>
                    <a:p>
                      <a:r>
                        <a:rPr sz="2025" b="0">
                          <a:solidFill>
                            <a:srgbClr val="14283F"/>
                          </a:solidFill>
                          <a:latin typeface="Arial"/>
                          <a:ea typeface="Arial"/>
                          <a:cs typeface="Arial"/>
                        </a:rPr>
                        <a:t>• Multilingual consent management tied directly to Data Principal request verification. • Strong intake gate; limited real-time runtime control.</a:t>
                      </a:r>
                    </a:p>
                  </a:txBody>
                  <a:tcPr marL="91440" marR="91440" marT="45720" marB="45720">
                    <a:solidFill>
                      <a:srgbClr val="FFFFFF"/>
                    </a:solidFill>
                  </a:tcPr>
                </a:tc>
              </a:tr>
              <a:tr h="1312164">
                <a:tc>
                  <a:txBody>
                    <a:bodyPr/>
                    <a:lstStyle/>
                    <a:p>
                      <a:r>
                        <a:rPr sz="2025" b="1">
                          <a:solidFill>
                            <a:srgbClr val="14283F"/>
                          </a:solidFill>
                          <a:latin typeface="Arial"/>
                          <a:ea typeface="Arial"/>
                          <a:cs typeface="Arial"/>
                        </a:rPr>
                        <a:t>miniOrange</a:t>
                      </a:r>
                    </a:p>
                  </a:txBody>
                  <a:tcPr marL="91440" marR="91440" marT="45720" marB="45720">
                    <a:solidFill>
                      <a:srgbClr val="F0F6F6"/>
                    </a:solidFill>
                  </a:tcPr>
                </a:tc>
                <a:tc>
                  <a:txBody>
                    <a:bodyPr/>
                    <a:lstStyle/>
                    <a:p>
                      <a:r>
                        <a:rPr sz="2025" b="0">
                          <a:solidFill>
                            <a:srgbClr val="14283F"/>
                          </a:solidFill>
                          <a:latin typeface="Arial"/>
                          <a:ea typeface="Arial"/>
                          <a:cs typeface="Arial"/>
                        </a:rPr>
                        <a:t>• Identity security and access platform with custom privacy extensions. • Data Loss Prevention (DLP) focus.</a:t>
                      </a:r>
                    </a:p>
                  </a:txBody>
                  <a:tcPr marL="91440" marR="91440" marT="45720" marB="45720">
                    <a:solidFill>
                      <a:srgbClr val="F0F6F6"/>
                    </a:solidFill>
                  </a:tcPr>
                </a:tc>
                <a:tc>
                  <a:txBody>
                    <a:bodyPr/>
                    <a:lstStyle/>
                    <a:p>
                      <a:r>
                        <a:rPr sz="2025" b="0">
                          <a:solidFill>
                            <a:srgbClr val="14283F"/>
                          </a:solidFill>
                          <a:latin typeface="Arial"/>
                          <a:ea typeface="Arial"/>
                          <a:cs typeface="Arial"/>
                        </a:rPr>
                        <a:t>• Combines DPDPA software tools with managed privacy services, gap assessments, and data discovery. • Focuses on security layers rather than code controls.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CAE37B0C-7926-464D-B76A-7B2F189C8543}"/>
              </a:ext>
            </a:extLst>
          </p:cNvPr>
          <p:cNvSpPr>
            <a:spLocks xmlns:a="http://schemas.openxmlformats.org/drawingml/2006/main" noGrp="1"/>
          </p:cNvSpPr>
          <p:nvPr/>
        </p:nvSpPr>
        <p:spPr>
          <a:xfrm xmlns:a="http://schemas.openxmlformats.org/drawingml/2006/main">
            <a:off x="762000" y="8572500"/>
            <a:ext cx="16764000" cy="9978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Additional Competitor Context: Platforms like GoTrust provide cookie scanning and compliance automation; PrivaSapien leverages privacy-enhancing technologies (PETs) like anonymization alongside responsible AI governance; and CookieYes serves as a streamlined website cookie consent banner.</a:t>
            </a:r>
          </a:p>
        </p:txBody>
      </p:sp>
    </p:spTree>
    <p:extLst>
      <p:ext uri="{BB962C8B-B14F-4D97-AF65-F5344CB8AC3E}">
        <p14:creationId xmlns:p14="http://schemas.microsoft.com/office/powerpoint/2010/main" val="1359846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70573A-788F-4D87-AFC9-79D8E9F3B266}"/>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3)</a:t>
            </a:r>
          </a:p>
        </p:txBody>
      </p:sp>
      <p:sp>
        <p:nvSpPr>
          <p:cNvPr id="2" name="">
            <a:extLst xmlns:a="http://schemas.openxmlformats.org/drawingml/2006/main">
              <a:ext uri="{FF2B5EF4-FFF2-40B4-BE49-F238E27FC236}">
                <a16:creationId xmlns:a16="http://schemas.microsoft.com/office/drawing/2014/main" id="{7EC29816-585B-4CFA-B7B0-D49CA81D0FDE}"/>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ORVIA vs. The Market: Feature-Level Capabilities</a:t>
            </a:r>
          </a:p>
        </p:txBody>
      </p:sp>
      <p:sp>
        <p:nvSpPr>
          <p:cNvPr id="3" name="">
            <a:extLst xmlns:a="http://schemas.openxmlformats.org/drawingml/2006/main">
              <a:ext uri="{FF2B5EF4-FFF2-40B4-BE49-F238E27FC236}">
                <a16:creationId xmlns:a16="http://schemas.microsoft.com/office/drawing/2014/main" id="{C11CC5F0-1E9A-445B-A67E-385E61EEAA2B}"/>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A3BB649D-82F6-44D2-8F1F-DEE477629517}"/>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237C489-4EA2-4E7E-B633-5F2F2976D7ED}"/>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ORVIA positions its features directly against established GRC capabilities, highlighting the gaps between passive documentation and active code verification.</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5048250"/>
                <a:gridCol w="4238625"/>
                <a:gridCol w="4238625"/>
                <a:gridCol w="3238500"/>
              </a:tblGrid>
              <a:tr h="876300">
                <a:tc>
                  <a:txBody>
                    <a:bodyPr/>
                    <a:lstStyle/>
                    <a:p>
                      <a:r>
                        <a:rPr sz="2100" b="1">
                          <a:solidFill>
                            <a:srgbClr val="FFFFFF"/>
                          </a:solidFill>
                          <a:latin typeface="Arial"/>
                          <a:ea typeface="Arial"/>
                          <a:cs typeface="Arial"/>
                        </a:rPr>
                        <a:t>Feature / Capability Module</a:t>
                      </a:r>
                    </a:p>
                  </a:txBody>
                  <a:tcPr marL="91440" marR="91440" marT="45720" marB="45720">
                    <a:solidFill>
                      <a:srgbClr val="14283F"/>
                    </a:solidFill>
                  </a:tcPr>
                </a:tc>
                <a:tc>
                  <a:txBody>
                    <a:bodyPr/>
                    <a:lstStyle/>
                    <a:p>
                      <a:r>
                        <a:rPr sz="2100" b="1">
                          <a:solidFill>
                            <a:srgbClr val="FFFFFF"/>
                          </a:solidFill>
                          <a:latin typeface="Arial"/>
                          <a:ea typeface="Arial"/>
                          <a:cs typeface="Arial"/>
                        </a:rPr>
                        <a:t>Enterprise (OneTrust/BigID)</a:t>
                      </a:r>
                    </a:p>
                  </a:txBody>
                  <a:tcPr marL="91440" marR="91440" marT="45720" marB="45720">
                    <a:solidFill>
                      <a:srgbClr val="14283F"/>
                    </a:solidFill>
                  </a:tcPr>
                </a:tc>
                <a:tc>
                  <a:txBody>
                    <a:bodyPr/>
                    <a:lstStyle/>
                    <a:p>
                      <a:r>
                        <a:rPr sz="2100" b="1">
                          <a:solidFill>
                            <a:srgbClr val="FFFFFF"/>
                          </a:solidFill>
                          <a:latin typeface="Arial"/>
                          <a:ea typeface="Arial"/>
                          <a:cs typeface="Arial"/>
                        </a:rPr>
                        <a:t>Compliance (Vanta/Sprinto)</a:t>
                      </a:r>
                    </a:p>
                  </a:txBody>
                  <a:tcPr marL="91440" marR="91440" marT="45720" marB="45720">
                    <a:solidFill>
                      <a:srgbClr val="14283F"/>
                    </a:solidFill>
                  </a:tcPr>
                </a:tc>
                <a:tc>
                  <a:txBody>
                    <a:bodyPr/>
                    <a:lstStyle/>
                    <a:p>
                      <a:r>
                        <a:rPr sz="2100" b="1">
                          <a:solidFill>
                            <a:srgbClr val="FFFFFF"/>
                          </a:solidFill>
                          <a:latin typeface="Arial"/>
                          <a:ea typeface="Arial"/>
                          <a:cs typeface="Arial"/>
                        </a:rPr>
                        <a:t>ORVIA Platform Status</a:t>
                      </a:r>
                    </a:p>
                  </a:txBody>
                  <a:tcPr marL="91440" marR="91440" marT="45720" marB="45720">
                    <a:solidFill>
                      <a:srgbClr val="14283F"/>
                    </a:solidFill>
                  </a:tcPr>
                </a:tc>
              </a:tr>
              <a:tr h="562356">
                <a:tc>
                  <a:txBody>
                    <a:bodyPr/>
                    <a:lstStyle/>
                    <a:p>
                      <a:r>
                        <a:rPr sz="2100" b="1">
                          <a:solidFill>
                            <a:srgbClr val="14283F"/>
                          </a:solidFill>
                          <a:latin typeface="Arial"/>
                          <a:ea typeface="Arial"/>
                          <a:cs typeface="Arial"/>
                        </a:rPr>
                        <a:t>Questionnaires &amp; Assessments</a:t>
                      </a:r>
                    </a:p>
                  </a:txBody>
                  <a:tcPr marL="91440" marR="91440" marT="45720" marB="45720">
                    <a:solidFill>
                      <a:srgbClr val="F0F6F6"/>
                    </a:solidFill>
                  </a:tcPr>
                </a:tc>
                <a:tc>
                  <a:txBody>
                    <a:bodyPr/>
                    <a:lstStyle/>
                    <a:p>
                      <a:r>
                        <a:rPr sz="2100" b="0">
                          <a:solidFill>
                            <a:srgbClr val="14283F"/>
                          </a:solidFill>
                          <a:latin typeface="Arial"/>
                          <a:ea typeface="Arial"/>
                          <a:cs typeface="Arial"/>
                        </a:rPr>
                        <a:t>BUILT (Scale Templates)</a:t>
                      </a:r>
                    </a:p>
                  </a:txBody>
                  <a:tcPr marL="91440" marR="91440" marT="45720" marB="45720">
                    <a:solidFill>
                      <a:srgbClr val="F0F6F6"/>
                    </a:solidFill>
                  </a:tcPr>
                </a:tc>
                <a:tc>
                  <a:txBody>
                    <a:bodyPr/>
                    <a:lstStyle/>
                    <a:p>
                      <a:r>
                        <a:rPr sz="2100" b="0">
                          <a:solidFill>
                            <a:srgbClr val="14283F"/>
                          </a:solidFill>
                          <a:latin typeface="Arial"/>
                          <a:ea typeface="Arial"/>
                          <a:cs typeface="Arial"/>
                        </a:rPr>
                        <a:t>BUILT (Audit Checklists)</a:t>
                      </a:r>
                    </a:p>
                  </a:txBody>
                  <a:tcPr marL="91440" marR="91440" marT="45720" marB="45720">
                    <a:solidFill>
                      <a:srgbClr val="F0F6F6"/>
                    </a:solidFill>
                  </a:tcPr>
                </a:tc>
                <a:tc>
                  <a:txBody>
                    <a:bodyPr/>
                    <a:lstStyle/>
                    <a:p>
                      <a:r>
                        <a:rPr sz="2100" b="0">
                          <a:solidFill>
                            <a:srgbClr val="14283F"/>
                          </a:solidFill>
                          <a:latin typeface="Arial"/>
                          <a:ea typeface="Arial"/>
                          <a:cs typeface="Arial"/>
                        </a:rPr>
                        <a:t>PARTIAL (Legal Only)</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Metadata Discovery &amp; Mapping</a:t>
                      </a:r>
                    </a:p>
                  </a:txBody>
                  <a:tcPr marL="91440" marR="91440" marT="45720" marB="45720">
                    <a:solidFill>
                      <a:srgbClr val="FFFFFF"/>
                    </a:solidFill>
                  </a:tcPr>
                </a:tc>
                <a:tc>
                  <a:txBody>
                    <a:bodyPr/>
                    <a:lstStyle/>
                    <a:p>
                      <a:r>
                        <a:rPr sz="2100" b="0">
                          <a:solidFill>
                            <a:srgbClr val="14283F"/>
                          </a:solidFill>
                          <a:latin typeface="Arial"/>
                          <a:ea typeface="Arial"/>
                          <a:cs typeface="Arial"/>
                        </a:rPr>
                        <a:t>BUILT (Multi-Connector Scan)</a:t>
                      </a:r>
                    </a:p>
                  </a:txBody>
                  <a:tcPr marL="91440" marR="91440" marT="45720" marB="45720">
                    <a:solidFill>
                      <a:srgbClr val="FFFFFF"/>
                    </a:solidFill>
                  </a:tcPr>
                </a:tc>
                <a:tc>
                  <a:txBody>
                    <a:bodyPr/>
                    <a:lstStyle/>
                    <a:p>
                      <a:r>
                        <a:rPr sz="2100" b="0">
                          <a:solidFill>
                            <a:srgbClr val="14283F"/>
                          </a:solidFill>
                          <a:latin typeface="Arial"/>
                          <a:ea typeface="Arial"/>
                          <a:cs typeface="Arial"/>
                        </a:rPr>
                        <a:t>NOT BUILT (Manual Upload)</a:t>
                      </a:r>
                    </a:p>
                  </a:txBody>
                  <a:tcPr marL="91440" marR="91440" marT="45720" marB="45720">
                    <a:solidFill>
                      <a:srgbClr val="FFFFFF"/>
                    </a:solidFill>
                  </a:tcPr>
                </a:tc>
                <a:tc>
                  <a:txBody>
                    <a:bodyPr/>
                    <a:lstStyle/>
                    <a:p>
                      <a:r>
                        <a:rPr sz="2100" b="0">
                          <a:solidFill>
                            <a:srgbClr val="14283F"/>
                          </a:solidFill>
                          <a:latin typeface="Arial"/>
                          <a:ea typeface="Arial"/>
                          <a:cs typeface="Arial"/>
                        </a:rPr>
                        <a:t>BUILT (PostgreSQL)</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Real-Time Consent Enforcement</a:t>
                      </a:r>
                    </a:p>
                  </a:txBody>
                  <a:tcPr marL="91440" marR="91440" marT="45720" marB="45720">
                    <a:solidFill>
                      <a:srgbClr val="F0F6F6"/>
                    </a:solidFill>
                  </a:tcPr>
                </a:tc>
                <a:tc>
                  <a:txBody>
                    <a:bodyPr/>
                    <a:lstStyle/>
                    <a:p>
                      <a:r>
                        <a:rPr sz="2100" b="0">
                          <a:solidFill>
                            <a:srgbClr val="14283F"/>
                          </a:solidFill>
                          <a:latin typeface="Arial"/>
                          <a:ea typeface="Arial"/>
                          <a:cs typeface="Arial"/>
                        </a:rPr>
                        <a:t>PARTIAL (Log Registration)</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BUILT (Durable Runner)</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Downstream Telemetry Verification</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BUILT (Canary Trap)</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CI/CD Regression Gate</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BUILT (CI Runner)</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Eighth Schedule Drift Guard</a:t>
                      </a:r>
                    </a:p>
                  </a:txBody>
                  <a:tcPr marL="91440" marR="91440" marT="45720" marB="45720">
                    <a:solidFill>
                      <a:srgbClr val="FFFFFF"/>
                    </a:solidFill>
                  </a:tcPr>
                </a:tc>
                <a:tc>
                  <a:txBody>
                    <a:bodyPr/>
                    <a:lstStyle/>
                    <a:p>
                      <a:r>
                        <a:rPr sz="2100" b="0">
                          <a:solidFill>
                            <a:srgbClr val="14283F"/>
                          </a:solidFill>
                          <a:latin typeface="Arial"/>
                          <a:ea typeface="Arial"/>
                          <a:cs typeface="Arial"/>
                        </a:rPr>
                        <a:t>NOT BUILT (Static Trans)</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PARTIAL (Git Hook)</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AI Custom Model Governance</a:t>
                      </a:r>
                    </a:p>
                  </a:txBody>
                  <a:tcPr marL="91440" marR="91440" marT="45720" marB="45720">
                    <a:solidFill>
                      <a:srgbClr val="F0F6F6"/>
                    </a:solidFill>
                  </a:tcPr>
                </a:tc>
                <a:tc>
                  <a:txBody>
                    <a:bodyPr/>
                    <a:lstStyle/>
                    <a:p>
                      <a:r>
                        <a:rPr sz="2100" b="0">
                          <a:solidFill>
                            <a:srgbClr val="14283F"/>
                          </a:solidFill>
                          <a:latin typeface="Arial"/>
                          <a:ea typeface="Arial"/>
                          <a:cs typeface="Arial"/>
                        </a:rPr>
                        <a:t>BUILT (Risk Registry)</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V2 (M19–M25 Engines)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35D4B20C-9C9E-4F2A-910F-536689285F23}"/>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Key Distinction: ORVIA avoids broad feature-count competition. Instead, it functions as a technical verification layer that can feed clean operational evidence into existing enterprise compliance platforms.</a:t>
            </a:r>
          </a:p>
        </p:txBody>
      </p:sp>
    </p:spTree>
    <p:extLst>
      <p:ext uri="{BB962C8B-B14F-4D97-AF65-F5344CB8AC3E}">
        <p14:creationId xmlns:p14="http://schemas.microsoft.com/office/powerpoint/2010/main" val="2454617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728F45A-1B17-45FF-AE6D-2D81869B73AD}"/>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ORVIA System Breakdown (Part 1)</a:t>
            </a:r>
          </a:p>
        </p:txBody>
      </p:sp>
      <p:sp>
        <p:nvSpPr>
          <p:cNvPr id="2" name="">
            <a:extLst xmlns:a="http://schemas.openxmlformats.org/drawingml/2006/main">
              <a:ext uri="{FF2B5EF4-FFF2-40B4-BE49-F238E27FC236}">
                <a16:creationId xmlns:a16="http://schemas.microsoft.com/office/drawing/2014/main" id="{AAD2A654-B41B-4FA1-B38C-3F961FFD9A79}"/>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System Architecture &amp; The 33-Module Core Inventory</a:t>
            </a:r>
          </a:p>
        </p:txBody>
      </p:sp>
      <p:sp>
        <p:nvSpPr>
          <p:cNvPr id="3" name="">
            <a:extLst xmlns:a="http://schemas.openxmlformats.org/drawingml/2006/main">
              <a:ext uri="{FF2B5EF4-FFF2-40B4-BE49-F238E27FC236}">
                <a16:creationId xmlns:a16="http://schemas.microsoft.com/office/drawing/2014/main" id="{5E5E2F60-CEDE-4950-BCD0-3B9C958C76C6}"/>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3EC75EEA-82B3-4D78-B5E6-F4A147410C65}"/>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1484E96F-3826-407F-9FFD-5B05D46DD686}"/>
              </a:ext>
            </a:extLst>
          </p:cNvPr>
          <p:cNvSpPr>
            <a:spLocks xmlns:a="http://schemas.openxmlformats.org/drawingml/2006/main" noGrp="1"/>
          </p:cNvSpPr>
          <p:nvPr/>
        </p:nvSpPr>
        <p:spPr>
          <a:xfrm xmlns:a="http://schemas.openxmlformats.org/drawingml/2006/main">
            <a:off x="762000" y="2324100"/>
            <a:ext cx="8096250" cy="1734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Architectural Overview: ORVIA runs as an append-only, secure processing system. The design uses a customer-local core node to execute and verify privacy controls, separating internal operational logs from the external vendor licensing layer.</a:t>
            </a:r>
          </a:p>
        </p:txBody>
      </p:sp>
      <p:sp>
        <p:nvSpPr>
          <p:cNvPr id="6" name="">
            <a:extLst xmlns:a="http://schemas.openxmlformats.org/drawingml/2006/main">
              <a:ext uri="{FF2B5EF4-FFF2-40B4-BE49-F238E27FC236}">
                <a16:creationId xmlns:a16="http://schemas.microsoft.com/office/drawing/2014/main" id="{B49AF8E9-2F7E-414D-B447-D72238AF9FD6}"/>
              </a:ext>
            </a:extLst>
          </p:cNvPr>
          <p:cNvSpPr>
            <a:spLocks xmlns:a="http://schemas.openxmlformats.org/drawingml/2006/main" noGrp="1"/>
          </p:cNvSpPr>
          <p:nvPr/>
        </p:nvSpPr>
        <p:spPr>
          <a:xfrm xmlns:a="http://schemas.openxmlformats.org/drawingml/2006/main">
            <a:off x="762000" y="4058793"/>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The Operating Spine: Manages identity parsing, policy compilation, durable data workflows, bounded database connection execution, independent verification routing, and the cryptographic evidence chain.</a:t>
            </a:r>
          </a:p>
        </p:txBody>
      </p:sp>
      <p:sp>
        <p:nvSpPr>
          <p:cNvPr id="7" name="">
            <a:extLst xmlns:a="http://schemas.openxmlformats.org/drawingml/2006/main">
              <a:ext uri="{FF2B5EF4-FFF2-40B4-BE49-F238E27FC236}">
                <a16:creationId xmlns:a16="http://schemas.microsoft.com/office/drawing/2014/main" id="{59E14F30-F33F-40D9-A479-59B1A1F81F9D}"/>
              </a:ext>
            </a:extLst>
          </p:cNvPr>
          <p:cNvSpPr>
            <a:spLocks xmlns:a="http://schemas.openxmlformats.org/drawingml/2006/main" noGrp="1"/>
          </p:cNvSpPr>
          <p:nvPr/>
        </p:nvSpPr>
        <p:spPr>
          <a:xfrm xmlns:a="http://schemas.openxmlformats.org/drawingml/2006/main">
            <a:off x="762000" y="5462016"/>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The 33-Module Core Inventory (By Strategic Tier):</a:t>
            </a:r>
          </a:p>
        </p:txBody>
      </p:sp>
      <p:sp>
        <p:nvSpPr>
          <p:cNvPr id="8" name="">
            <a:extLst xmlns:a="http://schemas.openxmlformats.org/drawingml/2006/main">
              <a:ext uri="{FF2B5EF4-FFF2-40B4-BE49-F238E27FC236}">
                <a16:creationId xmlns:a16="http://schemas.microsoft.com/office/drawing/2014/main" id="{F02CE063-29F4-41EE-A288-45B71264D0AE}"/>
              </a:ext>
            </a:extLst>
          </p:cNvPr>
          <p:cNvSpPr>
            <a:spLocks xmlns:a="http://schemas.openxmlformats.org/drawingml/2006/main" noGrp="1"/>
          </p:cNvSpPr>
          <p:nvPr/>
        </p:nvSpPr>
        <p:spPr>
          <a:xfrm xmlns:a="http://schemas.openxmlformats.org/drawingml/2006/main">
            <a:off x="762000" y="5870829"/>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1: Core Engine &amp; Processing Infrastructure (M01–M08)</a:t>
            </a:r>
          </a:p>
        </p:txBody>
      </p:sp>
      <p:sp>
        <p:nvSpPr>
          <p:cNvPr id="9" name="">
            <a:extLst xmlns:a="http://schemas.openxmlformats.org/drawingml/2006/main">
              <a:ext uri="{FF2B5EF4-FFF2-40B4-BE49-F238E27FC236}">
                <a16:creationId xmlns:a16="http://schemas.microsoft.com/office/drawing/2014/main" id="{780F8F0E-BCF7-48C3-B827-ED75FC588C3A}"/>
              </a:ext>
            </a:extLst>
          </p:cNvPr>
          <p:cNvSpPr>
            <a:spLocks xmlns:a="http://schemas.openxmlformats.org/drawingml/2006/main" noGrp="1"/>
          </p:cNvSpPr>
          <p:nvPr/>
        </p:nvSpPr>
        <p:spPr>
          <a:xfrm xmlns:a="http://schemas.openxmlformats.org/drawingml/2006/main">
            <a:off x="762000" y="6279642"/>
            <a:ext cx="8096250" cy="1071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Identity &amp; Scoping Engine, Policy Compiler, Durable Workflow Coordinator, Action Executor, Target Observer, Telemetry Router, Data Lineage Engine, RLS Migration Guard.</a:t>
            </a:r>
          </a:p>
        </p:txBody>
      </p:sp>
      <p:sp>
        <p:nvSpPr>
          <p:cNvPr id="10" name="">
            <a:extLst xmlns:a="http://schemas.openxmlformats.org/drawingml/2006/main">
              <a:ext uri="{FF2B5EF4-FFF2-40B4-BE49-F238E27FC236}">
                <a16:creationId xmlns:a16="http://schemas.microsoft.com/office/drawing/2014/main" id="{B4B09159-0490-41C3-9090-F6365F4E36C6}"/>
              </a:ext>
            </a:extLst>
          </p:cNvPr>
          <p:cNvSpPr>
            <a:spLocks xmlns:a="http://schemas.openxmlformats.org/drawingml/2006/main" noGrp="1"/>
          </p:cNvSpPr>
          <p:nvPr/>
        </p:nvSpPr>
        <p:spPr>
          <a:xfrm xmlns:a="http://schemas.openxmlformats.org/drawingml/2006/main">
            <a:off x="9429750" y="2324100"/>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2: India DPDPA Specialized Components (M09–M18)</a:t>
            </a:r>
          </a:p>
        </p:txBody>
      </p:sp>
      <p:sp>
        <p:nvSpPr>
          <p:cNvPr id="11" name="">
            <a:extLst xmlns:a="http://schemas.openxmlformats.org/drawingml/2006/main">
              <a:ext uri="{FF2B5EF4-FFF2-40B4-BE49-F238E27FC236}">
                <a16:creationId xmlns:a16="http://schemas.microsoft.com/office/drawing/2014/main" id="{1DE834BD-1C23-49A7-8E96-C6DBA6533852}"/>
              </a:ext>
            </a:extLst>
          </p:cNvPr>
          <p:cNvSpPr>
            <a:spLocks xmlns:a="http://schemas.openxmlformats.org/drawingml/2006/main" noGrp="1"/>
          </p:cNvSpPr>
          <p:nvPr/>
        </p:nvSpPr>
        <p:spPr>
          <a:xfrm xmlns:a="http://schemas.openxmlformats.org/drawingml/2006/main">
            <a:off x="9429750" y="2732913"/>
            <a:ext cx="8096250" cy="1734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Consent Manager Gateway, Eighth Schedule Notice Matrix, Breach Clock Coordinator, CERT-In Incident Hook, Canary Manager, Minor Profile Interceptor, Regional Language Verification API, SDF Governance Package, DPIA Workflow Tracker, Vendor Contract Monitor.</a:t>
            </a:r>
          </a:p>
        </p:txBody>
      </p:sp>
      <p:sp>
        <p:nvSpPr>
          <p:cNvPr id="12" name="">
            <a:extLst xmlns:a="http://schemas.openxmlformats.org/drawingml/2006/main">
              <a:ext uri="{FF2B5EF4-FFF2-40B4-BE49-F238E27FC236}">
                <a16:creationId xmlns:a16="http://schemas.microsoft.com/office/drawing/2014/main" id="{3C5BD434-DFA2-4C69-B8C0-A558F4BD73CA}"/>
              </a:ext>
            </a:extLst>
          </p:cNvPr>
          <p:cNvSpPr>
            <a:spLocks xmlns:a="http://schemas.openxmlformats.org/drawingml/2006/main" noGrp="1"/>
          </p:cNvSpPr>
          <p:nvPr/>
        </p:nvSpPr>
        <p:spPr>
          <a:xfrm xmlns:a="http://schemas.openxmlformats.org/drawingml/2006/main">
            <a:off x="9429750" y="4467606"/>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3: Advanced Intelligence &amp; V2 Features (M19–M25)</a:t>
            </a:r>
          </a:p>
        </p:txBody>
      </p:sp>
      <p:sp>
        <p:nvSpPr>
          <p:cNvPr id="13" name="">
            <a:extLst xmlns:a="http://schemas.openxmlformats.org/drawingml/2006/main">
              <a:ext uri="{FF2B5EF4-FFF2-40B4-BE49-F238E27FC236}">
                <a16:creationId xmlns:a16="http://schemas.microsoft.com/office/drawing/2014/main" id="{1A285108-83E8-4D58-9A19-88F1E4FCA220}"/>
              </a:ext>
            </a:extLst>
          </p:cNvPr>
          <p:cNvSpPr>
            <a:spLocks xmlns:a="http://schemas.openxmlformats.org/drawingml/2006/main" noGrp="1"/>
          </p:cNvSpPr>
          <p:nvPr/>
        </p:nvSpPr>
        <p:spPr>
          <a:xfrm xmlns:a="http://schemas.openxmlformats.org/drawingml/2006/main">
            <a:off x="9429750" y="4876419"/>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Non-Model AI Usage Monitor, Shadow Tool Scanner, Contextual Risk Forecaster, Autonomous Data Minimizer, Anonymization Integrity Checker, Adversarial Failure Simulator, Predictive Breach Impact Analyst.</a:t>
            </a:r>
          </a:p>
        </p:txBody>
      </p:sp>
      <p:sp>
        <p:nvSpPr>
          <p:cNvPr id="14" name="">
            <a:extLst xmlns:a="http://schemas.openxmlformats.org/drawingml/2006/main">
              <a:ext uri="{FF2B5EF4-FFF2-40B4-BE49-F238E27FC236}">
                <a16:creationId xmlns:a16="http://schemas.microsoft.com/office/drawing/2014/main" id="{70C40782-C645-400D-8661-B3FAFD12DD43}"/>
              </a:ext>
            </a:extLst>
          </p:cNvPr>
          <p:cNvSpPr>
            <a:spLocks xmlns:a="http://schemas.openxmlformats.org/drawingml/2006/main" noGrp="1"/>
          </p:cNvSpPr>
          <p:nvPr/>
        </p:nvSpPr>
        <p:spPr>
          <a:xfrm xmlns:a="http://schemas.openxmlformats.org/drawingml/2006/main">
            <a:off x="9429750" y="6279642"/>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4: Enterprise GRC &amp; Reporting Systems (M26–M33)</a:t>
            </a:r>
          </a:p>
        </p:txBody>
      </p:sp>
      <p:sp>
        <p:nvSpPr>
          <p:cNvPr id="15" name="">
            <a:extLst xmlns:a="http://schemas.openxmlformats.org/drawingml/2006/main">
              <a:ext uri="{FF2B5EF4-FFF2-40B4-BE49-F238E27FC236}">
                <a16:creationId xmlns:a16="http://schemas.microsoft.com/office/drawing/2014/main" id="{69FEC4C3-233B-417F-A7D3-EAADCF39EC0D}"/>
              </a:ext>
            </a:extLst>
          </p:cNvPr>
          <p:cNvSpPr>
            <a:spLocks xmlns:a="http://schemas.openxmlformats.org/drawingml/2006/main" noGrp="1"/>
          </p:cNvSpPr>
          <p:nvPr/>
        </p:nvSpPr>
        <p:spPr>
          <a:xfrm xmlns:a="http://schemas.openxmlformats.org/drawingml/2006/main">
            <a:off x="9429750" y="6688455"/>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Evidence Packaging Factory, Public Verification Server, Workspace UI Shell, Local CLI Suite, Audit Snapshot Builder, Entitlement Verification Bridge, Card Graphics Generator, Sync Ledger Pipeline.</a:t>
            </a:r>
          </a:p>
        </p:txBody>
      </p:sp>
    </p:spTree>
    <p:extLst>
      <p:ext uri="{BB962C8B-B14F-4D97-AF65-F5344CB8AC3E}">
        <p14:creationId xmlns:p14="http://schemas.microsoft.com/office/powerpoint/2010/main" val="12464667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AF15FB8-2E68-418E-9C79-D7B2E21FD710}"/>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ORVIA System Breakdown (Part 2)</a:t>
            </a:r>
          </a:p>
        </p:txBody>
      </p:sp>
      <p:sp>
        <p:nvSpPr>
          <p:cNvPr id="2" name="">
            <a:extLst xmlns:a="http://schemas.openxmlformats.org/drawingml/2006/main">
              <a:ext uri="{FF2B5EF4-FFF2-40B4-BE49-F238E27FC236}">
                <a16:creationId xmlns:a16="http://schemas.microsoft.com/office/drawing/2014/main" id="{5DF3DFEE-B530-48BD-9E5B-6F1DA026399B}"/>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Module Dependencies, Runtime States, and Release Horizons</a:t>
            </a:r>
          </a:p>
        </p:txBody>
      </p:sp>
      <p:sp>
        <p:nvSpPr>
          <p:cNvPr id="3" name="">
            <a:extLst xmlns:a="http://schemas.openxmlformats.org/drawingml/2006/main">
              <a:ext uri="{FF2B5EF4-FFF2-40B4-BE49-F238E27FC236}">
                <a16:creationId xmlns:a16="http://schemas.microsoft.com/office/drawing/2014/main" id="{7854140D-5AF3-485C-944C-C69926FC1262}"/>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E3CF0D7D-1177-4588-AA86-4AC99A422E1D}"/>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B1ABA0C1-658D-444D-9AA2-B42B02B532AF}"/>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Core Engineering Dependencies: The Action Executor (M04) must verify states with the Target Observer (M05) before reporting results to the Evidence Packaging Factory (M26), ensuring the execution path remains isolated from the verification loop.</a:t>
            </a:r>
          </a:p>
        </p:txBody>
      </p:sp>
      <p:sp>
        <p:nvSpPr>
          <p:cNvPr id="6" name="">
            <a:extLst xmlns:a="http://schemas.openxmlformats.org/drawingml/2006/main">
              <a:ext uri="{FF2B5EF4-FFF2-40B4-BE49-F238E27FC236}">
                <a16:creationId xmlns:a16="http://schemas.microsoft.com/office/drawing/2014/main" id="{38A3D040-9F64-42FD-A2D9-A1E8ACA58995}"/>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Runtime Boundary Division:</a:t>
            </a:r>
          </a:p>
        </p:txBody>
      </p:sp>
      <p:sp>
        <p:nvSpPr>
          <p:cNvPr id="7" name="">
            <a:extLst xmlns:a="http://schemas.openxmlformats.org/drawingml/2006/main">
              <a:ext uri="{FF2B5EF4-FFF2-40B4-BE49-F238E27FC236}">
                <a16:creationId xmlns:a16="http://schemas.microsoft.com/office/drawing/2014/main" id="{D6CD1219-F829-4E18-898D-E6F6737BE5AB}"/>
              </a:ext>
            </a:extLst>
          </p:cNvPr>
          <p:cNvSpPr>
            <a:spLocks xmlns:a="http://schemas.openxmlformats.org/drawingml/2006/main" noGrp="1"/>
          </p:cNvSpPr>
          <p:nvPr/>
        </p:nvSpPr>
        <p:spPr>
          <a:xfrm xmlns:a="http://schemas.openxmlformats.org/drawingml/2006/main">
            <a:off x="1143000" y="4000500"/>
            <a:ext cx="16002000" cy="1524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68C1228D-26B4-46FD-BD05-AFAD37A4839A}"/>
              </a:ext>
            </a:extLst>
          </p:cNvPr>
          <p:cNvSpPr>
            <a:spLocks xmlns:a="http://schemas.openxmlformats.org/drawingml/2006/main" noGrp="1"/>
          </p:cNvSpPr>
          <p:nvPr/>
        </p:nvSpPr>
        <p:spPr>
          <a:xfrm xmlns:a="http://schemas.openxmlformats.org/drawingml/2006/main">
            <a:off x="1314450" y="4152900"/>
            <a:ext cx="15659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CUSTOMER LOCAL RUNTIME ENVIRONMENT (Data Remains Local)</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M01-M08 Operating Spine Engine  • M13 Canary Monitor Pool</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M29 Local CLI Suite Workstation • M27 Public Verify Node</a:t>
            </a:r>
          </a:p>
        </p:txBody>
      </p:sp>
      <p:sp>
        <p:nvSpPr>
          <p:cNvPr id="9" name="">
            <a:extLst xmlns:a="http://schemas.openxmlformats.org/drawingml/2006/main">
              <a:ext uri="{FF2B5EF4-FFF2-40B4-BE49-F238E27FC236}">
                <a16:creationId xmlns:a16="http://schemas.microsoft.com/office/drawing/2014/main" id="{58A55988-5C44-4D76-983E-F32A1902DE2E}"/>
              </a:ext>
            </a:extLst>
          </p:cNvPr>
          <p:cNvSpPr>
            <a:spLocks xmlns:a="http://schemas.openxmlformats.org/drawingml/2006/main" noGrp="1"/>
          </p:cNvSpPr>
          <p:nvPr/>
        </p:nvSpPr>
        <p:spPr>
          <a:xfrm xmlns:a="http://schemas.openxmlformats.org/drawingml/2006/main">
            <a:off x="8763000" y="55340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7A44F264-2432-40DF-BE82-83124D32DDEB}"/>
              </a:ext>
            </a:extLst>
          </p:cNvPr>
          <p:cNvSpPr>
            <a:spLocks xmlns:a="http://schemas.openxmlformats.org/drawingml/2006/main" noGrp="1"/>
          </p:cNvSpPr>
          <p:nvPr/>
        </p:nvSpPr>
        <p:spPr>
          <a:xfrm xmlns:a="http://schemas.openxmlformats.org/drawingml/2006/main">
            <a:off x="9715500" y="574357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35466"/>
                </a:solidFill>
                <a:latin typeface="Arial"/>
                <a:ea typeface="Arial"/>
                <a:cs typeface="Arial"/>
              </a:defRPr>
            </a:pPr>
            <a:r>
              <a:rPr sz="1875" b="0">
                <a:solidFill>
                  <a:srgbClr val="435466"/>
                </a:solidFill>
                <a:latin typeface="Arial"/>
                <a:ea typeface="Arial"/>
                <a:cs typeface="Arial"/>
              </a:rPr>
              <a:t>(Secure Licensing Check Only)</a:t>
            </a:r>
          </a:p>
        </p:txBody>
      </p:sp>
      <p:sp>
        <p:nvSpPr>
          <p:cNvPr id="11" name="">
            <a:extLst xmlns:a="http://schemas.openxmlformats.org/drawingml/2006/main">
              <a:ext uri="{FF2B5EF4-FFF2-40B4-BE49-F238E27FC236}">
                <a16:creationId xmlns:a16="http://schemas.microsoft.com/office/drawing/2014/main" id="{3B74FAA9-996A-4E26-A96F-BAAB3BAA6360}"/>
              </a:ext>
            </a:extLst>
          </p:cNvPr>
          <p:cNvSpPr>
            <a:spLocks xmlns:a="http://schemas.openxmlformats.org/drawingml/2006/main" noGrp="1"/>
          </p:cNvSpPr>
          <p:nvPr/>
        </p:nvSpPr>
        <p:spPr>
          <a:xfrm xmlns:a="http://schemas.openxmlformats.org/drawingml/2006/main">
            <a:off x="1143000" y="6429375"/>
            <a:ext cx="16002000" cy="166687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3A1683AD-4C03-4EBE-A4E7-4CD5344EA703}"/>
              </a:ext>
            </a:extLst>
          </p:cNvPr>
          <p:cNvSpPr>
            <a:spLocks xmlns:a="http://schemas.openxmlformats.org/drawingml/2006/main" noGrp="1"/>
          </p:cNvSpPr>
          <p:nvPr/>
        </p:nvSpPr>
        <p:spPr>
          <a:xfrm xmlns:a="http://schemas.openxmlformats.org/drawingml/2006/main">
            <a:off x="1314450" y="6581775"/>
            <a:ext cx="15659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ORVIA VENDOR BOUNDARY ENVIRONMENT (Limited Shared Context)</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Commercial Entitlement Verification Bridge (M31)</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Signed Download / Core Capability Update Catalog Delivery</a:t>
            </a:r>
          </a:p>
        </p:txBody>
      </p:sp>
      <p:sp>
        <p:nvSpPr>
          <p:cNvPr id="13" name="">
            <a:extLst xmlns:a="http://schemas.openxmlformats.org/drawingml/2006/main">
              <a:ext uri="{FF2B5EF4-FFF2-40B4-BE49-F238E27FC236}">
                <a16:creationId xmlns:a16="http://schemas.microsoft.com/office/drawing/2014/main" id="{E199278D-ABB7-44FD-94D5-324F7C85C5C8}"/>
              </a:ext>
            </a:extLst>
          </p:cNvPr>
          <p:cNvSpPr>
            <a:spLocks xmlns:a="http://schemas.openxmlformats.org/drawingml/2006/main" noGrp="1"/>
          </p:cNvSpPr>
          <p:nvPr/>
        </p:nvSpPr>
        <p:spPr>
          <a:xfrm xmlns:a="http://schemas.openxmlformats.org/drawingml/2006/main">
            <a:off x="762000" y="8429625"/>
            <a:ext cx="16764000" cy="1034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V1 vs. V2 Structural Split: V1 includes the active data pipeline, regional language notice monitors, and core GRC proof generation tools. V2 contains modules M19 to M25, introducing automated custom AI governance, behavioral data scanners, and machine-driven threat models.</a:t>
            </a:r>
          </a:p>
        </p:txBody>
      </p:sp>
    </p:spTree>
    <p:extLst>
      <p:ext uri="{BB962C8B-B14F-4D97-AF65-F5344CB8AC3E}">
        <p14:creationId xmlns:p14="http://schemas.microsoft.com/office/powerpoint/2010/main" val="18800490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2BF3968B-C0FF-4C30-8EF3-51A048EFD50F}"/>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Database &amp; Information Model Breakdown</a:t>
            </a:r>
          </a:p>
        </p:txBody>
      </p:sp>
      <p:sp>
        <p:nvSpPr>
          <p:cNvPr id="2" name="">
            <a:extLst xmlns:a="http://schemas.openxmlformats.org/drawingml/2006/main">
              <a:ext uri="{FF2B5EF4-FFF2-40B4-BE49-F238E27FC236}">
                <a16:creationId xmlns:a16="http://schemas.microsoft.com/office/drawing/2014/main" id="{66F485FE-237D-41EE-9DE7-D82DF6104C1D}"/>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Cryptographic Graph Design and Telemetry Mapping</a:t>
            </a:r>
          </a:p>
        </p:txBody>
      </p:sp>
      <p:sp>
        <p:nvSpPr>
          <p:cNvPr id="3" name="">
            <a:extLst xmlns:a="http://schemas.openxmlformats.org/drawingml/2006/main">
              <a:ext uri="{FF2B5EF4-FFF2-40B4-BE49-F238E27FC236}">
                <a16:creationId xmlns:a16="http://schemas.microsoft.com/office/drawing/2014/main" id="{C4402AF8-F0B1-43E1-B429-54175FD586B8}"/>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4FDDC8EE-375A-40B1-8ADF-5CB1C8003001}"/>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9C285F9D-6EA7-407C-AF71-56BF9FFA72A7}"/>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ORVIA avoids high-level database statements. Data elements connect within a strictly typed, append-only entity relationship map.</a:t>
            </a:r>
          </a:p>
        </p:txBody>
      </p:sp>
      <p:sp>
        <p:nvSpPr>
          <p:cNvPr id="6" name="">
            <a:extLst xmlns:a="http://schemas.openxmlformats.org/drawingml/2006/main">
              <a:ext uri="{FF2B5EF4-FFF2-40B4-BE49-F238E27FC236}">
                <a16:creationId xmlns:a16="http://schemas.microsoft.com/office/drawing/2014/main" id="{9407A1D0-75AA-413D-AF26-03EA6C0899F3}"/>
              </a:ext>
            </a:extLst>
          </p:cNvPr>
          <p:cNvSpPr>
            <a:spLocks xmlns:a="http://schemas.openxmlformats.org/drawingml/2006/main" noGrp="1"/>
          </p:cNvSpPr>
          <p:nvPr/>
        </p:nvSpPr>
        <p:spPr>
          <a:xfrm xmlns:a="http://schemas.openxmlformats.org/drawingml/2006/main">
            <a:off x="7048500" y="3190875"/>
            <a:ext cx="4191000" cy="61912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7" name="">
            <a:extLst xmlns:a="http://schemas.openxmlformats.org/drawingml/2006/main">
              <a:ext uri="{FF2B5EF4-FFF2-40B4-BE49-F238E27FC236}">
                <a16:creationId xmlns:a16="http://schemas.microsoft.com/office/drawing/2014/main" id="{A8837877-8049-4B38-926C-DDEC0EA15FF8}"/>
              </a:ext>
            </a:extLst>
          </p:cNvPr>
          <p:cNvSpPr>
            <a:spLocks xmlns:a="http://schemas.openxmlformats.org/drawingml/2006/main" noGrp="1"/>
          </p:cNvSpPr>
          <p:nvPr/>
        </p:nvSpPr>
        <p:spPr>
          <a:xfrm xmlns:a="http://schemas.openxmlformats.org/drawingml/2006/main">
            <a:off x="7219950" y="3343275"/>
            <a:ext cx="3848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ORGANISATION</a:t>
            </a:r>
          </a:p>
        </p:txBody>
      </p:sp>
      <p:sp>
        <p:nvSpPr>
          <p:cNvPr id="8" name="">
            <a:extLst xmlns:a="http://schemas.openxmlformats.org/drawingml/2006/main">
              <a:ext uri="{FF2B5EF4-FFF2-40B4-BE49-F238E27FC236}">
                <a16:creationId xmlns:a16="http://schemas.microsoft.com/office/drawing/2014/main" id="{1ACD2385-AC1C-4D06-88C6-1B85F9485839}"/>
              </a:ext>
            </a:extLst>
          </p:cNvPr>
          <p:cNvSpPr>
            <a:spLocks xmlns:a="http://schemas.openxmlformats.org/drawingml/2006/main" noGrp="1"/>
          </p:cNvSpPr>
          <p:nvPr/>
        </p:nvSpPr>
        <p:spPr>
          <a:xfrm xmlns:a="http://schemas.openxmlformats.org/drawingml/2006/main">
            <a:off x="8858250" y="38195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DEC98F34-5EBA-4D13-870F-A4C17A069B29}"/>
              </a:ext>
            </a:extLst>
          </p:cNvPr>
          <p:cNvSpPr>
            <a:spLocks xmlns:a="http://schemas.openxmlformats.org/drawingml/2006/main" noGrp="1"/>
          </p:cNvSpPr>
          <p:nvPr/>
        </p:nvSpPr>
        <p:spPr>
          <a:xfrm xmlns:a="http://schemas.openxmlformats.org/drawingml/2006/main">
            <a:off x="21907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0" name="">
            <a:extLst xmlns:a="http://schemas.openxmlformats.org/drawingml/2006/main">
              <a:ext uri="{FF2B5EF4-FFF2-40B4-BE49-F238E27FC236}">
                <a16:creationId xmlns:a16="http://schemas.microsoft.com/office/drawing/2014/main" id="{C48B3EDB-CD70-48E1-87B9-DF33C852B580}"/>
              </a:ext>
            </a:extLst>
          </p:cNvPr>
          <p:cNvSpPr>
            <a:spLocks xmlns:a="http://schemas.openxmlformats.org/drawingml/2006/main" noGrp="1"/>
          </p:cNvSpPr>
          <p:nvPr/>
        </p:nvSpPr>
        <p:spPr>
          <a:xfrm xmlns:a="http://schemas.openxmlformats.org/drawingml/2006/main">
            <a:off x="23622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REGULATORY SOURCE</a:t>
            </a:r>
          </a:p>
        </p:txBody>
      </p:sp>
      <p:sp>
        <p:nvSpPr>
          <p:cNvPr id="11" name="">
            <a:extLst xmlns:a="http://schemas.openxmlformats.org/drawingml/2006/main">
              <a:ext uri="{FF2B5EF4-FFF2-40B4-BE49-F238E27FC236}">
                <a16:creationId xmlns:a16="http://schemas.microsoft.com/office/drawing/2014/main" id="{B3C60B4D-ED0A-4DC6-B19D-A6BEF00E7432}"/>
              </a:ext>
            </a:extLst>
          </p:cNvPr>
          <p:cNvSpPr>
            <a:spLocks xmlns:a="http://schemas.openxmlformats.org/drawingml/2006/main" noGrp="1"/>
          </p:cNvSpPr>
          <p:nvPr/>
        </p:nvSpPr>
        <p:spPr>
          <a:xfrm xmlns:a="http://schemas.openxmlformats.org/drawingml/2006/main">
            <a:off x="6429375" y="4552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39C9393A-A87C-4C2F-ACF2-84C406EF6670}"/>
              </a:ext>
            </a:extLst>
          </p:cNvPr>
          <p:cNvSpPr>
            <a:spLocks xmlns:a="http://schemas.openxmlformats.org/drawingml/2006/main" noGrp="1"/>
          </p:cNvSpPr>
          <p:nvPr/>
        </p:nvSpPr>
        <p:spPr>
          <a:xfrm xmlns:a="http://schemas.openxmlformats.org/drawingml/2006/main">
            <a:off x="73342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3" name="">
            <a:extLst xmlns:a="http://schemas.openxmlformats.org/drawingml/2006/main">
              <a:ext uri="{FF2B5EF4-FFF2-40B4-BE49-F238E27FC236}">
                <a16:creationId xmlns:a16="http://schemas.microsoft.com/office/drawing/2014/main" id="{FB50A937-8E1D-4602-B305-907F2D7E8A5E}"/>
              </a:ext>
            </a:extLst>
          </p:cNvPr>
          <p:cNvSpPr>
            <a:spLocks xmlns:a="http://schemas.openxmlformats.org/drawingml/2006/main" noGrp="1"/>
          </p:cNvSpPr>
          <p:nvPr/>
        </p:nvSpPr>
        <p:spPr>
          <a:xfrm xmlns:a="http://schemas.openxmlformats.org/drawingml/2006/main">
            <a:off x="75057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OBLIGATION</a:t>
            </a:r>
          </a:p>
        </p:txBody>
      </p:sp>
      <p:sp>
        <p:nvSpPr>
          <p:cNvPr id="14" name="">
            <a:extLst xmlns:a="http://schemas.openxmlformats.org/drawingml/2006/main">
              <a:ext uri="{FF2B5EF4-FFF2-40B4-BE49-F238E27FC236}">
                <a16:creationId xmlns:a16="http://schemas.microsoft.com/office/drawing/2014/main" id="{208C7F00-CD18-40FE-9F17-00B3A7B44BB6}"/>
              </a:ext>
            </a:extLst>
          </p:cNvPr>
          <p:cNvSpPr>
            <a:spLocks xmlns:a="http://schemas.openxmlformats.org/drawingml/2006/main" noGrp="1"/>
          </p:cNvSpPr>
          <p:nvPr/>
        </p:nvSpPr>
        <p:spPr>
          <a:xfrm xmlns:a="http://schemas.openxmlformats.org/drawingml/2006/main">
            <a:off x="11572875" y="4552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D271D828-99CF-44F7-8428-CA1A972953BF}"/>
              </a:ext>
            </a:extLst>
          </p:cNvPr>
          <p:cNvSpPr>
            <a:spLocks xmlns:a="http://schemas.openxmlformats.org/drawingml/2006/main" noGrp="1"/>
          </p:cNvSpPr>
          <p:nvPr/>
        </p:nvSpPr>
        <p:spPr>
          <a:xfrm xmlns:a="http://schemas.openxmlformats.org/drawingml/2006/main">
            <a:off x="124777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6" name="">
            <a:extLst xmlns:a="http://schemas.openxmlformats.org/drawingml/2006/main">
              <a:ext uri="{FF2B5EF4-FFF2-40B4-BE49-F238E27FC236}">
                <a16:creationId xmlns:a16="http://schemas.microsoft.com/office/drawing/2014/main" id="{A58EC0D0-C868-4B13-9328-6D4F377871BB}"/>
              </a:ext>
            </a:extLst>
          </p:cNvPr>
          <p:cNvSpPr>
            <a:spLocks xmlns:a="http://schemas.openxmlformats.org/drawingml/2006/main" noGrp="1"/>
          </p:cNvSpPr>
          <p:nvPr/>
        </p:nvSpPr>
        <p:spPr>
          <a:xfrm xmlns:a="http://schemas.openxmlformats.org/drawingml/2006/main">
            <a:off x="126492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ORVIA CONTROL</a:t>
            </a:r>
          </a:p>
        </p:txBody>
      </p:sp>
      <p:sp>
        <p:nvSpPr>
          <p:cNvPr id="17" name="">
            <a:extLst xmlns:a="http://schemas.openxmlformats.org/drawingml/2006/main">
              <a:ext uri="{FF2B5EF4-FFF2-40B4-BE49-F238E27FC236}">
                <a16:creationId xmlns:a16="http://schemas.microsoft.com/office/drawing/2014/main" id="{DBDF54FA-D78E-4F1F-A0E9-D95EB4A2D4A8}"/>
              </a:ext>
            </a:extLst>
          </p:cNvPr>
          <p:cNvSpPr>
            <a:spLocks xmlns:a="http://schemas.openxmlformats.org/drawingml/2006/main" noGrp="1"/>
          </p:cNvSpPr>
          <p:nvPr/>
        </p:nvSpPr>
        <p:spPr>
          <a:xfrm xmlns:a="http://schemas.openxmlformats.org/drawingml/2006/main">
            <a:off x="14458950" y="51530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D889FEC5-A9C6-4127-9930-4967D62F3624}"/>
              </a:ext>
            </a:extLst>
          </p:cNvPr>
          <p:cNvSpPr>
            <a:spLocks xmlns:a="http://schemas.openxmlformats.org/drawingml/2006/main" noGrp="1"/>
          </p:cNvSpPr>
          <p:nvPr/>
        </p:nvSpPr>
        <p:spPr>
          <a:xfrm xmlns:a="http://schemas.openxmlformats.org/drawingml/2006/main">
            <a:off x="21907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9" name="">
            <a:extLst xmlns:a="http://schemas.openxmlformats.org/drawingml/2006/main">
              <a:ext uri="{FF2B5EF4-FFF2-40B4-BE49-F238E27FC236}">
                <a16:creationId xmlns:a16="http://schemas.microsoft.com/office/drawing/2014/main" id="{5E533882-BB9B-4050-898D-1920C97108F4}"/>
              </a:ext>
            </a:extLst>
          </p:cNvPr>
          <p:cNvSpPr>
            <a:spLocks xmlns:a="http://schemas.openxmlformats.org/drawingml/2006/main" noGrp="1"/>
          </p:cNvSpPr>
          <p:nvPr/>
        </p:nvSpPr>
        <p:spPr>
          <a:xfrm xmlns:a="http://schemas.openxmlformats.org/drawingml/2006/main">
            <a:off x="23622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PROCESSING ACT.</a:t>
            </a:r>
          </a:p>
        </p:txBody>
      </p:sp>
      <p:sp>
        <p:nvSpPr>
          <p:cNvPr id="20" name="">
            <a:extLst xmlns:a="http://schemas.openxmlformats.org/drawingml/2006/main">
              <a:ext uri="{FF2B5EF4-FFF2-40B4-BE49-F238E27FC236}">
                <a16:creationId xmlns:a16="http://schemas.microsoft.com/office/drawing/2014/main" id="{2CB4204F-0AD6-476D-A746-7B9761342969}"/>
              </a:ext>
            </a:extLst>
          </p:cNvPr>
          <p:cNvSpPr>
            <a:spLocks xmlns:a="http://schemas.openxmlformats.org/drawingml/2006/main" noGrp="1"/>
          </p:cNvSpPr>
          <p:nvPr/>
        </p:nvSpPr>
        <p:spPr>
          <a:xfrm xmlns:a="http://schemas.openxmlformats.org/drawingml/2006/main">
            <a:off x="6429375" y="5505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4E97C83C-DB8D-45EA-A114-80D4E379EAC6}"/>
              </a:ext>
            </a:extLst>
          </p:cNvPr>
          <p:cNvSpPr>
            <a:spLocks xmlns:a="http://schemas.openxmlformats.org/drawingml/2006/main" noGrp="1"/>
          </p:cNvSpPr>
          <p:nvPr/>
        </p:nvSpPr>
        <p:spPr>
          <a:xfrm xmlns:a="http://schemas.openxmlformats.org/drawingml/2006/main">
            <a:off x="73342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2" name="">
            <a:extLst xmlns:a="http://schemas.openxmlformats.org/drawingml/2006/main">
              <a:ext uri="{FF2B5EF4-FFF2-40B4-BE49-F238E27FC236}">
                <a16:creationId xmlns:a16="http://schemas.microsoft.com/office/drawing/2014/main" id="{2D609B6E-64D8-485A-A957-96BD4FE631CD}"/>
              </a:ext>
            </a:extLst>
          </p:cNvPr>
          <p:cNvSpPr>
            <a:spLocks xmlns:a="http://schemas.openxmlformats.org/drawingml/2006/main" noGrp="1"/>
          </p:cNvSpPr>
          <p:nvPr/>
        </p:nvSpPr>
        <p:spPr>
          <a:xfrm xmlns:a="http://schemas.openxmlformats.org/drawingml/2006/main">
            <a:off x="75057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PURPOSE</a:t>
            </a:r>
          </a:p>
        </p:txBody>
      </p:sp>
      <p:sp>
        <p:nvSpPr>
          <p:cNvPr id="23" name="">
            <a:extLst xmlns:a="http://schemas.openxmlformats.org/drawingml/2006/main">
              <a:ext uri="{FF2B5EF4-FFF2-40B4-BE49-F238E27FC236}">
                <a16:creationId xmlns:a16="http://schemas.microsoft.com/office/drawing/2014/main" id="{B8FEF1BF-997C-403C-8B05-161DD2E8D0A2}"/>
              </a:ext>
            </a:extLst>
          </p:cNvPr>
          <p:cNvSpPr>
            <a:spLocks xmlns:a="http://schemas.openxmlformats.org/drawingml/2006/main" noGrp="1"/>
          </p:cNvSpPr>
          <p:nvPr/>
        </p:nvSpPr>
        <p:spPr>
          <a:xfrm xmlns:a="http://schemas.openxmlformats.org/drawingml/2006/main">
            <a:off x="11572875" y="5505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36432854-9BFA-459E-8B2A-776FDA167636}"/>
              </a:ext>
            </a:extLst>
          </p:cNvPr>
          <p:cNvSpPr>
            <a:spLocks xmlns:a="http://schemas.openxmlformats.org/drawingml/2006/main" noGrp="1"/>
          </p:cNvSpPr>
          <p:nvPr/>
        </p:nvSpPr>
        <p:spPr>
          <a:xfrm xmlns:a="http://schemas.openxmlformats.org/drawingml/2006/main">
            <a:off x="124777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5" name="">
            <a:extLst xmlns:a="http://schemas.openxmlformats.org/drawingml/2006/main">
              <a:ext uri="{FF2B5EF4-FFF2-40B4-BE49-F238E27FC236}">
                <a16:creationId xmlns:a16="http://schemas.microsoft.com/office/drawing/2014/main" id="{44B5B306-A758-40FE-9F3F-6EE574FAADCD}"/>
              </a:ext>
            </a:extLst>
          </p:cNvPr>
          <p:cNvSpPr>
            <a:spLocks xmlns:a="http://schemas.openxmlformats.org/drawingml/2006/main" noGrp="1"/>
          </p:cNvSpPr>
          <p:nvPr/>
        </p:nvSpPr>
        <p:spPr>
          <a:xfrm xmlns:a="http://schemas.openxmlformats.org/drawingml/2006/main">
            <a:off x="126492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NOTICE VERSION</a:t>
            </a:r>
          </a:p>
        </p:txBody>
      </p:sp>
      <p:sp>
        <p:nvSpPr>
          <p:cNvPr id="26" name="">
            <a:extLst xmlns:a="http://schemas.openxmlformats.org/drawingml/2006/main">
              <a:ext uri="{FF2B5EF4-FFF2-40B4-BE49-F238E27FC236}">
                <a16:creationId xmlns:a16="http://schemas.microsoft.com/office/drawing/2014/main" id="{F7690506-954A-48B9-8E6E-55BE8C64325F}"/>
              </a:ext>
            </a:extLst>
          </p:cNvPr>
          <p:cNvSpPr>
            <a:spLocks xmlns:a="http://schemas.openxmlformats.org/drawingml/2006/main" noGrp="1"/>
          </p:cNvSpPr>
          <p:nvPr/>
        </p:nvSpPr>
        <p:spPr>
          <a:xfrm xmlns:a="http://schemas.openxmlformats.org/drawingml/2006/main">
            <a:off x="14458950" y="61055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BEBAED0B-AB2D-472D-A9F2-81EA61B93241}"/>
              </a:ext>
            </a:extLst>
          </p:cNvPr>
          <p:cNvSpPr>
            <a:spLocks xmlns:a="http://schemas.openxmlformats.org/drawingml/2006/main" noGrp="1"/>
          </p:cNvSpPr>
          <p:nvPr/>
        </p:nvSpPr>
        <p:spPr>
          <a:xfrm xmlns:a="http://schemas.openxmlformats.org/drawingml/2006/main">
            <a:off x="21907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8" name="">
            <a:extLst xmlns:a="http://schemas.openxmlformats.org/drawingml/2006/main">
              <a:ext uri="{FF2B5EF4-FFF2-40B4-BE49-F238E27FC236}">
                <a16:creationId xmlns:a16="http://schemas.microsoft.com/office/drawing/2014/main" id="{7E0A1458-3A69-432E-9599-806DD01EA582}"/>
              </a:ext>
            </a:extLst>
          </p:cNvPr>
          <p:cNvSpPr>
            <a:spLocks xmlns:a="http://schemas.openxmlformats.org/drawingml/2006/main" noGrp="1"/>
          </p:cNvSpPr>
          <p:nvPr/>
        </p:nvSpPr>
        <p:spPr>
          <a:xfrm xmlns:a="http://schemas.openxmlformats.org/drawingml/2006/main">
            <a:off x="23622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DATA ASSET RES.</a:t>
            </a:r>
          </a:p>
        </p:txBody>
      </p:sp>
      <p:sp>
        <p:nvSpPr>
          <p:cNvPr id="29" name="">
            <a:extLst xmlns:a="http://schemas.openxmlformats.org/drawingml/2006/main">
              <a:ext uri="{FF2B5EF4-FFF2-40B4-BE49-F238E27FC236}">
                <a16:creationId xmlns:a16="http://schemas.microsoft.com/office/drawing/2014/main" id="{3A8BE540-696B-4098-833D-E4B6347DCD45}"/>
              </a:ext>
            </a:extLst>
          </p:cNvPr>
          <p:cNvSpPr>
            <a:spLocks xmlns:a="http://schemas.openxmlformats.org/drawingml/2006/main" noGrp="1"/>
          </p:cNvSpPr>
          <p:nvPr/>
        </p:nvSpPr>
        <p:spPr>
          <a:xfrm xmlns:a="http://schemas.openxmlformats.org/drawingml/2006/main">
            <a:off x="6429375" y="6457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8185CA2D-2210-4446-84E6-669D583F026A}"/>
              </a:ext>
            </a:extLst>
          </p:cNvPr>
          <p:cNvSpPr>
            <a:spLocks xmlns:a="http://schemas.openxmlformats.org/drawingml/2006/main" noGrp="1"/>
          </p:cNvSpPr>
          <p:nvPr/>
        </p:nvSpPr>
        <p:spPr>
          <a:xfrm xmlns:a="http://schemas.openxmlformats.org/drawingml/2006/main">
            <a:off x="73342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1" name="">
            <a:extLst xmlns:a="http://schemas.openxmlformats.org/drawingml/2006/main">
              <a:ext uri="{FF2B5EF4-FFF2-40B4-BE49-F238E27FC236}">
                <a16:creationId xmlns:a16="http://schemas.microsoft.com/office/drawing/2014/main" id="{099F7F9A-A78B-40CA-A88C-E6A818BA8D04}"/>
              </a:ext>
            </a:extLst>
          </p:cNvPr>
          <p:cNvSpPr>
            <a:spLocks xmlns:a="http://schemas.openxmlformats.org/drawingml/2006/main" noGrp="1"/>
          </p:cNvSpPr>
          <p:nvPr/>
        </p:nvSpPr>
        <p:spPr>
          <a:xfrm xmlns:a="http://schemas.openxmlformats.org/drawingml/2006/main">
            <a:off x="75057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CONSENT</a:t>
            </a:r>
          </a:p>
        </p:txBody>
      </p:sp>
      <p:sp>
        <p:nvSpPr>
          <p:cNvPr id="32" name="">
            <a:extLst xmlns:a="http://schemas.openxmlformats.org/drawingml/2006/main">
              <a:ext uri="{FF2B5EF4-FFF2-40B4-BE49-F238E27FC236}">
                <a16:creationId xmlns:a16="http://schemas.microsoft.com/office/drawing/2014/main" id="{5626052D-BC6C-4769-9106-F83C067608BB}"/>
              </a:ext>
            </a:extLst>
          </p:cNvPr>
          <p:cNvSpPr>
            <a:spLocks xmlns:a="http://schemas.openxmlformats.org/drawingml/2006/main" noGrp="1"/>
          </p:cNvSpPr>
          <p:nvPr/>
        </p:nvSpPr>
        <p:spPr>
          <a:xfrm xmlns:a="http://schemas.openxmlformats.org/drawingml/2006/main">
            <a:off x="11572875" y="6457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44838FB4-2899-481A-A820-330DF45EC9DC}"/>
              </a:ext>
            </a:extLst>
          </p:cNvPr>
          <p:cNvSpPr>
            <a:spLocks xmlns:a="http://schemas.openxmlformats.org/drawingml/2006/main" noGrp="1"/>
          </p:cNvSpPr>
          <p:nvPr/>
        </p:nvSpPr>
        <p:spPr>
          <a:xfrm xmlns:a="http://schemas.openxmlformats.org/drawingml/2006/main">
            <a:off x="124777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4" name="">
            <a:extLst xmlns:a="http://schemas.openxmlformats.org/drawingml/2006/main">
              <a:ext uri="{FF2B5EF4-FFF2-40B4-BE49-F238E27FC236}">
                <a16:creationId xmlns:a16="http://schemas.microsoft.com/office/drawing/2014/main" id="{9DE8D38E-972F-4C0B-B8CB-05371EBF89DF}"/>
              </a:ext>
            </a:extLst>
          </p:cNvPr>
          <p:cNvSpPr>
            <a:spLocks xmlns:a="http://schemas.openxmlformats.org/drawingml/2006/main" noGrp="1"/>
          </p:cNvSpPr>
          <p:nvPr/>
        </p:nvSpPr>
        <p:spPr>
          <a:xfrm xmlns:a="http://schemas.openxmlformats.org/drawingml/2006/main">
            <a:off x="126492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RIGHTS CASE REG.</a:t>
            </a:r>
          </a:p>
        </p:txBody>
      </p:sp>
      <p:sp>
        <p:nvSpPr>
          <p:cNvPr id="35" name="">
            <a:extLst xmlns:a="http://schemas.openxmlformats.org/drawingml/2006/main">
              <a:ext uri="{FF2B5EF4-FFF2-40B4-BE49-F238E27FC236}">
                <a16:creationId xmlns:a16="http://schemas.microsoft.com/office/drawing/2014/main" id="{5D5AAAEF-5029-4F3C-B2B7-49489DC6C6C8}"/>
              </a:ext>
            </a:extLst>
          </p:cNvPr>
          <p:cNvSpPr>
            <a:spLocks xmlns:a="http://schemas.openxmlformats.org/drawingml/2006/main" noGrp="1"/>
          </p:cNvSpPr>
          <p:nvPr/>
        </p:nvSpPr>
        <p:spPr>
          <a:xfrm xmlns:a="http://schemas.openxmlformats.org/drawingml/2006/main">
            <a:off x="14458950" y="70580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46ABC5CA-FAEA-45B4-B380-01A3B7A4979E}"/>
              </a:ext>
            </a:extLst>
          </p:cNvPr>
          <p:cNvSpPr>
            <a:spLocks xmlns:a="http://schemas.openxmlformats.org/drawingml/2006/main" noGrp="1"/>
          </p:cNvSpPr>
          <p:nvPr/>
        </p:nvSpPr>
        <p:spPr>
          <a:xfrm xmlns:a="http://schemas.openxmlformats.org/drawingml/2006/main">
            <a:off x="21907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7" name="">
            <a:extLst xmlns:a="http://schemas.openxmlformats.org/drawingml/2006/main">
              <a:ext uri="{FF2B5EF4-FFF2-40B4-BE49-F238E27FC236}">
                <a16:creationId xmlns:a16="http://schemas.microsoft.com/office/drawing/2014/main" id="{0DAD4519-72FD-4F1F-8FC6-E84780B781F5}"/>
              </a:ext>
            </a:extLst>
          </p:cNvPr>
          <p:cNvSpPr>
            <a:spLocks xmlns:a="http://schemas.openxmlformats.org/drawingml/2006/main" noGrp="1"/>
          </p:cNvSpPr>
          <p:nvPr/>
        </p:nvSpPr>
        <p:spPr>
          <a:xfrm xmlns:a="http://schemas.openxmlformats.org/drawingml/2006/main">
            <a:off x="23622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TELEMETRY PROBE</a:t>
            </a:r>
          </a:p>
        </p:txBody>
      </p:sp>
      <p:sp>
        <p:nvSpPr>
          <p:cNvPr id="38" name="">
            <a:extLst xmlns:a="http://schemas.openxmlformats.org/drawingml/2006/main">
              <a:ext uri="{FF2B5EF4-FFF2-40B4-BE49-F238E27FC236}">
                <a16:creationId xmlns:a16="http://schemas.microsoft.com/office/drawing/2014/main" id="{A1CDAB6C-56E9-412F-944B-3176EBAD1A38}"/>
              </a:ext>
            </a:extLst>
          </p:cNvPr>
          <p:cNvSpPr>
            <a:spLocks xmlns:a="http://schemas.openxmlformats.org/drawingml/2006/main" noGrp="1"/>
          </p:cNvSpPr>
          <p:nvPr/>
        </p:nvSpPr>
        <p:spPr>
          <a:xfrm xmlns:a="http://schemas.openxmlformats.org/drawingml/2006/main">
            <a:off x="6429375" y="7410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05EC0EBD-007D-4B09-A89C-6152AA28369D}"/>
              </a:ext>
            </a:extLst>
          </p:cNvPr>
          <p:cNvSpPr>
            <a:spLocks xmlns:a="http://schemas.openxmlformats.org/drawingml/2006/main" noGrp="1"/>
          </p:cNvSpPr>
          <p:nvPr/>
        </p:nvSpPr>
        <p:spPr>
          <a:xfrm xmlns:a="http://schemas.openxmlformats.org/drawingml/2006/main">
            <a:off x="73342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0" name="">
            <a:extLst xmlns:a="http://schemas.openxmlformats.org/drawingml/2006/main">
              <a:ext uri="{FF2B5EF4-FFF2-40B4-BE49-F238E27FC236}">
                <a16:creationId xmlns:a16="http://schemas.microsoft.com/office/drawing/2014/main" id="{F022D656-1B59-4842-A347-A82751DDFDFE}"/>
              </a:ext>
            </a:extLst>
          </p:cNvPr>
          <p:cNvSpPr>
            <a:spLocks xmlns:a="http://schemas.openxmlformats.org/drawingml/2006/main" noGrp="1"/>
          </p:cNvSpPr>
          <p:nvPr/>
        </p:nvSpPr>
        <p:spPr>
          <a:xfrm xmlns:a="http://schemas.openxmlformats.org/drawingml/2006/main">
            <a:off x="75057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OBSERVATION</a:t>
            </a:r>
          </a:p>
        </p:txBody>
      </p:sp>
      <p:sp>
        <p:nvSpPr>
          <p:cNvPr id="41" name="">
            <a:extLst xmlns:a="http://schemas.openxmlformats.org/drawingml/2006/main">
              <a:ext uri="{FF2B5EF4-FFF2-40B4-BE49-F238E27FC236}">
                <a16:creationId xmlns:a16="http://schemas.microsoft.com/office/drawing/2014/main" id="{75D00977-D4D4-452B-869A-F4178A80ADE0}"/>
              </a:ext>
            </a:extLst>
          </p:cNvPr>
          <p:cNvSpPr>
            <a:spLocks xmlns:a="http://schemas.openxmlformats.org/drawingml/2006/main" noGrp="1"/>
          </p:cNvSpPr>
          <p:nvPr/>
        </p:nvSpPr>
        <p:spPr>
          <a:xfrm xmlns:a="http://schemas.openxmlformats.org/drawingml/2006/main">
            <a:off x="11572875" y="7410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42" name="">
            <a:extLst xmlns:a="http://schemas.openxmlformats.org/drawingml/2006/main">
              <a:ext uri="{FF2B5EF4-FFF2-40B4-BE49-F238E27FC236}">
                <a16:creationId xmlns:a16="http://schemas.microsoft.com/office/drawing/2014/main" id="{C80B8607-489F-4CF3-9EEA-E91AAA5DF547}"/>
              </a:ext>
            </a:extLst>
          </p:cNvPr>
          <p:cNvSpPr>
            <a:spLocks xmlns:a="http://schemas.openxmlformats.org/drawingml/2006/main" noGrp="1"/>
          </p:cNvSpPr>
          <p:nvPr/>
        </p:nvSpPr>
        <p:spPr>
          <a:xfrm xmlns:a="http://schemas.openxmlformats.org/drawingml/2006/main">
            <a:off x="124777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3" name="">
            <a:extLst xmlns:a="http://schemas.openxmlformats.org/drawingml/2006/main">
              <a:ext uri="{FF2B5EF4-FFF2-40B4-BE49-F238E27FC236}">
                <a16:creationId xmlns:a16="http://schemas.microsoft.com/office/drawing/2014/main" id="{12095B47-7916-4FC3-A2DF-559DF0CD0B75}"/>
              </a:ext>
            </a:extLst>
          </p:cNvPr>
          <p:cNvSpPr>
            <a:spLocks xmlns:a="http://schemas.openxmlformats.org/drawingml/2006/main" noGrp="1"/>
          </p:cNvSpPr>
          <p:nvPr/>
        </p:nvSpPr>
        <p:spPr>
          <a:xfrm xmlns:a="http://schemas.openxmlformats.org/drawingml/2006/main">
            <a:off x="126492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EVIDENCE PACKAGE</a:t>
            </a:r>
          </a:p>
        </p:txBody>
      </p:sp>
      <p:sp>
        <p:nvSpPr>
          <p:cNvPr id="44" name="">
            <a:extLst xmlns:a="http://schemas.openxmlformats.org/drawingml/2006/main">
              <a:ext uri="{FF2B5EF4-FFF2-40B4-BE49-F238E27FC236}">
                <a16:creationId xmlns:a16="http://schemas.microsoft.com/office/drawing/2014/main" id="{025DAA16-F39F-423A-AC63-A62BD99653C6}"/>
              </a:ext>
            </a:extLst>
          </p:cNvPr>
          <p:cNvSpPr>
            <a:spLocks xmlns:a="http://schemas.openxmlformats.org/drawingml/2006/main" noGrp="1"/>
          </p:cNvSpPr>
          <p:nvPr/>
        </p:nvSpPr>
        <p:spPr>
          <a:xfrm xmlns:a="http://schemas.openxmlformats.org/drawingml/2006/main">
            <a:off x="14458950" y="80200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45" name="">
            <a:extLst xmlns:a="http://schemas.openxmlformats.org/drawingml/2006/main">
              <a:ext uri="{FF2B5EF4-FFF2-40B4-BE49-F238E27FC236}">
                <a16:creationId xmlns:a16="http://schemas.microsoft.com/office/drawing/2014/main" id="{B2E1E57A-168A-46DF-A0F1-4F1D645773E9}"/>
              </a:ext>
            </a:extLst>
          </p:cNvPr>
          <p:cNvSpPr>
            <a:spLocks xmlns:a="http://schemas.openxmlformats.org/drawingml/2006/main" noGrp="1"/>
          </p:cNvSpPr>
          <p:nvPr/>
        </p:nvSpPr>
        <p:spPr>
          <a:xfrm xmlns:a="http://schemas.openxmlformats.org/drawingml/2006/main">
            <a:off x="12477750" y="8763000"/>
            <a:ext cx="4095750" cy="61912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6" name="">
            <a:extLst xmlns:a="http://schemas.openxmlformats.org/drawingml/2006/main">
              <a:ext uri="{FF2B5EF4-FFF2-40B4-BE49-F238E27FC236}">
                <a16:creationId xmlns:a16="http://schemas.microsoft.com/office/drawing/2014/main" id="{6C246907-1F20-4457-9C6C-C3CC7AF561B0}"/>
              </a:ext>
            </a:extLst>
          </p:cNvPr>
          <p:cNvSpPr>
            <a:spLocks xmlns:a="http://schemas.openxmlformats.org/drawingml/2006/main" noGrp="1"/>
          </p:cNvSpPr>
          <p:nvPr/>
        </p:nvSpPr>
        <p:spPr>
          <a:xfrm xmlns:a="http://schemas.openxmlformats.org/drawingml/2006/main">
            <a:off x="12649200" y="8915400"/>
            <a:ext cx="3752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FINDING/INCIDENT</a:t>
            </a:r>
          </a:p>
        </p:txBody>
      </p:sp>
      <p:sp>
        <p:nvSpPr>
          <p:cNvPr id="47" name="">
            <a:extLst xmlns:a="http://schemas.openxmlformats.org/drawingml/2006/main">
              <a:ext uri="{FF2B5EF4-FFF2-40B4-BE49-F238E27FC236}">
                <a16:creationId xmlns:a16="http://schemas.microsoft.com/office/drawing/2014/main" id="{3859288E-F80D-44CD-B4A4-60DDDC9BAAA4}"/>
              </a:ext>
            </a:extLst>
          </p:cNvPr>
          <p:cNvSpPr>
            <a:spLocks xmlns:a="http://schemas.openxmlformats.org/drawingml/2006/main" noGrp="1"/>
          </p:cNvSpPr>
          <p:nvPr/>
        </p:nvSpPr>
        <p:spPr>
          <a:xfrm xmlns:a="http://schemas.openxmlformats.org/drawingml/2006/main">
            <a:off x="762000" y="8810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Current Code Mapping vs. Target Model Graph: The current active repository contains verified tables for consent records, update logs, and evidence tracking. The final model graph extends these structures to map external vendor constraints, multilingual variables, and automated incident flags directly into database records.</a:t>
            </a:r>
          </a:p>
        </p:txBody>
      </p:sp>
    </p:spTree>
    <p:extLst>
      <p:ext uri="{BB962C8B-B14F-4D97-AF65-F5344CB8AC3E}">
        <p14:creationId xmlns:p14="http://schemas.microsoft.com/office/powerpoint/2010/main" val="4985488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8207093-1F5C-4043-AEEC-E4478BDD5D89}"/>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DPDPA Control Injection Framework</a:t>
            </a:r>
          </a:p>
        </p:txBody>
      </p:sp>
      <p:sp>
        <p:nvSpPr>
          <p:cNvPr id="2" name="">
            <a:extLst xmlns:a="http://schemas.openxmlformats.org/drawingml/2006/main">
              <a:ext uri="{FF2B5EF4-FFF2-40B4-BE49-F238E27FC236}">
                <a16:creationId xmlns:a16="http://schemas.microsoft.com/office/drawing/2014/main" id="{68231287-F84B-4434-9330-2C384601E306}"/>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Transforming Regulatory Provisions Into Verifiable Engineering Actions</a:t>
            </a:r>
          </a:p>
        </p:txBody>
      </p:sp>
      <p:sp>
        <p:nvSpPr>
          <p:cNvPr id="3" name="">
            <a:extLst xmlns:a="http://schemas.openxmlformats.org/drawingml/2006/main">
              <a:ext uri="{FF2B5EF4-FFF2-40B4-BE49-F238E27FC236}">
                <a16:creationId xmlns:a16="http://schemas.microsoft.com/office/drawing/2014/main" id="{6DBFDC7D-3988-44CE-A5AB-F494EED443E2}"/>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C6B98181-BD2D-4116-BD1E-D82794D20831}"/>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D3E4932-43E7-414B-8704-6AB85E807D1F}"/>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Overview: ORVIA maps legal requirements directly to automated verification scripts, minimizing reliance on manual business declarations.</a:t>
            </a:r>
          </a:p>
        </p:txBody>
      </p:sp>
      <p:sp>
        <p:nvSpPr>
          <p:cNvPr id="6" name="">
            <a:extLst xmlns:a="http://schemas.openxmlformats.org/drawingml/2006/main">
              <a:ext uri="{FF2B5EF4-FFF2-40B4-BE49-F238E27FC236}">
                <a16:creationId xmlns:a16="http://schemas.microsoft.com/office/drawing/2014/main" id="{D312D0A8-6F78-4FE0-8D9A-05B91ACEB3E9}"/>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The Technical Verification Path:</a:t>
            </a:r>
          </a:p>
        </p:txBody>
      </p:sp>
      <p:sp>
        <p:nvSpPr>
          <p:cNvPr id="7" name="">
            <a:extLst xmlns:a="http://schemas.openxmlformats.org/drawingml/2006/main">
              <a:ext uri="{FF2B5EF4-FFF2-40B4-BE49-F238E27FC236}">
                <a16:creationId xmlns:a16="http://schemas.microsoft.com/office/drawing/2014/main" id="{AC315EB2-D2F3-4033-9EA7-600E69259C98}"/>
              </a:ext>
            </a:extLst>
          </p:cNvPr>
          <p:cNvSpPr>
            <a:spLocks xmlns:a="http://schemas.openxmlformats.org/drawingml/2006/main" noGrp="1"/>
          </p:cNvSpPr>
          <p:nvPr/>
        </p:nvSpPr>
        <p:spPr>
          <a:xfrm xmlns:a="http://schemas.openxmlformats.org/drawingml/2006/main">
            <a:off x="76200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84FFD373-D46E-4A8F-B3FF-F991DDDDBB10}"/>
              </a:ext>
            </a:extLst>
          </p:cNvPr>
          <p:cNvSpPr>
            <a:spLocks xmlns:a="http://schemas.openxmlformats.org/drawingml/2006/main" noGrp="1"/>
          </p:cNvSpPr>
          <p:nvPr/>
        </p:nvSpPr>
        <p:spPr>
          <a:xfrm xmlns:a="http://schemas.openxmlformats.org/drawingml/2006/main">
            <a:off x="93345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DPDP Source Provision</a:t>
            </a:r>
          </a:p>
        </p:txBody>
      </p:sp>
      <p:sp>
        <p:nvSpPr>
          <p:cNvPr id="9" name="">
            <a:extLst xmlns:a="http://schemas.openxmlformats.org/drawingml/2006/main">
              <a:ext uri="{FF2B5EF4-FFF2-40B4-BE49-F238E27FC236}">
                <a16:creationId xmlns:a16="http://schemas.microsoft.com/office/drawing/2014/main" id="{671F3AF3-4E96-4471-B981-A078EF4B4D2C}"/>
              </a:ext>
            </a:extLst>
          </p:cNvPr>
          <p:cNvSpPr>
            <a:spLocks xmlns:a="http://schemas.openxmlformats.org/drawingml/2006/main" noGrp="1"/>
          </p:cNvSpPr>
          <p:nvPr/>
        </p:nvSpPr>
        <p:spPr>
          <a:xfrm xmlns:a="http://schemas.openxmlformats.org/drawingml/2006/main">
            <a:off x="461962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199819AB-6717-463D-A612-CEE4D1BF777F}"/>
              </a:ext>
            </a:extLst>
          </p:cNvPr>
          <p:cNvSpPr>
            <a:spLocks xmlns:a="http://schemas.openxmlformats.org/drawingml/2006/main" noGrp="1"/>
          </p:cNvSpPr>
          <p:nvPr/>
        </p:nvSpPr>
        <p:spPr>
          <a:xfrm xmlns:a="http://schemas.openxmlformats.org/drawingml/2006/main">
            <a:off x="504825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1" name="">
            <a:extLst xmlns:a="http://schemas.openxmlformats.org/drawingml/2006/main">
              <a:ext uri="{FF2B5EF4-FFF2-40B4-BE49-F238E27FC236}">
                <a16:creationId xmlns:a16="http://schemas.microsoft.com/office/drawing/2014/main" id="{17F718D2-1CE9-4417-B35A-793290E9A753}"/>
              </a:ext>
            </a:extLst>
          </p:cNvPr>
          <p:cNvSpPr>
            <a:spLocks xmlns:a="http://schemas.openxmlformats.org/drawingml/2006/main" noGrp="1"/>
          </p:cNvSpPr>
          <p:nvPr/>
        </p:nvSpPr>
        <p:spPr>
          <a:xfrm xmlns:a="http://schemas.openxmlformats.org/drawingml/2006/main">
            <a:off x="521970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Obligation Rule</a:t>
            </a:r>
          </a:p>
        </p:txBody>
      </p:sp>
      <p:sp>
        <p:nvSpPr>
          <p:cNvPr id="12" name="">
            <a:extLst xmlns:a="http://schemas.openxmlformats.org/drawingml/2006/main">
              <a:ext uri="{FF2B5EF4-FFF2-40B4-BE49-F238E27FC236}">
                <a16:creationId xmlns:a16="http://schemas.microsoft.com/office/drawing/2014/main" id="{609E9034-FF52-40F4-99FF-A3E1E817582C}"/>
              </a:ext>
            </a:extLst>
          </p:cNvPr>
          <p:cNvSpPr>
            <a:spLocks xmlns:a="http://schemas.openxmlformats.org/drawingml/2006/main" noGrp="1"/>
          </p:cNvSpPr>
          <p:nvPr/>
        </p:nvSpPr>
        <p:spPr>
          <a:xfrm xmlns:a="http://schemas.openxmlformats.org/drawingml/2006/main">
            <a:off x="890587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D8DAB0D1-790E-4303-929B-CE5C21CE4867}"/>
              </a:ext>
            </a:extLst>
          </p:cNvPr>
          <p:cNvSpPr>
            <a:spLocks xmlns:a="http://schemas.openxmlformats.org/drawingml/2006/main" noGrp="1"/>
          </p:cNvSpPr>
          <p:nvPr/>
        </p:nvSpPr>
        <p:spPr>
          <a:xfrm xmlns:a="http://schemas.openxmlformats.org/drawingml/2006/main">
            <a:off x="933450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4" name="">
            <a:extLst xmlns:a="http://schemas.openxmlformats.org/drawingml/2006/main">
              <a:ext uri="{FF2B5EF4-FFF2-40B4-BE49-F238E27FC236}">
                <a16:creationId xmlns:a16="http://schemas.microsoft.com/office/drawing/2014/main" id="{62F15649-1170-4C75-BAFC-D33150C278A7}"/>
              </a:ext>
            </a:extLst>
          </p:cNvPr>
          <p:cNvSpPr>
            <a:spLocks xmlns:a="http://schemas.openxmlformats.org/drawingml/2006/main" noGrp="1"/>
          </p:cNvSpPr>
          <p:nvPr/>
        </p:nvSpPr>
        <p:spPr>
          <a:xfrm xmlns:a="http://schemas.openxmlformats.org/drawingml/2006/main">
            <a:off x="950595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Applicability Scope</a:t>
            </a:r>
          </a:p>
        </p:txBody>
      </p:sp>
      <p:sp>
        <p:nvSpPr>
          <p:cNvPr id="15" name="">
            <a:extLst xmlns:a="http://schemas.openxmlformats.org/drawingml/2006/main">
              <a:ext uri="{FF2B5EF4-FFF2-40B4-BE49-F238E27FC236}">
                <a16:creationId xmlns:a16="http://schemas.microsoft.com/office/drawing/2014/main" id="{EDA9A778-1625-495C-9D48-443F44F32F02}"/>
              </a:ext>
            </a:extLst>
          </p:cNvPr>
          <p:cNvSpPr>
            <a:spLocks xmlns:a="http://schemas.openxmlformats.org/drawingml/2006/main" noGrp="1"/>
          </p:cNvSpPr>
          <p:nvPr/>
        </p:nvSpPr>
        <p:spPr>
          <a:xfrm xmlns:a="http://schemas.openxmlformats.org/drawingml/2006/main">
            <a:off x="1319212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73A8CABB-4F42-4398-B160-82FFD5BAC8BA}"/>
              </a:ext>
            </a:extLst>
          </p:cNvPr>
          <p:cNvSpPr>
            <a:spLocks xmlns:a="http://schemas.openxmlformats.org/drawingml/2006/main" noGrp="1"/>
          </p:cNvSpPr>
          <p:nvPr/>
        </p:nvSpPr>
        <p:spPr>
          <a:xfrm xmlns:a="http://schemas.openxmlformats.org/drawingml/2006/main">
            <a:off x="1362075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7" name="">
            <a:extLst xmlns:a="http://schemas.openxmlformats.org/drawingml/2006/main">
              <a:ext uri="{FF2B5EF4-FFF2-40B4-BE49-F238E27FC236}">
                <a16:creationId xmlns:a16="http://schemas.microsoft.com/office/drawing/2014/main" id="{FAE281EC-E868-4D81-8801-F742535B3227}"/>
              </a:ext>
            </a:extLst>
          </p:cNvPr>
          <p:cNvSpPr>
            <a:spLocks xmlns:a="http://schemas.openxmlformats.org/drawingml/2006/main" noGrp="1"/>
          </p:cNvSpPr>
          <p:nvPr/>
        </p:nvSpPr>
        <p:spPr>
          <a:xfrm xmlns:a="http://schemas.openxmlformats.org/drawingml/2006/main">
            <a:off x="1379220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ORVIA Control Engine</a:t>
            </a:r>
          </a:p>
        </p:txBody>
      </p:sp>
      <p:sp>
        <p:nvSpPr>
          <p:cNvPr id="18" name="">
            <a:extLst xmlns:a="http://schemas.openxmlformats.org/drawingml/2006/main">
              <a:ext uri="{FF2B5EF4-FFF2-40B4-BE49-F238E27FC236}">
                <a16:creationId xmlns:a16="http://schemas.microsoft.com/office/drawing/2014/main" id="{C5E9C3CA-08AF-4E34-B8BD-836DCF364195}"/>
              </a:ext>
            </a:extLst>
          </p:cNvPr>
          <p:cNvSpPr>
            <a:spLocks xmlns:a="http://schemas.openxmlformats.org/drawingml/2006/main" noGrp="1"/>
          </p:cNvSpPr>
          <p:nvPr/>
        </p:nvSpPr>
        <p:spPr>
          <a:xfrm xmlns:a="http://schemas.openxmlformats.org/drawingml/2006/main">
            <a:off x="1362075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9" name="">
            <a:extLst xmlns:a="http://schemas.openxmlformats.org/drawingml/2006/main">
              <a:ext uri="{FF2B5EF4-FFF2-40B4-BE49-F238E27FC236}">
                <a16:creationId xmlns:a16="http://schemas.microsoft.com/office/drawing/2014/main" id="{F3834BC9-A843-4767-9F8F-C84EF56D9648}"/>
              </a:ext>
            </a:extLst>
          </p:cNvPr>
          <p:cNvSpPr>
            <a:spLocks xmlns:a="http://schemas.openxmlformats.org/drawingml/2006/main" noGrp="1"/>
          </p:cNvSpPr>
          <p:nvPr/>
        </p:nvSpPr>
        <p:spPr>
          <a:xfrm xmlns:a="http://schemas.openxmlformats.org/drawingml/2006/main">
            <a:off x="1379220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System Implementation</a:t>
            </a:r>
          </a:p>
        </p:txBody>
      </p:sp>
      <p:sp>
        <p:nvSpPr>
          <p:cNvPr id="20" name="">
            <a:extLst xmlns:a="http://schemas.openxmlformats.org/drawingml/2006/main">
              <a:ext uri="{FF2B5EF4-FFF2-40B4-BE49-F238E27FC236}">
                <a16:creationId xmlns:a16="http://schemas.microsoft.com/office/drawing/2014/main" id="{71BB3B34-38EB-4EAA-A702-2E1F58C98880}"/>
              </a:ext>
            </a:extLst>
          </p:cNvPr>
          <p:cNvSpPr>
            <a:spLocks xmlns:a="http://schemas.openxmlformats.org/drawingml/2006/main" noGrp="1"/>
          </p:cNvSpPr>
          <p:nvPr/>
        </p:nvSpPr>
        <p:spPr>
          <a:xfrm xmlns:a="http://schemas.openxmlformats.org/drawingml/2006/main">
            <a:off x="1319212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F15535B5-1F7D-4880-9A5B-E0ED0E929E77}"/>
              </a:ext>
            </a:extLst>
          </p:cNvPr>
          <p:cNvSpPr>
            <a:spLocks xmlns:a="http://schemas.openxmlformats.org/drawingml/2006/main" noGrp="1"/>
          </p:cNvSpPr>
          <p:nvPr/>
        </p:nvSpPr>
        <p:spPr>
          <a:xfrm xmlns:a="http://schemas.openxmlformats.org/drawingml/2006/main">
            <a:off x="933450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2" name="">
            <a:extLst xmlns:a="http://schemas.openxmlformats.org/drawingml/2006/main">
              <a:ext uri="{FF2B5EF4-FFF2-40B4-BE49-F238E27FC236}">
                <a16:creationId xmlns:a16="http://schemas.microsoft.com/office/drawing/2014/main" id="{2CE83814-000B-4311-9419-072FAEB1ECEC}"/>
              </a:ext>
            </a:extLst>
          </p:cNvPr>
          <p:cNvSpPr>
            <a:spLocks xmlns:a="http://schemas.openxmlformats.org/drawingml/2006/main" noGrp="1"/>
          </p:cNvSpPr>
          <p:nvPr/>
        </p:nvSpPr>
        <p:spPr>
          <a:xfrm xmlns:a="http://schemas.openxmlformats.org/drawingml/2006/main">
            <a:off x="950595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Evidence Parameter</a:t>
            </a:r>
          </a:p>
        </p:txBody>
      </p:sp>
      <p:sp>
        <p:nvSpPr>
          <p:cNvPr id="23" name="">
            <a:extLst xmlns:a="http://schemas.openxmlformats.org/drawingml/2006/main">
              <a:ext uri="{FF2B5EF4-FFF2-40B4-BE49-F238E27FC236}">
                <a16:creationId xmlns:a16="http://schemas.microsoft.com/office/drawing/2014/main" id="{2C5FF2E5-8060-4753-8FDD-4F0A33A2EFAA}"/>
              </a:ext>
            </a:extLst>
          </p:cNvPr>
          <p:cNvSpPr>
            <a:spLocks xmlns:a="http://schemas.openxmlformats.org/drawingml/2006/main" noGrp="1"/>
          </p:cNvSpPr>
          <p:nvPr/>
        </p:nvSpPr>
        <p:spPr>
          <a:xfrm xmlns:a="http://schemas.openxmlformats.org/drawingml/2006/main">
            <a:off x="890587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AA8C7126-944E-4CAC-90CB-2AC9EF07FB9E}"/>
              </a:ext>
            </a:extLst>
          </p:cNvPr>
          <p:cNvSpPr>
            <a:spLocks xmlns:a="http://schemas.openxmlformats.org/drawingml/2006/main" noGrp="1"/>
          </p:cNvSpPr>
          <p:nvPr/>
        </p:nvSpPr>
        <p:spPr>
          <a:xfrm xmlns:a="http://schemas.openxmlformats.org/drawingml/2006/main">
            <a:off x="504825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5" name="">
            <a:extLst xmlns:a="http://schemas.openxmlformats.org/drawingml/2006/main">
              <a:ext uri="{FF2B5EF4-FFF2-40B4-BE49-F238E27FC236}">
                <a16:creationId xmlns:a16="http://schemas.microsoft.com/office/drawing/2014/main" id="{FFEFEE99-9DBF-4143-B65A-1804DFC430A1}"/>
              </a:ext>
            </a:extLst>
          </p:cNvPr>
          <p:cNvSpPr>
            <a:spLocks xmlns:a="http://schemas.openxmlformats.org/drawingml/2006/main" noGrp="1"/>
          </p:cNvSpPr>
          <p:nvPr/>
        </p:nvSpPr>
        <p:spPr>
          <a:xfrm xmlns:a="http://schemas.openxmlformats.org/drawingml/2006/main">
            <a:off x="521970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Verification Method</a:t>
            </a:r>
          </a:p>
        </p:txBody>
      </p:sp>
      <p:sp>
        <p:nvSpPr>
          <p:cNvPr id="26" name="">
            <a:extLst xmlns:a="http://schemas.openxmlformats.org/drawingml/2006/main">
              <a:ext uri="{FF2B5EF4-FFF2-40B4-BE49-F238E27FC236}">
                <a16:creationId xmlns:a16="http://schemas.microsoft.com/office/drawing/2014/main" id="{6B944DF8-6A2E-4A6B-A0B8-2E065D4FF58E}"/>
              </a:ext>
            </a:extLst>
          </p:cNvPr>
          <p:cNvSpPr>
            <a:spLocks xmlns:a="http://schemas.openxmlformats.org/drawingml/2006/main" noGrp="1"/>
          </p:cNvSpPr>
          <p:nvPr/>
        </p:nvSpPr>
        <p:spPr>
          <a:xfrm xmlns:a="http://schemas.openxmlformats.org/drawingml/2006/main">
            <a:off x="461962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2E5B92AA-C762-4480-ACFE-843A2CE8768E}"/>
              </a:ext>
            </a:extLst>
          </p:cNvPr>
          <p:cNvSpPr>
            <a:spLocks xmlns:a="http://schemas.openxmlformats.org/drawingml/2006/main" noGrp="1"/>
          </p:cNvSpPr>
          <p:nvPr/>
        </p:nvSpPr>
        <p:spPr>
          <a:xfrm xmlns:a="http://schemas.openxmlformats.org/drawingml/2006/main">
            <a:off x="76200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8" name="">
            <a:extLst xmlns:a="http://schemas.openxmlformats.org/drawingml/2006/main">
              <a:ext uri="{FF2B5EF4-FFF2-40B4-BE49-F238E27FC236}">
                <a16:creationId xmlns:a16="http://schemas.microsoft.com/office/drawing/2014/main" id="{F9FC4D0E-F728-4A94-9761-EEF75C18461C}"/>
              </a:ext>
            </a:extLst>
          </p:cNvPr>
          <p:cNvSpPr>
            <a:spLocks xmlns:a="http://schemas.openxmlformats.org/drawingml/2006/main" noGrp="1"/>
          </p:cNvSpPr>
          <p:nvPr/>
        </p:nvSpPr>
        <p:spPr>
          <a:xfrm xmlns:a="http://schemas.openxmlformats.org/drawingml/2006/main">
            <a:off x="93345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Automated Test Rig</a:t>
            </a:r>
          </a:p>
        </p:txBody>
      </p:sp>
      <p:sp>
        <p:nvSpPr>
          <p:cNvPr id="29" name="">
            <a:extLst xmlns:a="http://schemas.openxmlformats.org/drawingml/2006/main">
              <a:ext uri="{FF2B5EF4-FFF2-40B4-BE49-F238E27FC236}">
                <a16:creationId xmlns:a16="http://schemas.microsoft.com/office/drawing/2014/main" id="{37DD8130-FCB5-4815-9F54-DABE1A7B5C74}"/>
              </a:ext>
            </a:extLst>
          </p:cNvPr>
          <p:cNvSpPr>
            <a:spLocks xmlns:a="http://schemas.openxmlformats.org/drawingml/2006/main" noGrp="1"/>
          </p:cNvSpPr>
          <p:nvPr/>
        </p:nvSpPr>
        <p:spPr>
          <a:xfrm xmlns:a="http://schemas.openxmlformats.org/drawingml/2006/main">
            <a:off x="16002000" y="4476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CB06B181-7B99-4ABF-B888-76A884B1F97C}"/>
              </a:ext>
            </a:extLst>
          </p:cNvPr>
          <p:cNvSpPr>
            <a:spLocks xmlns:a="http://schemas.openxmlformats.org/drawingml/2006/main" noGrp="1"/>
          </p:cNvSpPr>
          <p:nvPr/>
        </p:nvSpPr>
        <p:spPr>
          <a:xfrm xmlns:a="http://schemas.openxmlformats.org/drawingml/2006/main">
            <a:off x="762000" y="6096000"/>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DPDPA 2023 / Rules 2025 Control Families:</a:t>
            </a:r>
          </a:p>
        </p:txBody>
      </p:sp>
      <p:sp>
        <p:nvSpPr>
          <p:cNvPr id="31" name="">
            <a:extLst xmlns:a="http://schemas.openxmlformats.org/drawingml/2006/main">
              <a:ext uri="{FF2B5EF4-FFF2-40B4-BE49-F238E27FC236}">
                <a16:creationId xmlns:a16="http://schemas.microsoft.com/office/drawing/2014/main" id="{70D23656-1F43-497C-AB1D-20EE529B9A3F}"/>
              </a:ext>
            </a:extLst>
          </p:cNvPr>
          <p:cNvSpPr>
            <a:spLocks xmlns:a="http://schemas.openxmlformats.org/drawingml/2006/main" noGrp="1"/>
          </p:cNvSpPr>
          <p:nvPr/>
        </p:nvSpPr>
        <p:spPr>
          <a:xfrm xmlns:a="http://schemas.openxmlformats.org/drawingml/2006/main">
            <a:off x="762000" y="644842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1: Accountable Consent Lifecycle (Sec 5 &amp; Sec 6)</a:t>
            </a:r>
          </a:p>
        </p:txBody>
      </p:sp>
      <p:sp>
        <p:nvSpPr>
          <p:cNvPr id="32" name="">
            <a:extLst xmlns:a="http://schemas.openxmlformats.org/drawingml/2006/main">
              <a:ext uri="{FF2B5EF4-FFF2-40B4-BE49-F238E27FC236}">
                <a16:creationId xmlns:a16="http://schemas.microsoft.com/office/drawing/2014/main" id="{11D5636F-C0EB-4CF8-9D4A-D9A0EA0ACB1A}"/>
              </a:ext>
            </a:extLst>
          </p:cNvPr>
          <p:cNvSpPr>
            <a:spLocks xmlns:a="http://schemas.openxmlformats.org/drawingml/2006/main" noGrp="1"/>
          </p:cNvSpPr>
          <p:nvPr/>
        </p:nvSpPr>
        <p:spPr>
          <a:xfrm xmlns:a="http://schemas.openxmlformats.org/drawingml/2006/main">
            <a:off x="762000" y="680085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provides automated purpose tracking, signature verification, and latency measurement. The organization provides the core database layout and interface mappings. Automated checks verify that data access flags match active user selections. Manual tracking is restricted to offline consent documents.</a:t>
            </a:r>
          </a:p>
        </p:txBody>
      </p:sp>
      <p:sp>
        <p:nvSpPr>
          <p:cNvPr id="33" name="">
            <a:extLst xmlns:a="http://schemas.openxmlformats.org/drawingml/2006/main">
              <a:ext uri="{FF2B5EF4-FFF2-40B4-BE49-F238E27FC236}">
                <a16:creationId xmlns:a16="http://schemas.microsoft.com/office/drawing/2014/main" id="{95A99C9C-402C-442A-9C2C-646A98A529F8}"/>
              </a:ext>
            </a:extLst>
          </p:cNvPr>
          <p:cNvSpPr>
            <a:spLocks xmlns:a="http://schemas.openxmlformats.org/drawingml/2006/main" noGrp="1"/>
          </p:cNvSpPr>
          <p:nvPr/>
        </p:nvSpPr>
        <p:spPr>
          <a:xfrm xmlns:a="http://schemas.openxmlformats.org/drawingml/2006/main">
            <a:off x="762000" y="82962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2: Precision Rights Fulfillment (Sec 11, 12 &amp; 13)</a:t>
            </a:r>
          </a:p>
        </p:txBody>
      </p:sp>
      <p:sp>
        <p:nvSpPr>
          <p:cNvPr id="34" name="">
            <a:extLst xmlns:a="http://schemas.openxmlformats.org/drawingml/2006/main">
              <a:ext uri="{FF2B5EF4-FFF2-40B4-BE49-F238E27FC236}">
                <a16:creationId xmlns:a16="http://schemas.microsoft.com/office/drawing/2014/main" id="{BDFD218A-49BB-49E0-8BA0-02365D725DC3}"/>
              </a:ext>
            </a:extLst>
          </p:cNvPr>
          <p:cNvSpPr>
            <a:spLocks xmlns:a="http://schemas.openxmlformats.org/drawingml/2006/main" noGrp="1"/>
          </p:cNvSpPr>
          <p:nvPr/>
        </p:nvSpPr>
        <p:spPr>
          <a:xfrm xmlns:a="http://schemas.openxmlformats.org/drawingml/2006/main">
            <a:off x="9429750" y="609600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automates access timelines and verifies profile erasure states. The organization configures data extraction tools and handles manual reviews. Automated checks verify data deletion using read-only database connections. Legal justifications for data retention require manual review.</a:t>
            </a:r>
          </a:p>
        </p:txBody>
      </p:sp>
      <p:sp>
        <p:nvSpPr>
          <p:cNvPr id="35" name="">
            <a:extLst xmlns:a="http://schemas.openxmlformats.org/drawingml/2006/main">
              <a:ext uri="{FF2B5EF4-FFF2-40B4-BE49-F238E27FC236}">
                <a16:creationId xmlns:a16="http://schemas.microsoft.com/office/drawing/2014/main" id="{B5A5503D-53CB-4362-9D12-C5FD910EB148}"/>
              </a:ext>
            </a:extLst>
          </p:cNvPr>
          <p:cNvSpPr>
            <a:spLocks xmlns:a="http://schemas.openxmlformats.org/drawingml/2006/main" noGrp="1"/>
          </p:cNvSpPr>
          <p:nvPr/>
        </p:nvSpPr>
        <p:spPr>
          <a:xfrm xmlns:a="http://schemas.openxmlformats.org/drawingml/2006/main">
            <a:off x="9429750" y="759142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3: Zero-Delay Breach Management (Sec 8(6) &amp; CERT-In Rules)</a:t>
            </a:r>
          </a:p>
        </p:txBody>
      </p:sp>
      <p:sp>
        <p:nvSpPr>
          <p:cNvPr id="36" name="">
            <a:extLst xmlns:a="http://schemas.openxmlformats.org/drawingml/2006/main">
              <a:ext uri="{FF2B5EF4-FFF2-40B4-BE49-F238E27FC236}">
                <a16:creationId xmlns:a16="http://schemas.microsoft.com/office/drawing/2014/main" id="{FD8762AB-69CA-46A2-A7A8-C9A7E59CC5BE}"/>
              </a:ext>
            </a:extLst>
          </p:cNvPr>
          <p:cNvSpPr>
            <a:spLocks xmlns:a="http://schemas.openxmlformats.org/drawingml/2006/main" noGrp="1"/>
          </p:cNvSpPr>
          <p:nvPr/>
        </p:nvSpPr>
        <p:spPr>
          <a:xfrm xmlns:a="http://schemas.openxmlformats.org/drawingml/2006/main">
            <a:off x="9429750" y="794385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calculates time intervals, generates alerts, and tracks recovery tasks. The organization connects internal log servers and manages the incident response team. Automated checks time the interval between an system alert and team acknowledgment. Evaluating overall liability risks remains a manual task.</a:t>
            </a:r>
          </a:p>
        </p:txBody>
      </p:sp>
    </p:spTree>
    <p:extLst>
      <p:ext uri="{BB962C8B-B14F-4D97-AF65-F5344CB8AC3E}">
        <p14:creationId xmlns:p14="http://schemas.microsoft.com/office/powerpoint/2010/main" val="12075605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B35DD22-3CEF-4ED8-ABDF-B04F1E4B13E3}"/>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The Synthetic Testing Engine Architecture</a:t>
            </a:r>
          </a:p>
        </p:txBody>
      </p:sp>
      <p:sp>
        <p:nvSpPr>
          <p:cNvPr id="2" name="">
            <a:extLst xmlns:a="http://schemas.openxmlformats.org/drawingml/2006/main">
              <a:ext uri="{FF2B5EF4-FFF2-40B4-BE49-F238E27FC236}">
                <a16:creationId xmlns:a16="http://schemas.microsoft.com/office/drawing/2014/main" id="{3363A6B7-5E2D-4339-B896-45AC20B12838}"/>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Programmatic Verification Without Production Data Risk</a:t>
            </a:r>
          </a:p>
        </p:txBody>
      </p:sp>
      <p:sp>
        <p:nvSpPr>
          <p:cNvPr id="3" name="">
            <a:extLst xmlns:a="http://schemas.openxmlformats.org/drawingml/2006/main">
              <a:ext uri="{FF2B5EF4-FFF2-40B4-BE49-F238E27FC236}">
                <a16:creationId xmlns:a16="http://schemas.microsoft.com/office/drawing/2014/main" id="{0548316B-4273-4904-9D0F-BA3B494AF1A8}"/>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CE5DAF8A-FC09-45FD-9B24-74558BB3AB58}"/>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ADFA972B-FD34-4028-9588-DC0C464175CD}"/>
              </a:ext>
            </a:extLst>
          </p:cNvPr>
          <p:cNvSpPr>
            <a:spLocks xmlns:a="http://schemas.openxmlformats.org/drawingml/2006/main" noGrp="1"/>
          </p:cNvSpPr>
          <p:nvPr/>
        </p:nvSpPr>
        <p:spPr>
          <a:xfrm xmlns:a="http://schemas.openxmlformats.org/drawingml/2006/main">
            <a:off x="762000" y="2324100"/>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The Core Problem: No enterprise client or startup will ever give a compliance vendor access to their live customer database to "test" if a privacy platform works. To deliver a complete, market-ready tool, ORVIA must validate its verification loops internally.</a:t>
            </a:r>
          </a:p>
        </p:txBody>
      </p:sp>
      <p:sp>
        <p:nvSpPr>
          <p:cNvPr id="6" name="">
            <a:extLst xmlns:a="http://schemas.openxmlformats.org/drawingml/2006/main">
              <a:ext uri="{FF2B5EF4-FFF2-40B4-BE49-F238E27FC236}">
                <a16:creationId xmlns:a16="http://schemas.microsoft.com/office/drawing/2014/main" id="{3B696F52-DDD9-4EEB-8BED-468D945FF763}"/>
              </a:ext>
            </a:extLst>
          </p:cNvPr>
          <p:cNvSpPr>
            <a:spLocks xmlns:a="http://schemas.openxmlformats.org/drawingml/2006/main" noGrp="1"/>
          </p:cNvSpPr>
          <p:nvPr/>
        </p:nvSpPr>
        <p:spPr>
          <a:xfrm xmlns:a="http://schemas.openxmlformats.org/drawingml/2006/main">
            <a:off x="762000" y="3939159"/>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The Solution: ORVIA builds automated twin networks named Aster and Birch. These are hyper-realistic, synthetic client application environments that mirror real-world Indian enterprise data models, e.g. at commit e95b5acab785cad14e1687a92c8c368eb3caf909.</a:t>
            </a:r>
          </a:p>
        </p:txBody>
      </p:sp>
      <p:sp>
        <p:nvSpPr>
          <p:cNvPr id="7" name="">
            <a:extLst xmlns:a="http://schemas.openxmlformats.org/drawingml/2006/main">
              <a:ext uri="{FF2B5EF4-FFF2-40B4-BE49-F238E27FC236}">
                <a16:creationId xmlns:a16="http://schemas.microsoft.com/office/drawing/2014/main" id="{91F8739D-C620-48AF-959B-2908E1094D75}"/>
              </a:ext>
            </a:extLst>
          </p:cNvPr>
          <p:cNvSpPr>
            <a:spLocks xmlns:a="http://schemas.openxmlformats.org/drawingml/2006/main" noGrp="1"/>
          </p:cNvSpPr>
          <p:nvPr/>
        </p:nvSpPr>
        <p:spPr>
          <a:xfrm xmlns:a="http://schemas.openxmlformats.org/drawingml/2006/main">
            <a:off x="762000" y="5554218"/>
            <a:ext cx="809625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On What Basis Are We Doing This? (The Statutory &amp; Technical Alignment):</a:t>
            </a:r>
          </a:p>
        </p:txBody>
      </p:sp>
      <p:sp>
        <p:nvSpPr>
          <p:cNvPr id="8" name="">
            <a:extLst xmlns:a="http://schemas.openxmlformats.org/drawingml/2006/main">
              <a:ext uri="{FF2B5EF4-FFF2-40B4-BE49-F238E27FC236}">
                <a16:creationId xmlns:a16="http://schemas.microsoft.com/office/drawing/2014/main" id="{EBC19205-1D50-4C2E-8D5B-FA1A3B0E0224}"/>
              </a:ext>
            </a:extLst>
          </p:cNvPr>
          <p:cNvSpPr>
            <a:spLocks xmlns:a="http://schemas.openxmlformats.org/drawingml/2006/main" noGrp="1"/>
          </p:cNvSpPr>
          <p:nvPr/>
        </p:nvSpPr>
        <p:spPr>
          <a:xfrm xmlns:a="http://schemas.openxmlformats.org/drawingml/2006/main">
            <a:off x="762000" y="6243447"/>
            <a:ext cx="8096250" cy="9978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Every synthetic profile, database row, and communication event is strictly engineered around the constraints of the DPDPA 2023 and TRAI TCCCPR 2018 (DLT Systems).</a:t>
            </a:r>
          </a:p>
        </p:txBody>
      </p:sp>
      <p:sp>
        <p:nvSpPr>
          <p:cNvPr id="9" name="">
            <a:extLst xmlns:a="http://schemas.openxmlformats.org/drawingml/2006/main">
              <a:ext uri="{FF2B5EF4-FFF2-40B4-BE49-F238E27FC236}">
                <a16:creationId xmlns:a16="http://schemas.microsoft.com/office/drawing/2014/main" id="{4DE21789-D109-46AE-906E-04743DA9AF73}"/>
              </a:ext>
            </a:extLst>
          </p:cNvPr>
          <p:cNvSpPr>
            <a:spLocks xmlns:a="http://schemas.openxmlformats.org/drawingml/2006/main" noGrp="1"/>
          </p:cNvSpPr>
          <p:nvPr/>
        </p:nvSpPr>
        <p:spPr>
          <a:xfrm xmlns:a="http://schemas.openxmlformats.org/drawingml/2006/main">
            <a:off x="762000" y="7241286"/>
            <a:ext cx="8096250" cy="380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The Controlled Testing Matrices:</a:t>
            </a:r>
          </a:p>
        </p:txBody>
      </p:sp>
      <p:sp>
        <p:nvSpPr>
          <p:cNvPr id="10" name="">
            <a:extLst xmlns:a="http://schemas.openxmlformats.org/drawingml/2006/main">
              <a:ext uri="{FF2B5EF4-FFF2-40B4-BE49-F238E27FC236}">
                <a16:creationId xmlns:a16="http://schemas.microsoft.com/office/drawing/2014/main" id="{E35EC985-75C0-4F8E-B0D1-EF5E23709CA7}"/>
              </a:ext>
            </a:extLst>
          </p:cNvPr>
          <p:cNvSpPr>
            <a:spLocks xmlns:a="http://schemas.openxmlformats.org/drawingml/2006/main" noGrp="1"/>
          </p:cNvSpPr>
          <p:nvPr/>
        </p:nvSpPr>
        <p:spPr>
          <a:xfrm xmlns:a="http://schemas.openxmlformats.org/drawingml/2006/main">
            <a:off x="762000" y="7621905"/>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Positive Dataset Baselines: Simulates clean operational journeys. A user profile switches is_marketing_allowed from true to false via a mock Consent Manager token; ORVIA verifies the status registers perfectly in the target datastore within cessation_latency_ms.</a:t>
            </a:r>
          </a:p>
        </p:txBody>
      </p:sp>
      <p:sp>
        <p:nvSpPr>
          <p:cNvPr id="11" name="">
            <a:extLst xmlns:a="http://schemas.openxmlformats.org/drawingml/2006/main">
              <a:ext uri="{FF2B5EF4-FFF2-40B4-BE49-F238E27FC236}">
                <a16:creationId xmlns:a16="http://schemas.microsoft.com/office/drawing/2014/main" id="{71004671-8879-4502-9360-E7968D034D8C}"/>
              </a:ext>
            </a:extLst>
          </p:cNvPr>
          <p:cNvSpPr>
            <a:spLocks xmlns:a="http://schemas.openxmlformats.org/drawingml/2006/main" noGrp="1"/>
          </p:cNvSpPr>
          <p:nvPr/>
        </p:nvSpPr>
        <p:spPr>
          <a:xfrm xmlns:a="http://schemas.openxmlformats.org/drawingml/2006/main">
            <a:off x="9429750" y="2324100"/>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Adverse / Negative Dataset Baselines: Simulates active privacy failures. The user revokes consent, but a synthetic, pre-queued backend task tries to fire a marketing email. ORVIA’s P3 Canary Trap intercepts the ping, flags an ObservedViolation, and intentionally crashes the CI/CD pipeline build.</a:t>
            </a:r>
          </a:p>
        </p:txBody>
      </p:sp>
      <p:sp>
        <p:nvSpPr>
          <p:cNvPr id="12" name="">
            <a:extLst xmlns:a="http://schemas.openxmlformats.org/drawingml/2006/main">
              <a:ext uri="{FF2B5EF4-FFF2-40B4-BE49-F238E27FC236}">
                <a16:creationId xmlns:a16="http://schemas.microsoft.com/office/drawing/2014/main" id="{D93C9102-C396-4D65-B929-830451A89E57}"/>
              </a:ext>
            </a:extLst>
          </p:cNvPr>
          <p:cNvSpPr>
            <a:spLocks xmlns:a="http://schemas.openxmlformats.org/drawingml/2006/main" noGrp="1"/>
          </p:cNvSpPr>
          <p:nvPr/>
        </p:nvSpPr>
        <p:spPr>
          <a:xfrm xmlns:a="http://schemas.openxmlformats.org/drawingml/2006/main">
            <a:off x="9429750" y="3939159"/>
            <a:ext cx="8096250" cy="13064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Boundary &amp; Cross-Tenant Baselines: Seeds deliberately malformed tokens and multi-tenant intersection flows to test row-level security (RLS), database timeouts (TIMEOUT_EFFECT_UNKNOWN), and state restorations from old application backups.</a:t>
            </a:r>
          </a:p>
        </p:txBody>
      </p:sp>
      <p:sp>
        <p:nvSpPr>
          <p:cNvPr id="13" name="">
            <a:extLst xmlns:a="http://schemas.openxmlformats.org/drawingml/2006/main">
              <a:ext uri="{FF2B5EF4-FFF2-40B4-BE49-F238E27FC236}">
                <a16:creationId xmlns:a16="http://schemas.microsoft.com/office/drawing/2014/main" id="{7711C9F4-2ED5-4DE7-AF0F-75FF8B51D5E5}"/>
              </a:ext>
            </a:extLst>
          </p:cNvPr>
          <p:cNvSpPr>
            <a:spLocks xmlns:a="http://schemas.openxmlformats.org/drawingml/2006/main" noGrp="1"/>
          </p:cNvSpPr>
          <p:nvPr/>
        </p:nvSpPr>
        <p:spPr>
          <a:xfrm xmlns:a="http://schemas.openxmlformats.org/drawingml/2006/main">
            <a:off x="9429750" y="5245608"/>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Traceability Matrix: The test engine maps every synthetic failure directly back to a specific DPDPA section (e.g., Section 6(6) processing cessation). If a code update breaks a compliance path in the sandbox, the internal test runner detects it before a client ever downloads the release.</a:t>
            </a:r>
          </a:p>
        </p:txBody>
      </p:sp>
    </p:spTree>
    <p:extLst>
      <p:ext uri="{BB962C8B-B14F-4D97-AF65-F5344CB8AC3E}">
        <p14:creationId xmlns:p14="http://schemas.microsoft.com/office/powerpoint/2010/main" val="19930650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39CC8F-9EDB-4E9E-AE6F-45279ED6EAF3}"/>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Project Baselines &amp; Operational Boundaries</a:t>
            </a:r>
          </a:p>
        </p:txBody>
      </p:sp>
      <p:sp>
        <p:nvSpPr>
          <p:cNvPr id="2" name="">
            <a:extLst xmlns:a="http://schemas.openxmlformats.org/drawingml/2006/main">
              <a:ext uri="{FF2B5EF4-FFF2-40B4-BE49-F238E27FC236}">
                <a16:creationId xmlns:a16="http://schemas.microsoft.com/office/drawing/2014/main" id="{666E2C88-FC2A-421C-B8B8-9C6E9D8D7DD5}"/>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Core Structural Anchors of the Verification Engine</a:t>
            </a:r>
          </a:p>
        </p:txBody>
      </p:sp>
      <p:sp>
        <p:nvSpPr>
          <p:cNvPr id="3" name="">
            <a:extLst xmlns:a="http://schemas.openxmlformats.org/drawingml/2006/main">
              <a:ext uri="{FF2B5EF4-FFF2-40B4-BE49-F238E27FC236}">
                <a16:creationId xmlns:a16="http://schemas.microsoft.com/office/drawing/2014/main" id="{5552C230-DE10-4F85-8E07-BBD2834C3EBB}"/>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67B302A5-E9DD-4733-BF52-AC6B7FD502F9}"/>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CF50256E-8133-4DDC-98D3-109BBBF476FD}"/>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Baselines establish the core technical reference points for the ORVIA engine, defining ownership, tracking changes, and setting clear release criteria.</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Baseline Type</a:t>
                      </a:r>
                    </a:p>
                  </a:txBody>
                  <a:tcPr marL="91440" marR="91440" marT="45720" marB="45720">
                    <a:solidFill>
                      <a:srgbClr val="14283F"/>
                    </a:solidFill>
                  </a:tcPr>
                </a:tc>
                <a:tc>
                  <a:txBody>
                    <a:bodyPr/>
                    <a:lstStyle/>
                    <a:p>
                      <a:r>
                        <a:rPr sz="2025" b="1">
                          <a:solidFill>
                            <a:srgbClr val="FFFFFF"/>
                          </a:solidFill>
                          <a:latin typeface="Arial"/>
                          <a:ea typeface="Arial"/>
                          <a:cs typeface="Arial"/>
                        </a:rPr>
                        <a:t>Source Framework &amp; Documentation Baseline</a:t>
                      </a:r>
                    </a:p>
                  </a:txBody>
                  <a:tcPr marL="91440" marR="91440" marT="45720" marB="45720">
                    <a:solidFill>
                      <a:srgbClr val="14283F"/>
                    </a:solidFill>
                  </a:tcPr>
                </a:tc>
                <a:tc>
                  <a:txBody>
                    <a:bodyPr/>
                    <a:lstStyle/>
                    <a:p>
                      <a:r>
                        <a:rPr sz="2025" b="1">
                          <a:solidFill>
                            <a:srgbClr val="FFFFFF"/>
                          </a:solidFill>
                          <a:latin typeface="Arial"/>
                          <a:ea typeface="Arial"/>
                          <a:cs typeface="Arial"/>
                        </a:rPr>
                        <a:t>Owner &amp; Versioning Framework</a:t>
                      </a:r>
                    </a:p>
                  </a:txBody>
                  <a:tcPr marL="91440" marR="91440" marT="45720" marB="45720">
                    <a:solidFill>
                      <a:srgbClr val="14283F"/>
                    </a:solidFill>
                  </a:tcPr>
                </a:tc>
              </a:tr>
              <a:tr h="656082">
                <a:tc>
                  <a:txBody>
                    <a:bodyPr/>
                    <a:lstStyle/>
                    <a:p>
                      <a:r>
                        <a:rPr sz="2025" b="1">
                          <a:solidFill>
                            <a:srgbClr val="14283F"/>
                          </a:solidFill>
                          <a:latin typeface="Arial"/>
                          <a:ea typeface="Arial"/>
                          <a:cs typeface="Arial"/>
                        </a:rPr>
                        <a:t>Regulatory Baseline</a:t>
                      </a:r>
                    </a:p>
                  </a:txBody>
                  <a:tcPr marL="91440" marR="91440" marT="45720" marB="45720">
                    <a:solidFill>
                      <a:srgbClr val="F0F6F6"/>
                    </a:solidFill>
                  </a:tcPr>
                </a:tc>
                <a:tc>
                  <a:txBody>
                    <a:bodyPr/>
                    <a:lstStyle/>
                    <a:p>
                      <a:r>
                        <a:rPr sz="2025" b="0">
                          <a:solidFill>
                            <a:srgbClr val="14283F"/>
                          </a:solidFill>
                          <a:latin typeface="Arial"/>
                          <a:ea typeface="Arial"/>
                          <a:cs typeface="Arial"/>
                        </a:rPr>
                        <a:t>Official text of the DPDPA 2023 and the notified MeitY Rules 2025.</a:t>
                      </a:r>
                    </a:p>
                  </a:txBody>
                  <a:tcPr marL="91440" marR="91440" marT="45720" marB="45720">
                    <a:solidFill>
                      <a:srgbClr val="F0F6F6"/>
                    </a:solidFill>
                  </a:tcPr>
                </a:tc>
                <a:tc>
                  <a:txBody>
                    <a:bodyPr/>
                    <a:lstStyle/>
                    <a:p>
                      <a:r>
                        <a:rPr sz="2025" b="0">
                          <a:solidFill>
                            <a:srgbClr val="14283F"/>
                          </a:solidFill>
                          <a:latin typeface="Arial"/>
                          <a:ea typeface="Arial"/>
                          <a:cs typeface="Arial"/>
                        </a:rPr>
                        <a:t>Legal Counsel / DPO. Versioned by official gazette release date.</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Product Baseline</a:t>
                      </a:r>
                    </a:p>
                  </a:txBody>
                  <a:tcPr marL="91440" marR="91440" marT="45720" marB="45720">
                    <a:solidFill>
                      <a:srgbClr val="FFFFFF"/>
                    </a:solidFill>
                  </a:tcPr>
                </a:tc>
                <a:tc>
                  <a:txBody>
                    <a:bodyPr/>
                    <a:lstStyle/>
                    <a:p>
                      <a:r>
                        <a:rPr sz="2025" b="0">
                          <a:solidFill>
                            <a:srgbClr val="14283F"/>
                          </a:solidFill>
                          <a:latin typeface="Arial"/>
                          <a:ea typeface="Arial"/>
                          <a:cs typeface="Arial"/>
                        </a:rPr>
                        <a:t>Approved master capability registry file tracking/capabilities.json.</a:t>
                      </a:r>
                    </a:p>
                  </a:txBody>
                  <a:tcPr marL="91440" marR="91440" marT="45720" marB="45720">
                    <a:solidFill>
                      <a:srgbClr val="FFFFFF"/>
                    </a:solidFill>
                  </a:tcPr>
                </a:tc>
                <a:tc>
                  <a:txBody>
                    <a:bodyPr/>
                    <a:lstStyle/>
                    <a:p>
                      <a:r>
                        <a:rPr sz="2025" b="0">
                          <a:solidFill>
                            <a:srgbClr val="14283F"/>
                          </a:solidFill>
                          <a:latin typeface="Arial"/>
                          <a:ea typeface="Arial"/>
                          <a:cs typeface="Arial"/>
                        </a:rPr>
                        <a:t>Product Management. Monitored by repository commit hash [1].</a:t>
                      </a:r>
                    </a:p>
                  </a:txBody>
                  <a:tcPr marL="91440" marR="91440" marT="45720" marB="45720">
                    <a:solidFill>
                      <a:srgbClr val="FFFFFF"/>
                    </a:solidFill>
                  </a:tcPr>
                </a:tc>
              </a:tr>
              <a:tr h="656082">
                <a:tc>
                  <a:txBody>
                    <a:bodyPr/>
                    <a:lstStyle/>
                    <a:p>
                      <a:r>
                        <a:rPr sz="2025" b="1">
                          <a:solidFill>
                            <a:srgbClr val="14283F"/>
                          </a:solidFill>
                          <a:latin typeface="Arial"/>
                          <a:ea typeface="Arial"/>
                          <a:cs typeface="Arial"/>
                        </a:rPr>
                        <a:t>Control Baseline</a:t>
                      </a:r>
                    </a:p>
                  </a:txBody>
                  <a:tcPr marL="91440" marR="91440" marT="45720" marB="45720">
                    <a:solidFill>
                      <a:srgbClr val="F0F6F6"/>
                    </a:solidFill>
                  </a:tcPr>
                </a:tc>
                <a:tc>
                  <a:txBody>
                    <a:bodyPr/>
                    <a:lstStyle/>
                    <a:p>
                      <a:r>
                        <a:rPr sz="2025" b="0">
                          <a:solidFill>
                            <a:srgbClr val="14283F"/>
                          </a:solidFill>
                          <a:latin typeface="Arial"/>
                          <a:ea typeface="Arial"/>
                          <a:cs typeface="Arial"/>
                        </a:rPr>
                        <a:t>Standard structural control blueprints and evidence validation schemas.</a:t>
                      </a:r>
                    </a:p>
                  </a:txBody>
                  <a:tcPr marL="91440" marR="91440" marT="45720" marB="45720">
                    <a:solidFill>
                      <a:srgbClr val="F0F6F6"/>
                    </a:solidFill>
                  </a:tcPr>
                </a:tc>
                <a:tc>
                  <a:txBody>
                    <a:bodyPr/>
                    <a:lstStyle/>
                    <a:p>
                      <a:r>
                        <a:rPr sz="2025" b="0">
                          <a:solidFill>
                            <a:srgbClr val="14283F"/>
                          </a:solidFill>
                          <a:latin typeface="Arial"/>
                          <a:ea typeface="Arial"/>
                          <a:cs typeface="Arial"/>
                        </a:rPr>
                        <a:t>Privacy Systems Architect. Managed via JSON schema definition sets.</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Test Baseline</a:t>
                      </a:r>
                    </a:p>
                  </a:txBody>
                  <a:tcPr marL="91440" marR="91440" marT="45720" marB="45720">
                    <a:solidFill>
                      <a:srgbClr val="FFFFFF"/>
                    </a:solidFill>
                  </a:tcPr>
                </a:tc>
                <a:tc>
                  <a:txBody>
                    <a:bodyPr/>
                    <a:lstStyle/>
                    <a:p>
                      <a:r>
                        <a:rPr sz="2025" b="0">
                          <a:solidFill>
                            <a:srgbClr val="14283F"/>
                          </a:solidFill>
                          <a:latin typeface="Arial"/>
                          <a:ea typeface="Arial"/>
                          <a:cs typeface="Arial"/>
                        </a:rPr>
                        <a:t>Verified integration test scenarios and synthetic database test arrays.</a:t>
                      </a:r>
                    </a:p>
                  </a:txBody>
                  <a:tcPr marL="91440" marR="91440" marT="45720" marB="45720">
                    <a:solidFill>
                      <a:srgbClr val="FFFFFF"/>
                    </a:solidFill>
                  </a:tcPr>
                </a:tc>
                <a:tc>
                  <a:txBody>
                    <a:bodyPr/>
                    <a:lstStyle/>
                    <a:p>
                      <a:r>
                        <a:rPr sz="2025" b="0">
                          <a:solidFill>
                            <a:srgbClr val="14283F"/>
                          </a:solidFill>
                          <a:latin typeface="Arial"/>
                          <a:ea typeface="Arial"/>
                          <a:cs typeface="Arial"/>
                        </a:rPr>
                        <a:t>QA &amp; Engineering Lead. Tied to the target repository release tag.</a:t>
                      </a:r>
                    </a:p>
                  </a:txBody>
                  <a:tcPr marL="91440" marR="91440" marT="45720" marB="45720">
                    <a:solidFill>
                      <a:srgbClr val="FFFFFF"/>
                    </a:solidFill>
                  </a:tcPr>
                </a:tc>
              </a:tr>
              <a:tr h="656082">
                <a:tc>
                  <a:txBody>
                    <a:bodyPr/>
                    <a:lstStyle/>
                    <a:p>
                      <a:r>
                        <a:rPr sz="2025" b="1">
                          <a:solidFill>
                            <a:srgbClr val="14283F"/>
                          </a:solidFill>
                          <a:latin typeface="Arial"/>
                          <a:ea typeface="Arial"/>
                          <a:cs typeface="Arial"/>
                        </a:rPr>
                        <a:t>Security Baseline</a:t>
                      </a:r>
                    </a:p>
                  </a:txBody>
                  <a:tcPr marL="91440" marR="91440" marT="45720" marB="45720">
                    <a:solidFill>
                      <a:srgbClr val="F0F6F6"/>
                    </a:solidFill>
                  </a:tcPr>
                </a:tc>
                <a:tc>
                  <a:txBody>
                    <a:bodyPr/>
                    <a:lstStyle/>
                    <a:p>
                      <a:r>
                        <a:rPr sz="2025" b="0">
                          <a:solidFill>
                            <a:srgbClr val="14283F"/>
                          </a:solidFill>
                          <a:latin typeface="Arial"/>
                          <a:ea typeface="Arial"/>
                          <a:cs typeface="Arial"/>
                        </a:rPr>
                        <a:t>Least-privilege database roles, timeout limits, and RLS configurations.</a:t>
                      </a:r>
                    </a:p>
                  </a:txBody>
                  <a:tcPr marL="91440" marR="91440" marT="45720" marB="45720">
                    <a:solidFill>
                      <a:srgbClr val="F0F6F6"/>
                    </a:solidFill>
                  </a:tcPr>
                </a:tc>
                <a:tc>
                  <a:txBody>
                    <a:bodyPr/>
                    <a:lstStyle/>
                    <a:p>
                      <a:r>
                        <a:rPr sz="2025" b="0">
                          <a:solidFill>
                            <a:srgbClr val="14283F"/>
                          </a:solidFill>
                          <a:latin typeface="Arial"/>
                          <a:ea typeface="Arial"/>
                          <a:cs typeface="Arial"/>
                        </a:rPr>
                        <a:t>SecOps Coordinator. Tracked through static code checks.</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Release Baseline</a:t>
                      </a:r>
                    </a:p>
                  </a:txBody>
                  <a:tcPr marL="91440" marR="91440" marT="45720" marB="45720">
                    <a:solidFill>
                      <a:srgbClr val="FFFFFF"/>
                    </a:solidFill>
                  </a:tcPr>
                </a:tc>
                <a:tc>
                  <a:txBody>
                    <a:bodyPr/>
                    <a:lstStyle/>
                    <a:p>
                      <a:r>
                        <a:rPr sz="2025" b="0">
                          <a:solidFill>
                            <a:srgbClr val="14283F"/>
                          </a:solidFill>
                          <a:latin typeface="Arial"/>
                          <a:ea typeface="Arial"/>
                          <a:cs typeface="Arial"/>
                        </a:rPr>
                        <a:t>Explicit build criteria: all unit passes, clean lints, and E2E validation.</a:t>
                      </a:r>
                    </a:p>
                  </a:txBody>
                  <a:tcPr marL="91440" marR="91440" marT="45720" marB="45720">
                    <a:solidFill>
                      <a:srgbClr val="FFFFFF"/>
                    </a:solidFill>
                  </a:tcPr>
                </a:tc>
                <a:tc>
                  <a:txBody>
                    <a:bodyPr/>
                    <a:lstStyle/>
                    <a:p>
                      <a:r>
                        <a:rPr sz="2025" b="0">
                          <a:solidFill>
                            <a:srgbClr val="14283F"/>
                          </a:solidFill>
                          <a:latin typeface="Arial"/>
                          <a:ea typeface="Arial"/>
                          <a:cs typeface="Arial"/>
                        </a:rPr>
                        <a:t>Release Engineering. Signed via build verification hashes [2]</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ABBE9DF-E729-4B46-8796-D6C35E8C3F01}"/>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Application Logic: If a system check fails to match the established baseline parameters, the running engine flags a variance, preventing outdated validation logs from generating active compliance records.</a:t>
            </a:r>
          </a:p>
        </p:txBody>
      </p:sp>
    </p:spTree>
    <p:extLst>
      <p:ext uri="{BB962C8B-B14F-4D97-AF65-F5344CB8AC3E}">
        <p14:creationId xmlns:p14="http://schemas.microsoft.com/office/powerpoint/2010/main" val="4523840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4B86C1F-3875-4BFB-B31E-A4AA70B1AB4F}"/>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What is Built Now: Codebase Reality Audit</a:t>
            </a:r>
          </a:p>
        </p:txBody>
      </p:sp>
      <p:sp>
        <p:nvSpPr>
          <p:cNvPr id="2" name="">
            <a:extLst xmlns:a="http://schemas.openxmlformats.org/drawingml/2006/main">
              <a:ext uri="{FF2B5EF4-FFF2-40B4-BE49-F238E27FC236}">
                <a16:creationId xmlns:a16="http://schemas.microsoft.com/office/drawing/2014/main" id="{35A9F6D6-A0DF-42B5-90B0-B55B7115C3BF}"/>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Actual Repository Footprint vs. Original Project Blueprint</a:t>
            </a:r>
          </a:p>
        </p:txBody>
      </p:sp>
      <p:sp>
        <p:nvSpPr>
          <p:cNvPr id="3" name="">
            <a:extLst xmlns:a="http://schemas.openxmlformats.org/drawingml/2006/main">
              <a:ext uri="{FF2B5EF4-FFF2-40B4-BE49-F238E27FC236}">
                <a16:creationId xmlns:a16="http://schemas.microsoft.com/office/drawing/2014/main" id="{9083A441-89A3-4484-801D-5E757BA62BA6}"/>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EBFDA54E-D1C5-4C71-9EDA-6C1AB5488C79}"/>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30690E73-44B1-4FF5-98CF-9B1FBC225C11}"/>
              </a:ext>
            </a:extLst>
          </p:cNvPr>
          <p:cNvSpPr>
            <a:spLocks xmlns:a="http://schemas.openxmlformats.org/drawingml/2006/main" noGrp="1"/>
          </p:cNvSpPr>
          <p:nvPr/>
        </p:nvSpPr>
        <p:spPr>
          <a:xfrm xmlns:a="http://schemas.openxmlformats.org/drawingml/2006/main">
            <a:off x="762000" y="2324100"/>
            <a:ext cx="8096250" cy="17945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Current Codebase Reality: Product development has moved past the initial prototype stages. A recent codebase audit confirms that 100 out of 104 routed regulatory requirements are built and verified within active code structures [2].</a:t>
            </a:r>
          </a:p>
        </p:txBody>
      </p:sp>
      <p:sp>
        <p:nvSpPr>
          <p:cNvPr id="6" name="">
            <a:extLst xmlns:a="http://schemas.openxmlformats.org/drawingml/2006/main">
              <a:ext uri="{FF2B5EF4-FFF2-40B4-BE49-F238E27FC236}">
                <a16:creationId xmlns:a16="http://schemas.microsoft.com/office/drawing/2014/main" id="{0BDEF24C-EC0E-4ECD-88C4-070C0E0F3B6C}"/>
              </a:ext>
            </a:extLst>
          </p:cNvPr>
          <p:cNvSpPr>
            <a:spLocks xmlns:a="http://schemas.openxmlformats.org/drawingml/2006/main" noGrp="1"/>
          </p:cNvSpPr>
          <p:nvPr/>
        </p:nvSpPr>
        <p:spPr>
          <a:xfrm xmlns:a="http://schemas.openxmlformats.org/drawingml/2006/main">
            <a:off x="762000" y="411861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Current System Status (Module Breakdown):</a:t>
            </a:r>
          </a:p>
        </p:txBody>
      </p:sp>
      <p:sp>
        <p:nvSpPr>
          <p:cNvPr id="7" name="">
            <a:extLst xmlns:a="http://schemas.openxmlformats.org/drawingml/2006/main">
              <a:ext uri="{FF2B5EF4-FFF2-40B4-BE49-F238E27FC236}">
                <a16:creationId xmlns:a16="http://schemas.microsoft.com/office/drawing/2014/main" id="{C309A807-AA1A-44E0-B371-A846511D51AC}"/>
              </a:ext>
            </a:extLst>
          </p:cNvPr>
          <p:cNvSpPr>
            <a:spLocks xmlns:a="http://schemas.openxmlformats.org/drawingml/2006/main" noGrp="1"/>
          </p:cNvSpPr>
          <p:nvPr/>
        </p:nvSpPr>
        <p:spPr>
          <a:xfrm xmlns:a="http://schemas.openxmlformats.org/drawingml/2006/main">
            <a:off x="762000" y="45415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Durable Workflow Engine: Fully built. Successfully processes state sequences, manages execution steps, and routes events.</a:t>
            </a:r>
          </a:p>
        </p:txBody>
      </p:sp>
      <p:sp>
        <p:nvSpPr>
          <p:cNvPr id="8" name="">
            <a:extLst xmlns:a="http://schemas.openxmlformats.org/drawingml/2006/main">
              <a:ext uri="{FF2B5EF4-FFF2-40B4-BE49-F238E27FC236}">
                <a16:creationId xmlns:a16="http://schemas.microsoft.com/office/drawing/2014/main" id="{BDBD57ED-1BC3-49D6-9479-3F4D62DF6C5B}"/>
              </a:ext>
            </a:extLst>
          </p:cNvPr>
          <p:cNvSpPr>
            <a:spLocks xmlns:a="http://schemas.openxmlformats.org/drawingml/2006/main" noGrp="1"/>
          </p:cNvSpPr>
          <p:nvPr/>
        </p:nvSpPr>
        <p:spPr>
          <a:xfrm xmlns:a="http://schemas.openxmlformats.org/drawingml/2006/main">
            <a:off x="762000" y="565023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Database Isolation Models: Fully built. Implements row-level security (RLS) layers across database structures.</a:t>
            </a:r>
          </a:p>
        </p:txBody>
      </p:sp>
      <p:sp>
        <p:nvSpPr>
          <p:cNvPr id="9" name="">
            <a:extLst xmlns:a="http://schemas.openxmlformats.org/drawingml/2006/main">
              <a:ext uri="{FF2B5EF4-FFF2-40B4-BE49-F238E27FC236}">
                <a16:creationId xmlns:a16="http://schemas.microsoft.com/office/drawing/2014/main" id="{C4BDCE2E-30ED-4DB6-BF18-805C91FD7BA2}"/>
              </a:ext>
            </a:extLst>
          </p:cNvPr>
          <p:cNvSpPr>
            <a:spLocks xmlns:a="http://schemas.openxmlformats.org/drawingml/2006/main" noGrp="1"/>
          </p:cNvSpPr>
          <p:nvPr/>
        </p:nvSpPr>
        <p:spPr>
          <a:xfrm xmlns:a="http://schemas.openxmlformats.org/drawingml/2006/main">
            <a:off x="9429750" y="232410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PostgreSQL Discovery Module: Partially built. Safely scans column metadata within a 20-relation limit but does not classify active data values.</a:t>
            </a:r>
          </a:p>
        </p:txBody>
      </p:sp>
      <p:sp>
        <p:nvSpPr>
          <p:cNvPr id="10" name="">
            <a:extLst xmlns:a="http://schemas.openxmlformats.org/drawingml/2006/main">
              <a:ext uri="{FF2B5EF4-FFF2-40B4-BE49-F238E27FC236}">
                <a16:creationId xmlns:a16="http://schemas.microsoft.com/office/drawing/2014/main" id="{53261E0B-A9D8-42E1-AFE7-586361A6F98A}"/>
              </a:ext>
            </a:extLst>
          </p:cNvPr>
          <p:cNvSpPr>
            <a:spLocks xmlns:a="http://schemas.openxmlformats.org/drawingml/2006/main" noGrp="1"/>
          </p:cNvSpPr>
          <p:nvPr/>
        </p:nvSpPr>
        <p:spPr>
          <a:xfrm xmlns:a="http://schemas.openxmlformats.org/drawingml/2006/main">
            <a:off x="9429750" y="343281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Outbound Production Adapters: Open / Not Built. Relies on synthetic testing connectors; live production configurations are pending.</a:t>
            </a:r>
          </a:p>
        </p:txBody>
      </p:sp>
      <p:sp>
        <p:nvSpPr>
          <p:cNvPr id="11" name="">
            <a:extLst xmlns:a="http://schemas.openxmlformats.org/drawingml/2006/main">
              <a:ext uri="{FF2B5EF4-FFF2-40B4-BE49-F238E27FC236}">
                <a16:creationId xmlns:a16="http://schemas.microsoft.com/office/drawing/2014/main" id="{D2B96015-4583-40C2-8B91-9B419E8F156D}"/>
              </a:ext>
            </a:extLst>
          </p:cNvPr>
          <p:cNvSpPr>
            <a:spLocks xmlns:a="http://schemas.openxmlformats.org/drawingml/2006/main" noGrp="1"/>
          </p:cNvSpPr>
          <p:nvPr/>
        </p:nvSpPr>
        <p:spPr>
          <a:xfrm xmlns:a="http://schemas.openxmlformats.org/drawingml/2006/main">
            <a:off x="9429750" y="45415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Acceptance Testing Layer: Not Run. The canonical testing suites T01 to T34 are coded but lack a finalized validation pass for full production release.</a:t>
            </a:r>
          </a:p>
        </p:txBody>
      </p:sp>
      <p:sp>
        <p:nvSpPr>
          <p:cNvPr id="12" name="">
            <a:extLst xmlns:a="http://schemas.openxmlformats.org/drawingml/2006/main">
              <a:ext uri="{FF2B5EF4-FFF2-40B4-BE49-F238E27FC236}">
                <a16:creationId xmlns:a16="http://schemas.microsoft.com/office/drawing/2014/main" id="{1DD4454E-C14E-4D2E-9920-AFB0E1DF4BC8}"/>
              </a:ext>
            </a:extLst>
          </p:cNvPr>
          <p:cNvSpPr>
            <a:spLocks xmlns:a="http://schemas.openxmlformats.org/drawingml/2006/main" noGrp="1"/>
          </p:cNvSpPr>
          <p:nvPr/>
        </p:nvSpPr>
        <p:spPr>
          <a:xfrm xmlns:a="http://schemas.openxmlformats.org/drawingml/2006/main">
            <a:off x="9429750" y="5650230"/>
            <a:ext cx="8096250" cy="1451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Strategic Action Plan: Avoid marketing broad compliance statements. Focus engineering tasks on completing a single production adapter and completing the active release candidate verification pass.</a:t>
            </a:r>
          </a:p>
        </p:txBody>
      </p:sp>
    </p:spTree>
    <p:extLst>
      <p:ext uri="{BB962C8B-B14F-4D97-AF65-F5344CB8AC3E}">
        <p14:creationId xmlns:p14="http://schemas.microsoft.com/office/powerpoint/2010/main" val="8536552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0B467CA-4328-476A-B1DE-4129076F92B9}"/>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The Catalog Application Architecture</a:t>
            </a:r>
          </a:p>
        </p:txBody>
      </p:sp>
      <p:sp>
        <p:nvSpPr>
          <p:cNvPr id="2" name="">
            <a:extLst xmlns:a="http://schemas.openxmlformats.org/drawingml/2006/main">
              <a:ext uri="{FF2B5EF4-FFF2-40B4-BE49-F238E27FC236}">
                <a16:creationId xmlns:a16="http://schemas.microsoft.com/office/drawing/2014/main" id="{734AF587-C101-4034-AE84-A8B6D6A1A2EF}"/>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Package Configuration, Selection, and Updating</a:t>
            </a:r>
          </a:p>
        </p:txBody>
      </p:sp>
      <p:sp>
        <p:nvSpPr>
          <p:cNvPr id="3" name="">
            <a:extLst xmlns:a="http://schemas.openxmlformats.org/drawingml/2006/main">
              <a:ext uri="{FF2B5EF4-FFF2-40B4-BE49-F238E27FC236}">
                <a16:creationId xmlns:a16="http://schemas.microsoft.com/office/drawing/2014/main" id="{E2774A81-33A7-449E-A9E1-74B10D38709A}"/>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F0CE59A6-3391-4443-934B-EB6DCF425850}"/>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1753BDEC-3AD7-4388-BB01-CF2BCEEA613E}"/>
              </a:ext>
            </a:extLst>
          </p:cNvPr>
          <p:cNvSpPr>
            <a:spLocks xmlns:a="http://schemas.openxmlformats.org/drawingml/2006/main" noGrp="1"/>
          </p:cNvSpPr>
          <p:nvPr/>
        </p:nvSpPr>
        <p:spPr>
          <a:xfrm xmlns:a="http://schemas.openxmlformats.org/drawingml/2006/main">
            <a:off x="762000" y="2305050"/>
            <a:ext cx="16764000" cy="7913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Overview: In ORVIA, a "Catalog" is a package structure containing signed, versioned data assets that define compliance behavior.</a:t>
            </a:r>
          </a:p>
        </p:txBody>
      </p:sp>
      <p:sp>
        <p:nvSpPr>
          <p:cNvPr id="6" name="">
            <a:extLst xmlns:a="http://schemas.openxmlformats.org/drawingml/2006/main">
              <a:ext uri="{FF2B5EF4-FFF2-40B4-BE49-F238E27FC236}">
                <a16:creationId xmlns:a16="http://schemas.microsoft.com/office/drawing/2014/main" id="{1560BAE6-0FBA-42B7-A9DD-A19EB3B135B7}"/>
              </a:ext>
            </a:extLst>
          </p:cNvPr>
          <p:cNvSpPr>
            <a:spLocks xmlns:a="http://schemas.openxmlformats.org/drawingml/2006/main" noGrp="1"/>
          </p:cNvSpPr>
          <p:nvPr/>
        </p:nvSpPr>
        <p:spPr>
          <a:xfrm xmlns:a="http://schemas.openxmlformats.org/drawingml/2006/main">
            <a:off x="762000" y="3096387"/>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The Six Functional Catalogs:</a:t>
            </a:r>
          </a:p>
        </p:txBody>
      </p:sp>
      <p:sp>
        <p:nvSpPr>
          <p:cNvPr id="7" name="">
            <a:extLst xmlns:a="http://schemas.openxmlformats.org/drawingml/2006/main">
              <a:ext uri="{FF2B5EF4-FFF2-40B4-BE49-F238E27FC236}">
                <a16:creationId xmlns:a16="http://schemas.microsoft.com/office/drawing/2014/main" id="{6219D8C6-BADD-44B2-96FC-39C7E7E168CA}"/>
              </a:ext>
            </a:extLst>
          </p:cNvPr>
          <p:cNvSpPr>
            <a:spLocks xmlns:a="http://schemas.openxmlformats.org/drawingml/2006/main" noGrp="1"/>
          </p:cNvSpPr>
          <p:nvPr/>
        </p:nvSpPr>
        <p:spPr>
          <a:xfrm xmlns:a="http://schemas.openxmlformats.org/drawingml/2006/main">
            <a:off x="762000" y="3533394"/>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1. Regulatory Catalog: Tracks verified changes in data laws and updated reporting rules.</a:t>
            </a:r>
          </a:p>
        </p:txBody>
      </p:sp>
      <p:sp>
        <p:nvSpPr>
          <p:cNvPr id="8" name="">
            <a:extLst xmlns:a="http://schemas.openxmlformats.org/drawingml/2006/main">
              <a:ext uri="{FF2B5EF4-FFF2-40B4-BE49-F238E27FC236}">
                <a16:creationId xmlns:a16="http://schemas.microsoft.com/office/drawing/2014/main" id="{10D776DE-490C-4508-8925-EC16BA3FD09D}"/>
              </a:ext>
            </a:extLst>
          </p:cNvPr>
          <p:cNvSpPr>
            <a:spLocks xmlns:a="http://schemas.openxmlformats.org/drawingml/2006/main" noGrp="1"/>
          </p:cNvSpPr>
          <p:nvPr/>
        </p:nvSpPr>
        <p:spPr>
          <a:xfrm xmlns:a="http://schemas.openxmlformats.org/drawingml/2006/main">
            <a:off x="762000" y="3970401"/>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2. Control Catalog: Defines explicit database criteria for specific compliance mandates.</a:t>
            </a:r>
          </a:p>
        </p:txBody>
      </p:sp>
      <p:sp>
        <p:nvSpPr>
          <p:cNvPr id="9" name="">
            <a:extLst xmlns:a="http://schemas.openxmlformats.org/drawingml/2006/main">
              <a:ext uri="{FF2B5EF4-FFF2-40B4-BE49-F238E27FC236}">
                <a16:creationId xmlns:a16="http://schemas.microsoft.com/office/drawing/2014/main" id="{4C37421F-73BB-4C81-AD0D-014E591BEC3F}"/>
              </a:ext>
            </a:extLst>
          </p:cNvPr>
          <p:cNvSpPr>
            <a:spLocks xmlns:a="http://schemas.openxmlformats.org/drawingml/2006/main" noGrp="1"/>
          </p:cNvSpPr>
          <p:nvPr/>
        </p:nvSpPr>
        <p:spPr>
          <a:xfrm xmlns:a="http://schemas.openxmlformats.org/drawingml/2006/main">
            <a:off x="762000" y="4407408"/>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3. Connector Catalog: Manages connection parameters and security access methods.</a:t>
            </a:r>
          </a:p>
        </p:txBody>
      </p:sp>
      <p:sp>
        <p:nvSpPr>
          <p:cNvPr id="10" name="">
            <a:extLst xmlns:a="http://schemas.openxmlformats.org/drawingml/2006/main">
              <a:ext uri="{FF2B5EF4-FFF2-40B4-BE49-F238E27FC236}">
                <a16:creationId xmlns:a16="http://schemas.microsoft.com/office/drawing/2014/main" id="{B20FA713-AD52-4533-B957-8C76F61CEE27}"/>
              </a:ext>
            </a:extLst>
          </p:cNvPr>
          <p:cNvSpPr>
            <a:spLocks xmlns:a="http://schemas.openxmlformats.org/drawingml/2006/main" noGrp="1"/>
          </p:cNvSpPr>
          <p:nvPr/>
        </p:nvSpPr>
        <p:spPr>
          <a:xfrm xmlns:a="http://schemas.openxmlformats.org/drawingml/2006/main">
            <a:off x="762000" y="4844415"/>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4. Evidence Catalog: Defines data structures for secure telemetry log packaging.</a:t>
            </a:r>
          </a:p>
        </p:txBody>
      </p:sp>
      <p:sp>
        <p:nvSpPr>
          <p:cNvPr id="11" name="">
            <a:extLst xmlns:a="http://schemas.openxmlformats.org/drawingml/2006/main">
              <a:ext uri="{FF2B5EF4-FFF2-40B4-BE49-F238E27FC236}">
                <a16:creationId xmlns:a16="http://schemas.microsoft.com/office/drawing/2014/main" id="{D02D0349-CF0D-4F83-8F9F-8BFEF4421DA9}"/>
              </a:ext>
            </a:extLst>
          </p:cNvPr>
          <p:cNvSpPr>
            <a:spLocks xmlns:a="http://schemas.openxmlformats.org/drawingml/2006/main" noGrp="1"/>
          </p:cNvSpPr>
          <p:nvPr/>
        </p:nvSpPr>
        <p:spPr>
          <a:xfrm xmlns:a="http://schemas.openxmlformats.org/drawingml/2006/main">
            <a:off x="762000" y="5281422"/>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5. Test Catalog: Contains automated integration and validation testing scripts.</a:t>
            </a:r>
          </a:p>
        </p:txBody>
      </p:sp>
      <p:sp>
        <p:nvSpPr>
          <p:cNvPr id="12" name="">
            <a:extLst xmlns:a="http://schemas.openxmlformats.org/drawingml/2006/main">
              <a:ext uri="{FF2B5EF4-FFF2-40B4-BE49-F238E27FC236}">
                <a16:creationId xmlns:a16="http://schemas.microsoft.com/office/drawing/2014/main" id="{2AB610DA-6312-4134-85AD-3271BF49FD77}"/>
              </a:ext>
            </a:extLst>
          </p:cNvPr>
          <p:cNvSpPr>
            <a:spLocks xmlns:a="http://schemas.openxmlformats.org/drawingml/2006/main" noGrp="1"/>
          </p:cNvSpPr>
          <p:nvPr/>
        </p:nvSpPr>
        <p:spPr>
          <a:xfrm xmlns:a="http://schemas.openxmlformats.org/drawingml/2006/main">
            <a:off x="762000" y="5718429"/>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6. Commercial Catalog: Tracks licence keys, feature options, and updates.</a:t>
            </a:r>
          </a:p>
        </p:txBody>
      </p:sp>
      <p:sp>
        <p:nvSpPr>
          <p:cNvPr id="13" name="">
            <a:extLst xmlns:a="http://schemas.openxmlformats.org/drawingml/2006/main">
              <a:ext uri="{FF2B5EF4-FFF2-40B4-BE49-F238E27FC236}">
                <a16:creationId xmlns:a16="http://schemas.microsoft.com/office/drawing/2014/main" id="{62DF9AD4-8F04-4594-A955-337331A4BF90}"/>
              </a:ext>
            </a:extLst>
          </p:cNvPr>
          <p:cNvSpPr>
            <a:spLocks xmlns:a="http://schemas.openxmlformats.org/drawingml/2006/main" noGrp="1"/>
          </p:cNvSpPr>
          <p:nvPr/>
        </p:nvSpPr>
        <p:spPr>
          <a:xfrm xmlns:a="http://schemas.openxmlformats.org/drawingml/2006/main">
            <a:off x="762000" y="6155436"/>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The Lifecycle of a Catalog Item:</a:t>
            </a:r>
          </a:p>
        </p:txBody>
      </p:sp>
      <p:sp>
        <p:nvSpPr>
          <p:cNvPr id="14" name="">
            <a:extLst xmlns:a="http://schemas.openxmlformats.org/drawingml/2006/main">
              <a:ext uri="{FF2B5EF4-FFF2-40B4-BE49-F238E27FC236}">
                <a16:creationId xmlns:a16="http://schemas.microsoft.com/office/drawing/2014/main" id="{15E4BBF6-7D58-43D3-9AFC-506895A99DBF}"/>
              </a:ext>
            </a:extLst>
          </p:cNvPr>
          <p:cNvSpPr>
            <a:spLocks xmlns:a="http://schemas.openxmlformats.org/drawingml/2006/main" noGrp="1"/>
          </p:cNvSpPr>
          <p:nvPr/>
        </p:nvSpPr>
        <p:spPr>
          <a:xfrm xmlns:a="http://schemas.openxmlformats.org/drawingml/2006/main">
            <a:off x="76200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5" name="">
            <a:extLst xmlns:a="http://schemas.openxmlformats.org/drawingml/2006/main">
              <a:ext uri="{FF2B5EF4-FFF2-40B4-BE49-F238E27FC236}">
                <a16:creationId xmlns:a16="http://schemas.microsoft.com/office/drawing/2014/main" id="{25EC9EBF-ED6D-4960-99B4-900CB77F8107}"/>
              </a:ext>
            </a:extLst>
          </p:cNvPr>
          <p:cNvSpPr>
            <a:spLocks xmlns:a="http://schemas.openxmlformats.org/drawingml/2006/main" noGrp="1"/>
          </p:cNvSpPr>
          <p:nvPr/>
        </p:nvSpPr>
        <p:spPr>
          <a:xfrm xmlns:a="http://schemas.openxmlformats.org/drawingml/2006/main">
            <a:off x="93345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Cryptographic Package Signing</a:t>
            </a:r>
          </a:p>
        </p:txBody>
      </p:sp>
      <p:sp>
        <p:nvSpPr>
          <p:cNvPr id="16" name="">
            <a:extLst xmlns:a="http://schemas.openxmlformats.org/drawingml/2006/main">
              <a:ext uri="{FF2B5EF4-FFF2-40B4-BE49-F238E27FC236}">
                <a16:creationId xmlns:a16="http://schemas.microsoft.com/office/drawing/2014/main" id="{35EDABD3-C795-40E6-ADAB-4E9AC85D8CC1}"/>
              </a:ext>
            </a:extLst>
          </p:cNvPr>
          <p:cNvSpPr>
            <a:spLocks xmlns:a="http://schemas.openxmlformats.org/drawingml/2006/main" noGrp="1"/>
          </p:cNvSpPr>
          <p:nvPr/>
        </p:nvSpPr>
        <p:spPr>
          <a:xfrm xmlns:a="http://schemas.openxmlformats.org/drawingml/2006/main">
            <a:off x="6000750" y="77628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7BD8459D-82CB-4C9D-97CC-40BDA8FBEDD6}"/>
              </a:ext>
            </a:extLst>
          </p:cNvPr>
          <p:cNvSpPr>
            <a:spLocks xmlns:a="http://schemas.openxmlformats.org/drawingml/2006/main" noGrp="1"/>
          </p:cNvSpPr>
          <p:nvPr/>
        </p:nvSpPr>
        <p:spPr>
          <a:xfrm xmlns:a="http://schemas.openxmlformats.org/drawingml/2006/main">
            <a:off x="657225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8" name="">
            <a:extLst xmlns:a="http://schemas.openxmlformats.org/drawingml/2006/main">
              <a:ext uri="{FF2B5EF4-FFF2-40B4-BE49-F238E27FC236}">
                <a16:creationId xmlns:a16="http://schemas.microsoft.com/office/drawing/2014/main" id="{902A3CB1-E5D5-4931-8717-5C32F5BF673D}"/>
              </a:ext>
            </a:extLst>
          </p:cNvPr>
          <p:cNvSpPr>
            <a:spLocks xmlns:a="http://schemas.openxmlformats.org/drawingml/2006/main" noGrp="1"/>
          </p:cNvSpPr>
          <p:nvPr/>
        </p:nvSpPr>
        <p:spPr>
          <a:xfrm xmlns:a="http://schemas.openxmlformats.org/drawingml/2006/main">
            <a:off x="674370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Admin Impact Review</a:t>
            </a:r>
          </a:p>
        </p:txBody>
      </p:sp>
      <p:sp>
        <p:nvSpPr>
          <p:cNvPr id="19" name="">
            <a:extLst xmlns:a="http://schemas.openxmlformats.org/drawingml/2006/main">
              <a:ext uri="{FF2B5EF4-FFF2-40B4-BE49-F238E27FC236}">
                <a16:creationId xmlns:a16="http://schemas.microsoft.com/office/drawing/2014/main" id="{B6349D83-3553-43F9-B0EF-A5A780564330}"/>
              </a:ext>
            </a:extLst>
          </p:cNvPr>
          <p:cNvSpPr>
            <a:spLocks xmlns:a="http://schemas.openxmlformats.org/drawingml/2006/main" noGrp="1"/>
          </p:cNvSpPr>
          <p:nvPr/>
        </p:nvSpPr>
        <p:spPr>
          <a:xfrm xmlns:a="http://schemas.openxmlformats.org/drawingml/2006/main">
            <a:off x="11811000" y="77628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C48F6796-E3BA-4AED-AAC6-9924FE62975D}"/>
              </a:ext>
            </a:extLst>
          </p:cNvPr>
          <p:cNvSpPr>
            <a:spLocks xmlns:a="http://schemas.openxmlformats.org/drawingml/2006/main" noGrp="1"/>
          </p:cNvSpPr>
          <p:nvPr/>
        </p:nvSpPr>
        <p:spPr>
          <a:xfrm xmlns:a="http://schemas.openxmlformats.org/drawingml/2006/main">
            <a:off x="1238250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1" name="">
            <a:extLst xmlns:a="http://schemas.openxmlformats.org/drawingml/2006/main">
              <a:ext uri="{FF2B5EF4-FFF2-40B4-BE49-F238E27FC236}">
                <a16:creationId xmlns:a16="http://schemas.microsoft.com/office/drawing/2014/main" id="{7A2C0FBE-4C59-441D-A14A-4C1ACB6847DA}"/>
              </a:ext>
            </a:extLst>
          </p:cNvPr>
          <p:cNvSpPr>
            <a:spLocks xmlns:a="http://schemas.openxmlformats.org/drawingml/2006/main" noGrp="1"/>
          </p:cNvSpPr>
          <p:nvPr/>
        </p:nvSpPr>
        <p:spPr>
          <a:xfrm xmlns:a="http://schemas.openxmlformats.org/drawingml/2006/main">
            <a:off x="1255395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User Selection</a:t>
            </a:r>
          </a:p>
        </p:txBody>
      </p:sp>
      <p:sp>
        <p:nvSpPr>
          <p:cNvPr id="22" name="">
            <a:extLst xmlns:a="http://schemas.openxmlformats.org/drawingml/2006/main">
              <a:ext uri="{FF2B5EF4-FFF2-40B4-BE49-F238E27FC236}">
                <a16:creationId xmlns:a16="http://schemas.microsoft.com/office/drawing/2014/main" id="{DAF8100C-C0C4-48A0-91E6-FCB13824A81A}"/>
              </a:ext>
            </a:extLst>
          </p:cNvPr>
          <p:cNvSpPr>
            <a:spLocks xmlns:a="http://schemas.openxmlformats.org/drawingml/2006/main" noGrp="1"/>
          </p:cNvSpPr>
          <p:nvPr/>
        </p:nvSpPr>
        <p:spPr>
          <a:xfrm xmlns:a="http://schemas.openxmlformats.org/drawingml/2006/main">
            <a:off x="1238250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3" name="">
            <a:extLst xmlns:a="http://schemas.openxmlformats.org/drawingml/2006/main">
              <a:ext uri="{FF2B5EF4-FFF2-40B4-BE49-F238E27FC236}">
                <a16:creationId xmlns:a16="http://schemas.microsoft.com/office/drawing/2014/main" id="{13308F3E-150B-4F7F-89F5-18EA5704C407}"/>
              </a:ext>
            </a:extLst>
          </p:cNvPr>
          <p:cNvSpPr>
            <a:spLocks xmlns:a="http://schemas.openxmlformats.org/drawingml/2006/main" noGrp="1"/>
          </p:cNvSpPr>
          <p:nvPr/>
        </p:nvSpPr>
        <p:spPr>
          <a:xfrm xmlns:a="http://schemas.openxmlformats.org/drawingml/2006/main">
            <a:off x="1255395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Local Instance Setup</a:t>
            </a:r>
          </a:p>
        </p:txBody>
      </p:sp>
      <p:sp>
        <p:nvSpPr>
          <p:cNvPr id="24" name="">
            <a:extLst xmlns:a="http://schemas.openxmlformats.org/drawingml/2006/main">
              <a:ext uri="{FF2B5EF4-FFF2-40B4-BE49-F238E27FC236}">
                <a16:creationId xmlns:a16="http://schemas.microsoft.com/office/drawing/2014/main" id="{B7840CEE-1BF8-4326-9499-C2B8B7D30DEF}"/>
              </a:ext>
            </a:extLst>
          </p:cNvPr>
          <p:cNvSpPr>
            <a:spLocks xmlns:a="http://schemas.openxmlformats.org/drawingml/2006/main" noGrp="1"/>
          </p:cNvSpPr>
          <p:nvPr/>
        </p:nvSpPr>
        <p:spPr>
          <a:xfrm xmlns:a="http://schemas.openxmlformats.org/drawingml/2006/main">
            <a:off x="11811000" y="8829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A2A82346-FBDE-416F-8751-21FEE71F06CD}"/>
              </a:ext>
            </a:extLst>
          </p:cNvPr>
          <p:cNvSpPr>
            <a:spLocks xmlns:a="http://schemas.openxmlformats.org/drawingml/2006/main" noGrp="1"/>
          </p:cNvSpPr>
          <p:nvPr/>
        </p:nvSpPr>
        <p:spPr>
          <a:xfrm xmlns:a="http://schemas.openxmlformats.org/drawingml/2006/main">
            <a:off x="657225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6" name="">
            <a:extLst xmlns:a="http://schemas.openxmlformats.org/drawingml/2006/main">
              <a:ext uri="{FF2B5EF4-FFF2-40B4-BE49-F238E27FC236}">
                <a16:creationId xmlns:a16="http://schemas.microsoft.com/office/drawing/2014/main" id="{59320FC4-5AB1-4743-A574-A7A1CD5D6DDA}"/>
              </a:ext>
            </a:extLst>
          </p:cNvPr>
          <p:cNvSpPr>
            <a:spLocks xmlns:a="http://schemas.openxmlformats.org/drawingml/2006/main" noGrp="1"/>
          </p:cNvSpPr>
          <p:nvPr/>
        </p:nvSpPr>
        <p:spPr>
          <a:xfrm xmlns:a="http://schemas.openxmlformats.org/drawingml/2006/main">
            <a:off x="674370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Active Telemetry Check</a:t>
            </a:r>
          </a:p>
        </p:txBody>
      </p:sp>
      <p:sp>
        <p:nvSpPr>
          <p:cNvPr id="27" name="">
            <a:extLst xmlns:a="http://schemas.openxmlformats.org/drawingml/2006/main">
              <a:ext uri="{FF2B5EF4-FFF2-40B4-BE49-F238E27FC236}">
                <a16:creationId xmlns:a16="http://schemas.microsoft.com/office/drawing/2014/main" id="{F8F23C6E-3FAA-4C1D-A44D-BD897185901E}"/>
              </a:ext>
            </a:extLst>
          </p:cNvPr>
          <p:cNvSpPr>
            <a:spLocks xmlns:a="http://schemas.openxmlformats.org/drawingml/2006/main" noGrp="1"/>
          </p:cNvSpPr>
          <p:nvPr/>
        </p:nvSpPr>
        <p:spPr>
          <a:xfrm xmlns:a="http://schemas.openxmlformats.org/drawingml/2006/main">
            <a:off x="6000750" y="8829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5645D2CE-7EBC-4ED8-84CC-DF8DB25E4412}"/>
              </a:ext>
            </a:extLst>
          </p:cNvPr>
          <p:cNvSpPr>
            <a:spLocks xmlns:a="http://schemas.openxmlformats.org/drawingml/2006/main" noGrp="1"/>
          </p:cNvSpPr>
          <p:nvPr/>
        </p:nvSpPr>
        <p:spPr>
          <a:xfrm xmlns:a="http://schemas.openxmlformats.org/drawingml/2006/main">
            <a:off x="76200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9" name="">
            <a:extLst xmlns:a="http://schemas.openxmlformats.org/drawingml/2006/main">
              <a:ext uri="{FF2B5EF4-FFF2-40B4-BE49-F238E27FC236}">
                <a16:creationId xmlns:a16="http://schemas.microsoft.com/office/drawing/2014/main" id="{C5531FDF-82AC-4AE4-A92C-897ABA35E701}"/>
              </a:ext>
            </a:extLst>
          </p:cNvPr>
          <p:cNvSpPr>
            <a:spLocks xmlns:a="http://schemas.openxmlformats.org/drawingml/2006/main" noGrp="1"/>
          </p:cNvSpPr>
          <p:nvPr/>
        </p:nvSpPr>
        <p:spPr>
          <a:xfrm xmlns:a="http://schemas.openxmlformats.org/drawingml/2006/main">
            <a:off x="93345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Historical Log Archiving</a:t>
            </a:r>
          </a:p>
        </p:txBody>
      </p:sp>
      <p:sp>
        <p:nvSpPr>
          <p:cNvPr id="30" name="">
            <a:extLst xmlns:a="http://schemas.openxmlformats.org/drawingml/2006/main">
              <a:ext uri="{FF2B5EF4-FFF2-40B4-BE49-F238E27FC236}">
                <a16:creationId xmlns:a16="http://schemas.microsoft.com/office/drawing/2014/main" id="{E9219103-25FE-41ED-A4D1-226B4A0AC1B3}"/>
              </a:ext>
            </a:extLst>
          </p:cNvPr>
          <p:cNvSpPr>
            <a:spLocks xmlns:a="http://schemas.openxmlformats.org/drawingml/2006/main" noGrp="1"/>
          </p:cNvSpPr>
          <p:nvPr/>
        </p:nvSpPr>
        <p:spPr>
          <a:xfrm xmlns:a="http://schemas.openxmlformats.org/drawingml/2006/main">
            <a:off x="15430500" y="8286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Tree>
    <p:extLst>
      <p:ext uri="{BB962C8B-B14F-4D97-AF65-F5344CB8AC3E}">
        <p14:creationId xmlns:p14="http://schemas.microsoft.com/office/powerpoint/2010/main" val="6944465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06B15AE-BE6D-4424-9ACE-3E164ADF4321}"/>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Customer Interface Boundaries &amp; Data Flows</a:t>
            </a:r>
          </a:p>
        </p:txBody>
      </p:sp>
      <p:sp>
        <p:nvSpPr>
          <p:cNvPr id="2" name="">
            <a:extLst xmlns:a="http://schemas.openxmlformats.org/drawingml/2006/main">
              <a:ext uri="{FF2B5EF4-FFF2-40B4-BE49-F238E27FC236}">
                <a16:creationId xmlns:a16="http://schemas.microsoft.com/office/drawing/2014/main" id="{1411CA38-AD21-42A2-90DF-1C29CB450C57}"/>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Hard Architecture Limits and Privacy Separation</a:t>
            </a:r>
          </a:p>
        </p:txBody>
      </p:sp>
      <p:sp>
        <p:nvSpPr>
          <p:cNvPr id="3" name="">
            <a:extLst xmlns:a="http://schemas.openxmlformats.org/drawingml/2006/main">
              <a:ext uri="{FF2B5EF4-FFF2-40B4-BE49-F238E27FC236}">
                <a16:creationId xmlns:a16="http://schemas.microsoft.com/office/drawing/2014/main" id="{30CDC951-875C-4066-B0BB-45CCE70040F4}"/>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E8218A2B-219E-471A-8DFB-25FF8BA13FD2}"/>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1BA88284-DF74-44DE-93A7-E6B0C8A3A000}"/>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Overview: ORVIA maintains clear operational boundaries to ensure sensitive user logs never leave the customer's secure environment.</a:t>
            </a:r>
          </a:p>
        </p:txBody>
      </p:sp>
      <p:sp>
        <p:nvSpPr>
          <p:cNvPr id="6" name="">
            <a:extLst xmlns:a="http://schemas.openxmlformats.org/drawingml/2006/main">
              <a:ext uri="{FF2B5EF4-FFF2-40B4-BE49-F238E27FC236}">
                <a16:creationId xmlns:a16="http://schemas.microsoft.com/office/drawing/2014/main" id="{CAD822B3-160C-45A5-AE22-7C89325415A3}"/>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Operational Boundary Map:</a:t>
            </a:r>
          </a:p>
        </p:txBody>
      </p:sp>
      <p:sp>
        <p:nvSpPr>
          <p:cNvPr id="7" name="">
            <a:extLst xmlns:a="http://schemas.openxmlformats.org/drawingml/2006/main">
              <a:ext uri="{FF2B5EF4-FFF2-40B4-BE49-F238E27FC236}">
                <a16:creationId xmlns:a16="http://schemas.microsoft.com/office/drawing/2014/main" id="{CEA23223-6D92-4C29-8E3E-AA2F042DD9AF}"/>
              </a:ext>
            </a:extLst>
          </p:cNvPr>
          <p:cNvSpPr>
            <a:spLocks xmlns:a="http://schemas.openxmlformats.org/drawingml/2006/main" noGrp="1"/>
          </p:cNvSpPr>
          <p:nvPr/>
        </p:nvSpPr>
        <p:spPr>
          <a:xfrm xmlns:a="http://schemas.openxmlformats.org/drawingml/2006/main">
            <a:off x="1143000" y="3714750"/>
            <a:ext cx="16002000" cy="1524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3829DA3F-8B2C-4B47-A284-646F73E55E3B}"/>
              </a:ext>
            </a:extLst>
          </p:cNvPr>
          <p:cNvSpPr>
            <a:spLocks xmlns:a="http://schemas.openxmlformats.org/drawingml/2006/main" noGrp="1"/>
          </p:cNvSpPr>
          <p:nvPr/>
        </p:nvSpPr>
        <p:spPr>
          <a:xfrm xmlns:a="http://schemas.openxmlformats.org/drawingml/2006/main">
            <a:off x="1314450" y="3867150"/>
            <a:ext cx="15659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CUSTOMER DESKTOP / CLOUD NODE RUNTIME</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Local database tracking tables  • Native connector pipelines</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Active canary monitoring pools  • Anonymized telemetry summaries</a:t>
            </a:r>
          </a:p>
        </p:txBody>
      </p:sp>
      <p:sp>
        <p:nvSpPr>
          <p:cNvPr id="9" name="">
            <a:extLst xmlns:a="http://schemas.openxmlformats.org/drawingml/2006/main">
              <a:ext uri="{FF2B5EF4-FFF2-40B4-BE49-F238E27FC236}">
                <a16:creationId xmlns:a16="http://schemas.microsoft.com/office/drawing/2014/main" id="{903C7AEB-F784-4E0B-B4BF-8AEBE3957669}"/>
              </a:ext>
            </a:extLst>
          </p:cNvPr>
          <p:cNvSpPr>
            <a:spLocks xmlns:a="http://schemas.openxmlformats.org/drawingml/2006/main" noGrp="1"/>
          </p:cNvSpPr>
          <p:nvPr/>
        </p:nvSpPr>
        <p:spPr>
          <a:xfrm xmlns:a="http://schemas.openxmlformats.org/drawingml/2006/main">
            <a:off x="8763000" y="52482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B6266B99-8C64-4E4B-9290-2A4A2DD9049B}"/>
              </a:ext>
            </a:extLst>
          </p:cNvPr>
          <p:cNvSpPr>
            <a:spLocks xmlns:a="http://schemas.openxmlformats.org/drawingml/2006/main" noGrp="1"/>
          </p:cNvSpPr>
          <p:nvPr/>
        </p:nvSpPr>
        <p:spPr>
          <a:xfrm xmlns:a="http://schemas.openxmlformats.org/drawingml/2006/main">
            <a:off x="9715500" y="545782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35466"/>
                </a:solidFill>
                <a:latin typeface="Arial"/>
                <a:ea typeface="Arial"/>
                <a:cs typeface="Arial"/>
              </a:defRPr>
            </a:pPr>
            <a:r>
              <a:rPr sz="1875" b="0">
                <a:solidFill>
                  <a:srgbClr val="435466"/>
                </a:solidFill>
                <a:latin typeface="Arial"/>
                <a:ea typeface="Arial"/>
                <a:cs typeface="Arial"/>
              </a:rPr>
              <a:t>(Secure License Tokens Only)</a:t>
            </a:r>
          </a:p>
        </p:txBody>
      </p:sp>
      <p:sp>
        <p:nvSpPr>
          <p:cNvPr id="11" name="">
            <a:extLst xmlns:a="http://schemas.openxmlformats.org/drawingml/2006/main">
              <a:ext uri="{FF2B5EF4-FFF2-40B4-BE49-F238E27FC236}">
                <a16:creationId xmlns:a16="http://schemas.microsoft.com/office/drawing/2014/main" id="{058507E4-33FC-4478-BFBE-979D513BDE4A}"/>
              </a:ext>
            </a:extLst>
          </p:cNvPr>
          <p:cNvSpPr>
            <a:spLocks xmlns:a="http://schemas.openxmlformats.org/drawingml/2006/main" noGrp="1"/>
          </p:cNvSpPr>
          <p:nvPr/>
        </p:nvSpPr>
        <p:spPr>
          <a:xfrm xmlns:a="http://schemas.openxmlformats.org/drawingml/2006/main">
            <a:off x="1143000" y="6143625"/>
            <a:ext cx="16002000" cy="166687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BBA6D5C5-312C-4687-873F-804AEA3ED24B}"/>
              </a:ext>
            </a:extLst>
          </p:cNvPr>
          <p:cNvSpPr>
            <a:spLocks xmlns:a="http://schemas.openxmlformats.org/drawingml/2006/main" noGrp="1"/>
          </p:cNvSpPr>
          <p:nvPr/>
        </p:nvSpPr>
        <p:spPr>
          <a:xfrm xmlns:a="http://schemas.openxmlformats.org/drawingml/2006/main">
            <a:off x="1314450" y="6296025"/>
            <a:ext cx="15659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ORVIA VENDOR CLOUD ENDPOINT</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Cryptographic verification key registry</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Feature update packages and signed configuration files</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Anonymized technical support metrics</a:t>
            </a:r>
          </a:p>
        </p:txBody>
      </p:sp>
      <p:sp>
        <p:nvSpPr>
          <p:cNvPr id="13" name="">
            <a:extLst xmlns:a="http://schemas.openxmlformats.org/drawingml/2006/main">
              <a:ext uri="{FF2B5EF4-FFF2-40B4-BE49-F238E27FC236}">
                <a16:creationId xmlns:a16="http://schemas.microsoft.com/office/drawing/2014/main" id="{10850F8A-5372-45C2-9A7F-3FF08572FB4D}"/>
              </a:ext>
            </a:extLst>
          </p:cNvPr>
          <p:cNvSpPr>
            <a:spLocks xmlns:a="http://schemas.openxmlformats.org/drawingml/2006/main" noGrp="1"/>
          </p:cNvSpPr>
          <p:nvPr/>
        </p:nvSpPr>
        <p:spPr>
          <a:xfrm xmlns:a="http://schemas.openxmlformats.org/drawingml/2006/main">
            <a:off x="762000" y="8143875"/>
            <a:ext cx="1676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Core Architectural Guardrails:</a:t>
            </a:r>
          </a:p>
        </p:txBody>
      </p:sp>
      <p:sp>
        <p:nvSpPr>
          <p:cNvPr id="14" name="">
            <a:extLst xmlns:a="http://schemas.openxmlformats.org/drawingml/2006/main">
              <a:ext uri="{FF2B5EF4-FFF2-40B4-BE49-F238E27FC236}">
                <a16:creationId xmlns:a16="http://schemas.microsoft.com/office/drawing/2014/main" id="{25CAF63F-78ED-440A-B364-6F8016439E62}"/>
              </a:ext>
            </a:extLst>
          </p:cNvPr>
          <p:cNvSpPr>
            <a:spLocks xmlns:a="http://schemas.openxmlformats.org/drawingml/2006/main" noGrp="1"/>
          </p:cNvSpPr>
          <p:nvPr/>
        </p:nvSpPr>
        <p:spPr>
          <a:xfrm xmlns:a="http://schemas.openxmlformats.org/drawingml/2006/main">
            <a:off x="762000" y="8496300"/>
            <a:ext cx="1676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Zero Raw Data Storage: The vendor platform cannot read or store a client's customer identities, database keys, or telemetry content.</a:t>
            </a:r>
          </a:p>
        </p:txBody>
      </p:sp>
      <p:sp>
        <p:nvSpPr>
          <p:cNvPr id="15" name="">
            <a:extLst xmlns:a="http://schemas.openxmlformats.org/drawingml/2006/main">
              <a:ext uri="{FF2B5EF4-FFF2-40B4-BE49-F238E27FC236}">
                <a16:creationId xmlns:a16="http://schemas.microsoft.com/office/drawing/2014/main" id="{331EA213-6D1E-4A6A-B8E7-F06C9FCD4FAC}"/>
              </a:ext>
            </a:extLst>
          </p:cNvPr>
          <p:cNvSpPr>
            <a:spLocks xmlns:a="http://schemas.openxmlformats.org/drawingml/2006/main" noGrp="1"/>
          </p:cNvSpPr>
          <p:nvPr/>
        </p:nvSpPr>
        <p:spPr>
          <a:xfrm xmlns:a="http://schemas.openxmlformats.org/drawingml/2006/main">
            <a:off x="762000" y="8848725"/>
            <a:ext cx="1676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Isolated Telemetry Verification: The public verification URL (/verify/[digest]) presents a cryptographically signed cryptographic summary hash, proving system compliance without exposing personal data.</a:t>
            </a:r>
          </a:p>
        </p:txBody>
      </p:sp>
    </p:spTree>
    <p:extLst>
      <p:ext uri="{BB962C8B-B14F-4D97-AF65-F5344CB8AC3E}">
        <p14:creationId xmlns:p14="http://schemas.microsoft.com/office/powerpoint/2010/main" val="16008651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2D8A7F5-D502-4E03-BE73-C9FDCDD3F726}"/>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Plan &amp; Forward Strategy</a:t>
            </a:r>
          </a:p>
        </p:txBody>
      </p:sp>
      <p:sp>
        <p:nvSpPr>
          <p:cNvPr id="2" name="">
            <a:extLst xmlns:a="http://schemas.openxmlformats.org/drawingml/2006/main">
              <a:ext uri="{FF2B5EF4-FFF2-40B4-BE49-F238E27FC236}">
                <a16:creationId xmlns:a16="http://schemas.microsoft.com/office/drawing/2014/main" id="{C42806F8-B240-4382-B1FE-1FD17333656A}"/>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The Road to Production Release (Milestones, Dependencies, and Gates)</a:t>
            </a:r>
          </a:p>
        </p:txBody>
      </p:sp>
      <p:sp>
        <p:nvSpPr>
          <p:cNvPr id="3" name="">
            <a:extLst xmlns:a="http://schemas.openxmlformats.org/drawingml/2006/main">
              <a:ext uri="{FF2B5EF4-FFF2-40B4-BE49-F238E27FC236}">
                <a16:creationId xmlns:a16="http://schemas.microsoft.com/office/drawing/2014/main" id="{9C70F600-68A6-41EC-B277-BCF5811DF05E}"/>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3304AA04-D6DD-4423-8A68-7117497D13FB}"/>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FB803C05-942A-4AEA-92FF-BD415A47AC77}"/>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A structured execution strategy replaces high-level roadmaps, focusing engineering tasks on validation gates and production readiness.</a:t>
            </a:r>
          </a:p>
        </p:txBody>
      </p:sp>
      <p:sp>
        <p:nvSpPr>
          <p:cNvPr id="6" name="">
            <a:extLst xmlns:a="http://schemas.openxmlformats.org/drawingml/2006/main">
              <a:ext uri="{FF2B5EF4-FFF2-40B4-BE49-F238E27FC236}">
                <a16:creationId xmlns:a16="http://schemas.microsoft.com/office/drawing/2014/main" id="{DD49D6BA-9906-4B32-9472-0BB956F1C493}"/>
              </a:ext>
            </a:extLst>
          </p:cNvPr>
          <p:cNvSpPr>
            <a:spLocks xmlns:a="http://schemas.openxmlformats.org/drawingml/2006/main" noGrp="1"/>
          </p:cNvSpPr>
          <p:nvPr/>
        </p:nvSpPr>
        <p:spPr>
          <a:xfrm xmlns:a="http://schemas.openxmlformats.org/drawingml/2006/main">
            <a:off x="76200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1: SPRINT</a:t>
            </a:r>
          </a:p>
        </p:txBody>
      </p:sp>
      <p:sp>
        <p:nvSpPr>
          <p:cNvPr id="7" name="">
            <a:extLst xmlns:a="http://schemas.openxmlformats.org/drawingml/2006/main">
              <a:ext uri="{FF2B5EF4-FFF2-40B4-BE49-F238E27FC236}">
                <a16:creationId xmlns:a16="http://schemas.microsoft.com/office/drawing/2014/main" id="{4DA38595-4A3B-449D-B961-9ED4DEA29567}"/>
              </a:ext>
            </a:extLst>
          </p:cNvPr>
          <p:cNvSpPr>
            <a:spLocks xmlns:a="http://schemas.openxmlformats.org/drawingml/2006/main" noGrp="1"/>
          </p:cNvSpPr>
          <p:nvPr/>
        </p:nvSpPr>
        <p:spPr>
          <a:xfrm xmlns:a="http://schemas.openxmlformats.org/drawingml/2006/main">
            <a:off x="76200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AF00AC25-9D98-4FDD-AEFF-8F0F3CC572C2}"/>
              </a:ext>
            </a:extLst>
          </p:cNvPr>
          <p:cNvSpPr>
            <a:spLocks xmlns:a="http://schemas.openxmlformats.org/drawingml/2006/main" noGrp="1"/>
          </p:cNvSpPr>
          <p:nvPr/>
        </p:nvSpPr>
        <p:spPr>
          <a:xfrm xmlns:a="http://schemas.openxmlformats.org/drawingml/2006/main">
            <a:off x="93345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Freeze Code Baseline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Build Live Adapters</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Secure Pilot DB</a:t>
            </a:r>
          </a:p>
        </p:txBody>
      </p:sp>
      <p:sp>
        <p:nvSpPr>
          <p:cNvPr id="9" name="">
            <a:extLst xmlns:a="http://schemas.openxmlformats.org/drawingml/2006/main">
              <a:ext uri="{FF2B5EF4-FFF2-40B4-BE49-F238E27FC236}">
                <a16:creationId xmlns:a16="http://schemas.microsoft.com/office/drawing/2014/main" id="{C34CC4A6-92F2-44B7-BCDD-57BB97A695B2}"/>
              </a:ext>
            </a:extLst>
          </p:cNvPr>
          <p:cNvSpPr>
            <a:spLocks xmlns:a="http://schemas.openxmlformats.org/drawingml/2006/main" noGrp="1"/>
          </p:cNvSpPr>
          <p:nvPr/>
        </p:nvSpPr>
        <p:spPr>
          <a:xfrm xmlns:a="http://schemas.openxmlformats.org/drawingml/2006/main">
            <a:off x="459105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B4877888-7C3D-4CDA-8BA9-B8FE8E858718}"/>
              </a:ext>
            </a:extLst>
          </p:cNvPr>
          <p:cNvSpPr>
            <a:spLocks xmlns:a="http://schemas.openxmlformats.org/drawingml/2006/main" noGrp="1"/>
          </p:cNvSpPr>
          <p:nvPr/>
        </p:nvSpPr>
        <p:spPr>
          <a:xfrm xmlns:a="http://schemas.openxmlformats.org/drawingml/2006/main">
            <a:off x="504825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2: PROOF</a:t>
            </a:r>
          </a:p>
        </p:txBody>
      </p:sp>
      <p:sp>
        <p:nvSpPr>
          <p:cNvPr id="11" name="">
            <a:extLst xmlns:a="http://schemas.openxmlformats.org/drawingml/2006/main">
              <a:ext uri="{FF2B5EF4-FFF2-40B4-BE49-F238E27FC236}">
                <a16:creationId xmlns:a16="http://schemas.microsoft.com/office/drawing/2014/main" id="{606F3BD5-07D7-4513-96E1-43F3BFD1FEC8}"/>
              </a:ext>
            </a:extLst>
          </p:cNvPr>
          <p:cNvSpPr>
            <a:spLocks xmlns:a="http://schemas.openxmlformats.org/drawingml/2006/main" noGrp="1"/>
          </p:cNvSpPr>
          <p:nvPr/>
        </p:nvSpPr>
        <p:spPr>
          <a:xfrm xmlns:a="http://schemas.openxmlformats.org/drawingml/2006/main">
            <a:off x="504825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109E5728-831C-47B4-B068-66F487778A02}"/>
              </a:ext>
            </a:extLst>
          </p:cNvPr>
          <p:cNvSpPr>
            <a:spLocks xmlns:a="http://schemas.openxmlformats.org/drawingml/2006/main" noGrp="1"/>
          </p:cNvSpPr>
          <p:nvPr/>
        </p:nvSpPr>
        <p:spPr>
          <a:xfrm xmlns:a="http://schemas.openxmlformats.org/drawingml/2006/main">
            <a:off x="521970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Complete CI/CD Gate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Deploy Web-Probe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Generate Signed Card</a:t>
            </a:r>
          </a:p>
        </p:txBody>
      </p:sp>
      <p:sp>
        <p:nvSpPr>
          <p:cNvPr id="13" name="">
            <a:extLst xmlns:a="http://schemas.openxmlformats.org/drawingml/2006/main">
              <a:ext uri="{FF2B5EF4-FFF2-40B4-BE49-F238E27FC236}">
                <a16:creationId xmlns:a16="http://schemas.microsoft.com/office/drawing/2014/main" id="{FEA2CED9-67E3-48E9-927A-C562EA0E4E10}"/>
              </a:ext>
            </a:extLst>
          </p:cNvPr>
          <p:cNvSpPr>
            <a:spLocks xmlns:a="http://schemas.openxmlformats.org/drawingml/2006/main" noGrp="1"/>
          </p:cNvSpPr>
          <p:nvPr/>
        </p:nvSpPr>
        <p:spPr>
          <a:xfrm xmlns:a="http://schemas.openxmlformats.org/drawingml/2006/main">
            <a:off x="887730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B7332E1D-E547-405C-B8F4-1D1439BCE290}"/>
              </a:ext>
            </a:extLst>
          </p:cNvPr>
          <p:cNvSpPr>
            <a:spLocks xmlns:a="http://schemas.openxmlformats.org/drawingml/2006/main" noGrp="1"/>
          </p:cNvSpPr>
          <p:nvPr/>
        </p:nvSpPr>
        <p:spPr>
          <a:xfrm xmlns:a="http://schemas.openxmlformats.org/drawingml/2006/main">
            <a:off x="933450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3: COMPLY</a:t>
            </a:r>
          </a:p>
        </p:txBody>
      </p:sp>
      <p:sp>
        <p:nvSpPr>
          <p:cNvPr id="15" name="">
            <a:extLst xmlns:a="http://schemas.openxmlformats.org/drawingml/2006/main">
              <a:ext uri="{FF2B5EF4-FFF2-40B4-BE49-F238E27FC236}">
                <a16:creationId xmlns:a16="http://schemas.microsoft.com/office/drawing/2014/main" id="{8E0092F1-8FCB-46B1-8EC0-C8D0B9E1BA9A}"/>
              </a:ext>
            </a:extLst>
          </p:cNvPr>
          <p:cNvSpPr>
            <a:spLocks xmlns:a="http://schemas.openxmlformats.org/drawingml/2006/main" noGrp="1"/>
          </p:cNvSpPr>
          <p:nvPr/>
        </p:nvSpPr>
        <p:spPr>
          <a:xfrm xmlns:a="http://schemas.openxmlformats.org/drawingml/2006/main">
            <a:off x="933450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6" name="">
            <a:extLst xmlns:a="http://schemas.openxmlformats.org/drawingml/2006/main">
              <a:ext uri="{FF2B5EF4-FFF2-40B4-BE49-F238E27FC236}">
                <a16:creationId xmlns:a16="http://schemas.microsoft.com/office/drawing/2014/main" id="{C84592E2-6D71-4D39-8C7D-A417A42D5B00}"/>
              </a:ext>
            </a:extLst>
          </p:cNvPr>
          <p:cNvSpPr>
            <a:spLocks xmlns:a="http://schemas.openxmlformats.org/drawingml/2006/main" noGrp="1"/>
          </p:cNvSpPr>
          <p:nvPr/>
        </p:nvSpPr>
        <p:spPr>
          <a:xfrm xmlns:a="http://schemas.openxmlformats.org/drawingml/2006/main">
            <a:off x="950595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Run T01-T34 Testing</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Audit Data Models</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Lock Production KMS</a:t>
            </a:r>
          </a:p>
        </p:txBody>
      </p:sp>
      <p:sp>
        <p:nvSpPr>
          <p:cNvPr id="17" name="">
            <a:extLst xmlns:a="http://schemas.openxmlformats.org/drawingml/2006/main">
              <a:ext uri="{FF2B5EF4-FFF2-40B4-BE49-F238E27FC236}">
                <a16:creationId xmlns:a16="http://schemas.microsoft.com/office/drawing/2014/main" id="{17F4FB8E-4C39-415F-A68E-C6D9255E740C}"/>
              </a:ext>
            </a:extLst>
          </p:cNvPr>
          <p:cNvSpPr>
            <a:spLocks xmlns:a="http://schemas.openxmlformats.org/drawingml/2006/main" noGrp="1"/>
          </p:cNvSpPr>
          <p:nvPr/>
        </p:nvSpPr>
        <p:spPr>
          <a:xfrm xmlns:a="http://schemas.openxmlformats.org/drawingml/2006/main">
            <a:off x="1316355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45EEE5F5-7C50-44A6-8F5D-4DCAC23520CA}"/>
              </a:ext>
            </a:extLst>
          </p:cNvPr>
          <p:cNvSpPr>
            <a:spLocks xmlns:a="http://schemas.openxmlformats.org/drawingml/2006/main" noGrp="1"/>
          </p:cNvSpPr>
          <p:nvPr/>
        </p:nvSpPr>
        <p:spPr>
          <a:xfrm xmlns:a="http://schemas.openxmlformats.org/drawingml/2006/main">
            <a:off x="1362075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4: LAUNCH</a:t>
            </a:r>
          </a:p>
        </p:txBody>
      </p:sp>
      <p:sp>
        <p:nvSpPr>
          <p:cNvPr id="19" name="">
            <a:extLst xmlns:a="http://schemas.openxmlformats.org/drawingml/2006/main">
              <a:ext uri="{FF2B5EF4-FFF2-40B4-BE49-F238E27FC236}">
                <a16:creationId xmlns:a16="http://schemas.microsoft.com/office/drawing/2014/main" id="{C4D407A9-B126-4611-A4AD-30827CD29455}"/>
              </a:ext>
            </a:extLst>
          </p:cNvPr>
          <p:cNvSpPr>
            <a:spLocks xmlns:a="http://schemas.openxmlformats.org/drawingml/2006/main" noGrp="1"/>
          </p:cNvSpPr>
          <p:nvPr/>
        </p:nvSpPr>
        <p:spPr>
          <a:xfrm xmlns:a="http://schemas.openxmlformats.org/drawingml/2006/main">
            <a:off x="1362075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0" name="">
            <a:extLst xmlns:a="http://schemas.openxmlformats.org/drawingml/2006/main">
              <a:ext uri="{FF2B5EF4-FFF2-40B4-BE49-F238E27FC236}">
                <a16:creationId xmlns:a16="http://schemas.microsoft.com/office/drawing/2014/main" id="{ECAD543A-F895-4F22-BB82-AE4A522637DC}"/>
              </a:ext>
            </a:extLst>
          </p:cNvPr>
          <p:cNvSpPr>
            <a:spLocks xmlns:a="http://schemas.openxmlformats.org/drawingml/2006/main" noGrp="1"/>
          </p:cNvSpPr>
          <p:nvPr/>
        </p:nvSpPr>
        <p:spPr>
          <a:xfrm xmlns:a="http://schemas.openxmlformats.org/drawingml/2006/main">
            <a:off x="1379220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Secure Pilot Release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Generate Proof Card</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Initiate Expansion</a:t>
            </a:r>
          </a:p>
        </p:txBody>
      </p:sp>
      <p:sp>
        <p:nvSpPr>
          <p:cNvPr id="21" name="">
            <a:extLst xmlns:a="http://schemas.openxmlformats.org/drawingml/2006/main">
              <a:ext uri="{FF2B5EF4-FFF2-40B4-BE49-F238E27FC236}">
                <a16:creationId xmlns:a16="http://schemas.microsoft.com/office/drawing/2014/main" id="{094F8875-E23D-41CD-A744-8AC213977A18}"/>
              </a:ext>
            </a:extLst>
          </p:cNvPr>
          <p:cNvSpPr>
            <a:spLocks xmlns:a="http://schemas.openxmlformats.org/drawingml/2006/main" noGrp="1"/>
          </p:cNvSpPr>
          <p:nvPr/>
        </p:nvSpPr>
        <p:spPr>
          <a:xfrm xmlns:a="http://schemas.openxmlformats.org/drawingml/2006/main">
            <a:off x="762000" y="5781675"/>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1: The Core Production Sprint (Weeks 1–2)</a:t>
            </a:r>
          </a:p>
        </p:txBody>
      </p:sp>
      <p:sp>
        <p:nvSpPr>
          <p:cNvPr id="22" name="">
            <a:extLst xmlns:a="http://schemas.openxmlformats.org/drawingml/2006/main">
              <a:ext uri="{FF2B5EF4-FFF2-40B4-BE49-F238E27FC236}">
                <a16:creationId xmlns:a16="http://schemas.microsoft.com/office/drawing/2014/main" id="{8443E8E6-2290-4F0D-8D9D-4702D23DE685}"/>
              </a:ext>
            </a:extLst>
          </p:cNvPr>
          <p:cNvSpPr>
            <a:spLocks xmlns:a="http://schemas.openxmlformats.org/drawingml/2006/main" noGrp="1"/>
          </p:cNvSpPr>
          <p:nvPr/>
        </p:nvSpPr>
        <p:spPr>
          <a:xfrm xmlns:a="http://schemas.openxmlformats.org/drawingml/2006/main">
            <a:off x="762000" y="6120003"/>
            <a:ext cx="8096250" cy="886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Live PostgreSQL readback adapters, a functional SendGrid/Twilio communication adapter, and local canary infrastructure migrations.</a:t>
            </a:r>
          </a:p>
        </p:txBody>
      </p:sp>
      <p:sp>
        <p:nvSpPr>
          <p:cNvPr id="23" name="">
            <a:extLst xmlns:a="http://schemas.openxmlformats.org/drawingml/2006/main">
              <a:ext uri="{FF2B5EF4-FFF2-40B4-BE49-F238E27FC236}">
                <a16:creationId xmlns:a16="http://schemas.microsoft.com/office/drawing/2014/main" id="{73564AFC-B054-4265-908B-E29BF1A75CB6}"/>
              </a:ext>
            </a:extLst>
          </p:cNvPr>
          <p:cNvSpPr>
            <a:spLocks xmlns:a="http://schemas.openxmlformats.org/drawingml/2006/main" noGrp="1"/>
          </p:cNvSpPr>
          <p:nvPr/>
        </p:nvSpPr>
        <p:spPr>
          <a:xfrm xmlns:a="http://schemas.openxmlformats.org/drawingml/2006/main">
            <a:off x="762000" y="7006971"/>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Access to the developer repository branch and allowlisted non-production database targets.</a:t>
            </a:r>
          </a:p>
        </p:txBody>
      </p:sp>
      <p:sp>
        <p:nvSpPr>
          <p:cNvPr id="24" name="">
            <a:extLst xmlns:a="http://schemas.openxmlformats.org/drawingml/2006/main">
              <a:ext uri="{FF2B5EF4-FFF2-40B4-BE49-F238E27FC236}">
                <a16:creationId xmlns:a16="http://schemas.microsoft.com/office/drawing/2014/main" id="{54F0681D-AF12-429C-8CAC-FAB13938C823}"/>
              </a:ext>
            </a:extLst>
          </p:cNvPr>
          <p:cNvSpPr>
            <a:spLocks xmlns:a="http://schemas.openxmlformats.org/drawingml/2006/main" noGrp="1"/>
          </p:cNvSpPr>
          <p:nvPr/>
        </p:nvSpPr>
        <p:spPr>
          <a:xfrm xmlns:a="http://schemas.openxmlformats.org/drawingml/2006/main">
            <a:off x="762000" y="7619619"/>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The canary service must successfully catch a simulated tracking leak and log an error.</a:t>
            </a:r>
          </a:p>
        </p:txBody>
      </p:sp>
      <p:sp>
        <p:nvSpPr>
          <p:cNvPr id="25" name="">
            <a:extLst xmlns:a="http://schemas.openxmlformats.org/drawingml/2006/main">
              <a:ext uri="{FF2B5EF4-FFF2-40B4-BE49-F238E27FC236}">
                <a16:creationId xmlns:a16="http://schemas.microsoft.com/office/drawing/2014/main" id="{EF6021D9-F77B-468A-907C-F4C8F54CEB96}"/>
              </a:ext>
            </a:extLst>
          </p:cNvPr>
          <p:cNvSpPr>
            <a:spLocks xmlns:a="http://schemas.openxmlformats.org/drawingml/2006/main" noGrp="1"/>
          </p:cNvSpPr>
          <p:nvPr/>
        </p:nvSpPr>
        <p:spPr>
          <a:xfrm xmlns:a="http://schemas.openxmlformats.org/drawingml/2006/main">
            <a:off x="762000" y="8232267"/>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2: Security Assessment &amp; Release Verification (Weeks 3–4)</a:t>
            </a:r>
          </a:p>
        </p:txBody>
      </p:sp>
      <p:sp>
        <p:nvSpPr>
          <p:cNvPr id="26" name="">
            <a:extLst xmlns:a="http://schemas.openxmlformats.org/drawingml/2006/main">
              <a:ext uri="{FF2B5EF4-FFF2-40B4-BE49-F238E27FC236}">
                <a16:creationId xmlns:a16="http://schemas.microsoft.com/office/drawing/2014/main" id="{ECB5968C-EC28-4EFF-B3EC-569F1591CDC2}"/>
              </a:ext>
            </a:extLst>
          </p:cNvPr>
          <p:cNvSpPr>
            <a:spLocks xmlns:a="http://schemas.openxmlformats.org/drawingml/2006/main" noGrp="1"/>
          </p:cNvSpPr>
          <p:nvPr/>
        </p:nvSpPr>
        <p:spPr>
          <a:xfrm xmlns:a="http://schemas.openxmlformats.org/drawingml/2006/main">
            <a:off x="762000" y="8570595"/>
            <a:ext cx="8096250" cy="886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The complete Playwright web scanning tool, the public verification dashboard, and a production-grade encryption key infrastructure.</a:t>
            </a:r>
          </a:p>
        </p:txBody>
      </p:sp>
      <p:sp>
        <p:nvSpPr>
          <p:cNvPr id="27" name="">
            <a:extLst xmlns:a="http://schemas.openxmlformats.org/drawingml/2006/main">
              <a:ext uri="{FF2B5EF4-FFF2-40B4-BE49-F238E27FC236}">
                <a16:creationId xmlns:a16="http://schemas.microsoft.com/office/drawing/2014/main" id="{41690FF8-85C0-4CBD-9ED8-443BB8F387D7}"/>
              </a:ext>
            </a:extLst>
          </p:cNvPr>
          <p:cNvSpPr>
            <a:spLocks xmlns:a="http://schemas.openxmlformats.org/drawingml/2006/main" noGrp="1"/>
          </p:cNvSpPr>
          <p:nvPr/>
        </p:nvSpPr>
        <p:spPr>
          <a:xfrm xmlns:a="http://schemas.openxmlformats.org/drawingml/2006/main">
            <a:off x="9429750" y="5781675"/>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Successful completion of Milestone 1 and final code reviews.</a:t>
            </a:r>
          </a:p>
        </p:txBody>
      </p:sp>
      <p:sp>
        <p:nvSpPr>
          <p:cNvPr id="28" name="">
            <a:extLst xmlns:a="http://schemas.openxmlformats.org/drawingml/2006/main">
              <a:ext uri="{FF2B5EF4-FFF2-40B4-BE49-F238E27FC236}">
                <a16:creationId xmlns:a16="http://schemas.microsoft.com/office/drawing/2014/main" id="{D1319689-F203-4245-860B-BBB01BEAED28}"/>
              </a:ext>
            </a:extLst>
          </p:cNvPr>
          <p:cNvSpPr>
            <a:spLocks xmlns:a="http://schemas.openxmlformats.org/drawingml/2006/main" noGrp="1"/>
          </p:cNvSpPr>
          <p:nvPr/>
        </p:nvSpPr>
        <p:spPr>
          <a:xfrm xmlns:a="http://schemas.openxmlformats.org/drawingml/2006/main">
            <a:off x="9429750" y="6394323"/>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Passing the T01 to T34 integration test suites with zero errors.</a:t>
            </a:r>
          </a:p>
        </p:txBody>
      </p:sp>
      <p:sp>
        <p:nvSpPr>
          <p:cNvPr id="29" name="">
            <a:extLst xmlns:a="http://schemas.openxmlformats.org/drawingml/2006/main">
              <a:ext uri="{FF2B5EF4-FFF2-40B4-BE49-F238E27FC236}">
                <a16:creationId xmlns:a16="http://schemas.microsoft.com/office/drawing/2014/main" id="{04C07159-F99A-407F-A050-05363AE4DA66}"/>
              </a:ext>
            </a:extLst>
          </p:cNvPr>
          <p:cNvSpPr>
            <a:spLocks xmlns:a="http://schemas.openxmlformats.org/drawingml/2006/main" noGrp="1"/>
          </p:cNvSpPr>
          <p:nvPr/>
        </p:nvSpPr>
        <p:spPr>
          <a:xfrm xmlns:a="http://schemas.openxmlformats.org/drawingml/2006/main">
            <a:off x="9429750" y="7006971"/>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3: Customer Onboarding &amp; Regional Scaling (Month 2+)</a:t>
            </a:r>
          </a:p>
        </p:txBody>
      </p:sp>
      <p:sp>
        <p:nvSpPr>
          <p:cNvPr id="30" name="">
            <a:extLst xmlns:a="http://schemas.openxmlformats.org/drawingml/2006/main">
              <a:ext uri="{FF2B5EF4-FFF2-40B4-BE49-F238E27FC236}">
                <a16:creationId xmlns:a16="http://schemas.microsoft.com/office/drawing/2014/main" id="{B3A4F8EA-925A-408D-8C86-67197857238A}"/>
              </a:ext>
            </a:extLst>
          </p:cNvPr>
          <p:cNvSpPr>
            <a:spLocks xmlns:a="http://schemas.openxmlformats.org/drawingml/2006/main" noGrp="1"/>
          </p:cNvSpPr>
          <p:nvPr/>
        </p:nvSpPr>
        <p:spPr>
          <a:xfrm xmlns:a="http://schemas.openxmlformats.org/drawingml/2006/main">
            <a:off x="9429750" y="7345299"/>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Deployment of the 22-language notice validation hook and multi-region regulatory configurations.</a:t>
            </a:r>
          </a:p>
        </p:txBody>
      </p:sp>
      <p:sp>
        <p:nvSpPr>
          <p:cNvPr id="31" name="">
            <a:extLst xmlns:a="http://schemas.openxmlformats.org/drawingml/2006/main">
              <a:ext uri="{FF2B5EF4-FFF2-40B4-BE49-F238E27FC236}">
                <a16:creationId xmlns:a16="http://schemas.microsoft.com/office/drawing/2014/main" id="{520F790B-CD23-434D-AC62-48FFD3A1BF42}"/>
              </a:ext>
            </a:extLst>
          </p:cNvPr>
          <p:cNvSpPr>
            <a:spLocks xmlns:a="http://schemas.openxmlformats.org/drawingml/2006/main" noGrp="1"/>
          </p:cNvSpPr>
          <p:nvPr/>
        </p:nvSpPr>
        <p:spPr>
          <a:xfrm xmlns:a="http://schemas.openxmlformats.org/drawingml/2006/main">
            <a:off x="9429750" y="7957947"/>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Signed agreements with pilot enterprises and stable versions of the DPDPA Rules.</a:t>
            </a:r>
          </a:p>
        </p:txBody>
      </p:sp>
      <p:sp>
        <p:nvSpPr>
          <p:cNvPr id="32" name="">
            <a:extLst xmlns:a="http://schemas.openxmlformats.org/drawingml/2006/main">
              <a:ext uri="{FF2B5EF4-FFF2-40B4-BE49-F238E27FC236}">
                <a16:creationId xmlns:a16="http://schemas.microsoft.com/office/drawing/2014/main" id="{062FA873-3535-4111-BA47-C99227B9E0FE}"/>
              </a:ext>
            </a:extLst>
          </p:cNvPr>
          <p:cNvSpPr>
            <a:spLocks xmlns:a="http://schemas.openxmlformats.org/drawingml/2006/main" noGrp="1"/>
          </p:cNvSpPr>
          <p:nvPr/>
        </p:nvSpPr>
        <p:spPr>
          <a:xfrm xmlns:a="http://schemas.openxmlformats.org/drawingml/2006/main">
            <a:off x="9429750" y="8570595"/>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Successful verification logs generated across three distinct enterprise test environments.</a:t>
            </a:r>
          </a:p>
        </p:txBody>
      </p:sp>
    </p:spTree>
    <p:extLst>
      <p:ext uri="{BB962C8B-B14F-4D97-AF65-F5344CB8AC3E}">
        <p14:creationId xmlns:p14="http://schemas.microsoft.com/office/powerpoint/2010/main" val="3646851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16D6396-F22C-4970-B1B5-2DC5E00B2502}"/>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Research Appendix</a:t>
            </a:r>
          </a:p>
        </p:txBody>
      </p:sp>
      <p:sp>
        <p:nvSpPr>
          <p:cNvPr id="2" name="">
            <a:extLst xmlns:a="http://schemas.openxmlformats.org/drawingml/2006/main">
              <a:ext uri="{FF2B5EF4-FFF2-40B4-BE49-F238E27FC236}">
                <a16:creationId xmlns:a16="http://schemas.microsoft.com/office/drawing/2014/main" id="{6DDD9B1A-D371-4079-88A3-3CB966A00F44}"/>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Source Grounding and Technical Authorities</a:t>
            </a:r>
          </a:p>
        </p:txBody>
      </p:sp>
      <p:sp>
        <p:nvSpPr>
          <p:cNvPr id="3" name="">
            <a:extLst xmlns:a="http://schemas.openxmlformats.org/drawingml/2006/main">
              <a:ext uri="{FF2B5EF4-FFF2-40B4-BE49-F238E27FC236}">
                <a16:creationId xmlns:a16="http://schemas.microsoft.com/office/drawing/2014/main" id="{CD18ACD7-E684-44C1-81C2-8CA54F43418A}"/>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AEFECEAB-25C9-4CF5-A069-4776893CDFA9}"/>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1DC9CB7E-E409-4670-99A2-FE9B806603F3}"/>
              </a:ext>
            </a:extLst>
          </p:cNvPr>
          <p:cNvSpPr>
            <a:spLocks xmlns:a="http://schemas.openxmlformats.org/drawingml/2006/main" noGrp="1"/>
          </p:cNvSpPr>
          <p:nvPr/>
        </p:nvSpPr>
        <p:spPr>
          <a:xfrm xmlns:a="http://schemas.openxmlformats.org/drawingml/2006/main">
            <a:off x="762000" y="232410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Statutory Foundations:</a:t>
            </a:r>
          </a:p>
        </p:txBody>
      </p:sp>
      <p:sp>
        <p:nvSpPr>
          <p:cNvPr id="6" name="">
            <a:extLst xmlns:a="http://schemas.openxmlformats.org/drawingml/2006/main">
              <a:ext uri="{FF2B5EF4-FFF2-40B4-BE49-F238E27FC236}">
                <a16:creationId xmlns:a16="http://schemas.microsoft.com/office/drawing/2014/main" id="{74E06880-D609-4189-82CE-F9A9BF8D643A}"/>
              </a:ext>
            </a:extLst>
          </p:cNvPr>
          <p:cNvSpPr>
            <a:spLocks xmlns:a="http://schemas.openxmlformats.org/drawingml/2006/main" noGrp="1"/>
          </p:cNvSpPr>
          <p:nvPr/>
        </p:nvSpPr>
        <p:spPr>
          <a:xfrm xmlns:a="http://schemas.openxmlformats.org/drawingml/2006/main">
            <a:off x="762000" y="2747010"/>
            <a:ext cx="8096250" cy="1451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Digital Personal Data Protection Act (DPDPA 2023): Focuses on Sections 5 (Notice Obligations), 6 (Consent Parameters), 8 (Data Protection Duties), and 9 (Child-Safety Protections).</a:t>
            </a:r>
          </a:p>
        </p:txBody>
      </p:sp>
      <p:sp>
        <p:nvSpPr>
          <p:cNvPr id="7" name="">
            <a:extLst xmlns:a="http://schemas.openxmlformats.org/drawingml/2006/main">
              <a:ext uri="{FF2B5EF4-FFF2-40B4-BE49-F238E27FC236}">
                <a16:creationId xmlns:a16="http://schemas.microsoft.com/office/drawing/2014/main" id="{3D57AD55-050C-4D19-AC96-5ABCB0FF8B24}"/>
              </a:ext>
            </a:extLst>
          </p:cNvPr>
          <p:cNvSpPr>
            <a:spLocks xmlns:a="http://schemas.openxmlformats.org/drawingml/2006/main" noGrp="1"/>
          </p:cNvSpPr>
          <p:nvPr/>
        </p:nvSpPr>
        <p:spPr>
          <a:xfrm xmlns:a="http://schemas.openxmlformats.org/drawingml/2006/main">
            <a:off x="762000" y="41986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MeitY Regulatory Update Guidelines (Rules 2025): Defines notified timelines, Consent Manager registration criteria, and reporting procedures.</a:t>
            </a:r>
          </a:p>
        </p:txBody>
      </p:sp>
      <p:sp>
        <p:nvSpPr>
          <p:cNvPr id="8" name="">
            <a:extLst xmlns:a="http://schemas.openxmlformats.org/drawingml/2006/main">
              <a:ext uri="{FF2B5EF4-FFF2-40B4-BE49-F238E27FC236}">
                <a16:creationId xmlns:a16="http://schemas.microsoft.com/office/drawing/2014/main" id="{29F73780-EA55-4D22-81FE-C7C90A03C21F}"/>
              </a:ext>
            </a:extLst>
          </p:cNvPr>
          <p:cNvSpPr>
            <a:spLocks xmlns:a="http://schemas.openxmlformats.org/drawingml/2006/main" noGrp="1"/>
          </p:cNvSpPr>
          <p:nvPr/>
        </p:nvSpPr>
        <p:spPr>
          <a:xfrm xmlns:a="http://schemas.openxmlformats.org/drawingml/2006/main">
            <a:off x="762000" y="530733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CERT-In Cyber Security Directions: Establishes the 6-hour incident notification requirement and data logging rules.</a:t>
            </a:r>
          </a:p>
        </p:txBody>
      </p:sp>
      <p:sp>
        <p:nvSpPr>
          <p:cNvPr id="9" name="">
            <a:extLst xmlns:a="http://schemas.openxmlformats.org/drawingml/2006/main">
              <a:ext uri="{FF2B5EF4-FFF2-40B4-BE49-F238E27FC236}">
                <a16:creationId xmlns:a16="http://schemas.microsoft.com/office/drawing/2014/main" id="{2AC5E647-39F4-41F8-95F5-27C3834AE6E9}"/>
              </a:ext>
            </a:extLst>
          </p:cNvPr>
          <p:cNvSpPr>
            <a:spLocks xmlns:a="http://schemas.openxmlformats.org/drawingml/2006/main" noGrp="1"/>
          </p:cNvSpPr>
          <p:nvPr/>
        </p:nvSpPr>
        <p:spPr>
          <a:xfrm xmlns:a="http://schemas.openxmlformats.org/drawingml/2006/main">
            <a:off x="762000" y="641604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Competitor Documentation Baselines:</a:t>
            </a:r>
          </a:p>
        </p:txBody>
      </p:sp>
      <p:sp>
        <p:nvSpPr>
          <p:cNvPr id="10" name="">
            <a:extLst xmlns:a="http://schemas.openxmlformats.org/drawingml/2006/main">
              <a:ext uri="{FF2B5EF4-FFF2-40B4-BE49-F238E27FC236}">
                <a16:creationId xmlns:a16="http://schemas.microsoft.com/office/drawing/2014/main" id="{91F8BC4B-1047-4CB2-ABA0-6A078B1F823E}"/>
              </a:ext>
            </a:extLst>
          </p:cNvPr>
          <p:cNvSpPr>
            <a:spLocks xmlns:a="http://schemas.openxmlformats.org/drawingml/2006/main" noGrp="1"/>
          </p:cNvSpPr>
          <p:nvPr/>
        </p:nvSpPr>
        <p:spPr>
          <a:xfrm xmlns:a="http://schemas.openxmlformats.org/drawingml/2006/main">
            <a:off x="9429750" y="232410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OneTrust Global Architecture Suite: Product blueprints covering automated consent tracking and preference registries.</a:t>
            </a:r>
          </a:p>
        </p:txBody>
      </p:sp>
      <p:sp>
        <p:nvSpPr>
          <p:cNvPr id="11" name="">
            <a:extLst xmlns:a="http://schemas.openxmlformats.org/drawingml/2006/main">
              <a:ext uri="{FF2B5EF4-FFF2-40B4-BE49-F238E27FC236}">
                <a16:creationId xmlns:a16="http://schemas.microsoft.com/office/drawing/2014/main" id="{A215CBB9-959C-4B30-B06F-21149A343811}"/>
              </a:ext>
            </a:extLst>
          </p:cNvPr>
          <p:cNvSpPr>
            <a:spLocks xmlns:a="http://schemas.openxmlformats.org/drawingml/2006/main" noGrp="1"/>
          </p:cNvSpPr>
          <p:nvPr/>
        </p:nvSpPr>
        <p:spPr>
          <a:xfrm xmlns:a="http://schemas.openxmlformats.org/drawingml/2006/main">
            <a:off x="9429750" y="343281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Vanta Automated Testing Framework: Structural configurations for continuous control checks and audit log collection.</a:t>
            </a:r>
          </a:p>
        </p:txBody>
      </p:sp>
      <p:sp>
        <p:nvSpPr>
          <p:cNvPr id="12" name="">
            <a:extLst xmlns:a="http://schemas.openxmlformats.org/drawingml/2006/main">
              <a:ext uri="{FF2B5EF4-FFF2-40B4-BE49-F238E27FC236}">
                <a16:creationId xmlns:a16="http://schemas.microsoft.com/office/drawing/2014/main" id="{CAA9F014-45BD-4DA8-A6D9-E390C0D2F18B}"/>
              </a:ext>
            </a:extLst>
          </p:cNvPr>
          <p:cNvSpPr>
            <a:spLocks xmlns:a="http://schemas.openxmlformats.org/drawingml/2006/main" noGrp="1"/>
          </p:cNvSpPr>
          <p:nvPr/>
        </p:nvSpPr>
        <p:spPr>
          <a:xfrm xmlns:a="http://schemas.openxmlformats.org/drawingml/2006/main">
            <a:off x="9429750" y="454152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Localized Indian Platforms: Process tracking features derived from Redacto, IDfy Privy, and miniOrange.</a:t>
            </a:r>
          </a:p>
        </p:txBody>
      </p:sp>
      <p:sp>
        <p:nvSpPr>
          <p:cNvPr id="13" name="">
            <a:extLst xmlns:a="http://schemas.openxmlformats.org/drawingml/2006/main">
              <a:ext uri="{FF2B5EF4-FFF2-40B4-BE49-F238E27FC236}">
                <a16:creationId xmlns:a16="http://schemas.microsoft.com/office/drawing/2014/main" id="{A37DCDF5-BBE5-4D68-B332-58328E2A2B4F}"/>
              </a:ext>
            </a:extLst>
          </p:cNvPr>
          <p:cNvSpPr>
            <a:spLocks xmlns:a="http://schemas.openxmlformats.org/drawingml/2006/main" noGrp="1"/>
          </p:cNvSpPr>
          <p:nvPr/>
        </p:nvSpPr>
        <p:spPr>
          <a:xfrm xmlns:a="http://schemas.openxmlformats.org/drawingml/2006/main">
            <a:off x="9429750" y="530733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Technical Engineering Frameworks:</a:t>
            </a:r>
          </a:p>
        </p:txBody>
      </p:sp>
      <p:sp>
        <p:nvSpPr>
          <p:cNvPr id="14" name="">
            <a:extLst xmlns:a="http://schemas.openxmlformats.org/drawingml/2006/main">
              <a:ext uri="{FF2B5EF4-FFF2-40B4-BE49-F238E27FC236}">
                <a16:creationId xmlns:a16="http://schemas.microsoft.com/office/drawing/2014/main" id="{8D835ABC-880D-485B-BC16-50B577AAF638}"/>
              </a:ext>
            </a:extLst>
          </p:cNvPr>
          <p:cNvSpPr>
            <a:spLocks xmlns:a="http://schemas.openxmlformats.org/drawingml/2006/main" noGrp="1"/>
          </p:cNvSpPr>
          <p:nvPr/>
        </p:nvSpPr>
        <p:spPr>
          <a:xfrm xmlns:a="http://schemas.openxmlformats.org/drawingml/2006/main">
            <a:off x="9429750" y="573024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NIST Privacy Framework (V1.1): Controls for automated data mapping and continuous telemetry checking.</a:t>
            </a:r>
          </a:p>
        </p:txBody>
      </p:sp>
      <p:sp>
        <p:nvSpPr>
          <p:cNvPr id="15" name="">
            <a:extLst xmlns:a="http://schemas.openxmlformats.org/drawingml/2006/main">
              <a:ext uri="{FF2B5EF4-FFF2-40B4-BE49-F238E27FC236}">
                <a16:creationId xmlns:a16="http://schemas.microsoft.com/office/drawing/2014/main" id="{DF4E891A-4913-455A-815C-7F18F620C9A7}"/>
              </a:ext>
            </a:extLst>
          </p:cNvPr>
          <p:cNvSpPr>
            <a:spLocks xmlns:a="http://schemas.openxmlformats.org/drawingml/2006/main" noGrp="1"/>
          </p:cNvSpPr>
          <p:nvPr/>
        </p:nvSpPr>
        <p:spPr>
          <a:xfrm xmlns:a="http://schemas.openxmlformats.org/drawingml/2006/main">
            <a:off x="9429750" y="649605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ISO/IEC 27701 Architecture Standards: Reference patterns for separating database execution paths from verification tracking routines.</a:t>
            </a:r>
          </a:p>
        </p:txBody>
      </p:sp>
    </p:spTree>
    <p:extLst>
      <p:ext uri="{BB962C8B-B14F-4D97-AF65-F5344CB8AC3E}">
        <p14:creationId xmlns:p14="http://schemas.microsoft.com/office/powerpoint/2010/main" val="17378056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2026-09-28T13:15:29.4180000Z</dcterms:created>
  <dcterms:modified xsi:type="dcterms:W3CDTF">2026-09-28T13:15:29.4190000Z</dcterms:modified>
</coreProperties>
</file>