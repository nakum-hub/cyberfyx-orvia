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4668d98ace64faf" /><Relationship Type="http://schemas.openxmlformats.org/officeDocument/2006/relationships/extended-properties" Target="/docProps/app.xml" Id="R51eb6ed274a948c4" /><Relationship Type="http://schemas.openxmlformats.org/officeDocument/2006/relationships/officeDocument" Target="/ppt/presentation.xml" Id="R11f505d520ed449b" /></Relationships>
</file>

<file path=ppt/presentation.xml><?xml version="1.0" encoding="utf-8"?>
<p:presentation xmlns:p="http://schemas.openxmlformats.org/presentationml/2006/main">
  <p:sldMasterIdLst>
    <p:sldMasterId xmlns:r="http://schemas.openxmlformats.org/officeDocument/2006/relationships" id="2147483648" r:id="R2167766ec1e14ab4"/>
  </p:sldMasterIdLst>
  <p:notesMasterIdLst>
    <p:notesMasterId xmlns:r="http://schemas.openxmlformats.org/officeDocument/2006/relationships" r:id="Rf06b0a8ded0d448a"/>
  </p:notesMasterIdLst>
  <p:sldIdLst>
    <p:sldId xmlns:r="http://schemas.openxmlformats.org/officeDocument/2006/relationships" id="256" r:id="R509237c79da241c4"/>
    <p:sldId xmlns:r="http://schemas.openxmlformats.org/officeDocument/2006/relationships" id="257" r:id="R40efaaa377e047ef"/>
    <p:sldId xmlns:r="http://schemas.openxmlformats.org/officeDocument/2006/relationships" id="258" r:id="Rf100d1ee79414294"/>
    <p:sldId xmlns:r="http://schemas.openxmlformats.org/officeDocument/2006/relationships" id="259" r:id="Rbf197c58e45e4eee"/>
    <p:sldId xmlns:r="http://schemas.openxmlformats.org/officeDocument/2006/relationships" id="260" r:id="Rc4f487e9d075443b"/>
    <p:sldId xmlns:r="http://schemas.openxmlformats.org/officeDocument/2006/relationships" id="261" r:id="R1ca93b099a98473a"/>
    <p:sldId xmlns:r="http://schemas.openxmlformats.org/officeDocument/2006/relationships" id="262" r:id="Rfa45336495924971"/>
    <p:sldId xmlns:r="http://schemas.openxmlformats.org/officeDocument/2006/relationships" id="263" r:id="Ra22e207a86864215"/>
    <p:sldId xmlns:r="http://schemas.openxmlformats.org/officeDocument/2006/relationships" id="264" r:id="Recdfff57618b4806"/>
    <p:sldId xmlns:r="http://schemas.openxmlformats.org/officeDocument/2006/relationships" id="265" r:id="R3fa1d1afba46411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cd5d8c343844e49" /><Relationship Type="http://schemas.openxmlformats.org/officeDocument/2006/relationships/slideMaster" Target="/ppt/slideMasters/slideMaster1.xml" Id="R2167766ec1e14ab4" /><Relationship Type="http://schemas.openxmlformats.org/officeDocument/2006/relationships/notesMaster" Target="/ppt/notesMasters/notesMaster1.xml" Id="Rf06b0a8ded0d448a" /><Relationship Type="http://schemas.openxmlformats.org/officeDocument/2006/relationships/presProps" Target="/ppt/presProps.xml" Id="R61e7fc6a772445ab" /><Relationship Type="http://schemas.openxmlformats.org/officeDocument/2006/relationships/tableStyles" Target="/ppt/tableStyles.xml" Id="R402d035cb46b410e" /><Relationship Type="http://schemas.openxmlformats.org/officeDocument/2006/relationships/slide" Target="/ppt/slides/slide1.xml" Id="R509237c79da241c4" /><Relationship Type="http://schemas.openxmlformats.org/officeDocument/2006/relationships/slide" Target="/ppt/slides/slide2.xml" Id="R40efaaa377e047ef" /><Relationship Type="http://schemas.openxmlformats.org/officeDocument/2006/relationships/slide" Target="/ppt/slides/slide3.xml" Id="Rf100d1ee79414294" /><Relationship Type="http://schemas.openxmlformats.org/officeDocument/2006/relationships/slide" Target="/ppt/slides/slide4.xml" Id="Rbf197c58e45e4eee" /><Relationship Type="http://schemas.openxmlformats.org/officeDocument/2006/relationships/slide" Target="/ppt/slides/slide5.xml" Id="Rc4f487e9d075443b" /><Relationship Type="http://schemas.openxmlformats.org/officeDocument/2006/relationships/slide" Target="/ppt/slides/slide6.xml" Id="R1ca93b099a98473a" /><Relationship Type="http://schemas.openxmlformats.org/officeDocument/2006/relationships/slide" Target="/ppt/slides/slide7.xml" Id="Rfa45336495924971" /><Relationship Type="http://schemas.openxmlformats.org/officeDocument/2006/relationships/slide" Target="/ppt/slides/slide8.xml" Id="Ra22e207a86864215" /><Relationship Type="http://schemas.openxmlformats.org/officeDocument/2006/relationships/slide" Target="/ppt/slides/slide9.xml" Id="Recdfff57618b4806" /><Relationship Type="http://schemas.openxmlformats.org/officeDocument/2006/relationships/slide" Target="/ppt/slides/slide10.xml" Id="R3fa1d1afba46411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21d3e98c7246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ac3955bc564a6f" /><Relationship Type="http://schemas.openxmlformats.org/officeDocument/2006/relationships/notesMaster" Target="/ppt/notesMasters/notesMaster1.xml" Id="Rce89f1aa57704b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c28e10a7af472c" /><Relationship Type="http://schemas.openxmlformats.org/officeDocument/2006/relationships/notesMaster" Target="/ppt/notesMasters/notesMaster1.xml" Id="R7813e7e1ac7a44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b7a4c4cbd2479c" /><Relationship Type="http://schemas.openxmlformats.org/officeDocument/2006/relationships/notesMaster" Target="/ppt/notesMasters/notesMaster1.xml" Id="R1d647c0c6f8c4e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62b98b288c4be5" /><Relationship Type="http://schemas.openxmlformats.org/officeDocument/2006/relationships/notesMaster" Target="/ppt/notesMasters/notesMaster1.xml" Id="R01cde106b82246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9e151820de04b25" /><Relationship Type="http://schemas.openxmlformats.org/officeDocument/2006/relationships/notesMaster" Target="/ppt/notesMasters/notesMaster1.xml" Id="R87de4bff870549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87073cf7ba4791" /><Relationship Type="http://schemas.openxmlformats.org/officeDocument/2006/relationships/notesMaster" Target="/ppt/notesMasters/notesMaster1.xml" Id="R70ea9b47c7164c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9bb91aa62a4fda" /><Relationship Type="http://schemas.openxmlformats.org/officeDocument/2006/relationships/notesMaster" Target="/ppt/notesMasters/notesMaster1.xml" Id="R17416403f0fc4d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2b3da6579c4514" /><Relationship Type="http://schemas.openxmlformats.org/officeDocument/2006/relationships/notesMaster" Target="/ppt/notesMasters/notesMaster1.xml" Id="Rcbd426c9064540e5"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728124d3304c6d" /><Relationship Type="http://schemas.openxmlformats.org/officeDocument/2006/relationships/notesMaster" Target="/ppt/notesMasters/notesMaster1.xml" Id="R96ba307a8cad42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c8f6aeb87d14847" /><Relationship Type="http://schemas.openxmlformats.org/officeDocument/2006/relationships/notesMaster" Target="/ppt/notesMasters/notesMaster1.xml" Id="Rf885f255e3b44bd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ORVIA_Leadership_Market_Position_2026-09-25.pdf, opening product case. Scope: customer-local synthetic engineering profile; no production acceptance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product case. The documented path is demonstrated with synthetic/local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§1. Base synthetic Aster/Birch tests and merged DPDP code have different qualification depth.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comparison pages and §2. Vendor descriptions are public positioning, not independent benchmarks. Module availability and price vary by contract.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§3; approved master rev 1.4; 25 Sep overall completion assessment and expanded V1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§§4–5. The PostgreSQL discovery adapter observes approved catalog metadata; it does not scan row values or classify personal data. Legal interpretation requires owner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§§6–7 and overall completion assessment. Merged DPDP test suites exist but lack committed execution artifacts for the merged candidate.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§8 and docs/engineering/2026-09-25-overall-completion-and-resume.md. Historical 100/104 routed-requirement figure is not whole-product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§9. This adoption path includes target design and coded primitives; do not present a complete approved content catalog as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leadership brief §10 and overall completion assessment. Intended customer package versus qualified release status is distinguished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776c3889044a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e46cc1b7ad4d9c" /><Relationship Type="http://schemas.openxmlformats.org/officeDocument/2006/relationships/slideLayout" Target="/ppt/slideLayouts/slideLayout1.xml" Id="R018c4e11d8b248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8c4e11d8b248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5c261d0b8e4757" /><Relationship Type="http://schemas.openxmlformats.org/officeDocument/2006/relationships/notesSlide" Target="/ppt/notesSlides/notesSlide1.xml" Id="R260a04c64daa4a2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fa794d0c41f492a" /><Relationship Type="http://schemas.openxmlformats.org/officeDocument/2006/relationships/notesSlide" Target="/ppt/notesSlides/notesSlide2.xml" Id="R0b3feab06ab947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24e17bc0ed4123" /><Relationship Type="http://schemas.openxmlformats.org/officeDocument/2006/relationships/notesSlide" Target="/ppt/notesSlides/notesSlide3.xml" Id="R3881601553914a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1a2893c7ec4a9a" /><Relationship Type="http://schemas.openxmlformats.org/officeDocument/2006/relationships/notesSlide" Target="/ppt/notesSlides/notesSlide4.xml" Id="Rb11befbe781043b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deeda245fa248ff" /><Relationship Type="http://schemas.openxmlformats.org/officeDocument/2006/relationships/notesSlide" Target="/ppt/notesSlides/notesSlide5.xml" Id="R77249d063a874ba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867ca25db9540dc" /><Relationship Type="http://schemas.openxmlformats.org/officeDocument/2006/relationships/notesSlide" Target="/ppt/notesSlides/notesSlide6.xml" Id="R5e7f2e2f6ca844a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706dadf80a8465e" /><Relationship Type="http://schemas.openxmlformats.org/officeDocument/2006/relationships/notesSlide" Target="/ppt/notesSlides/notesSlide7.xml" Id="Rf5274662aa3a48d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0b87aeb27b4c92" /><Relationship Type="http://schemas.openxmlformats.org/officeDocument/2006/relationships/notesSlide" Target="/ppt/notesSlides/notesSlide8.xml" Id="Rf5db8d0416184f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4427c91f3ce40b5" /><Relationship Type="http://schemas.openxmlformats.org/officeDocument/2006/relationships/notesSlide" Target="/ppt/notesSlides/notesSlide9.xml" Id="Ra4851873410242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c0541c4f3d4809" /><Relationship Type="http://schemas.openxmlformats.org/officeDocument/2006/relationships/notesSlide" Target="/ppt/notesSlides/notesSlide10.xml" Id="R6274bca336424b4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DF729FA-BC3B-4627-BAC0-89BC0CC3A574}"/>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ORVIA: privacy action with a recorded outcome</a:t>
            </a:r>
          </a:p>
        </p:txBody>
      </p:sp>
      <p:sp>
        <p:nvSpPr>
          <p:cNvPr id="2" name="">
            <a:extLst xmlns:a="http://schemas.openxmlformats.org/drawingml/2006/main">
              <a:ext uri="{FF2B5EF4-FFF2-40B4-BE49-F238E27FC236}">
                <a16:creationId xmlns:a16="http://schemas.microsoft.com/office/drawing/2014/main" id="{1B7C366B-ABB6-4CC9-A35F-89B7483F813F}"/>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8CDC5F62-FA10-43F3-B1EB-CD5E5593B9BE}"/>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ACBAE34F-766D-4BBF-9CE7-DB5095C5E1BF}"/>
              </a:ext>
            </a:extLst>
          </p:cNvPr>
          <p:cNvSpPr>
            <a:spLocks xmlns:a="http://schemas.openxmlformats.org/drawingml/2006/main" noGrp="1"/>
          </p:cNvSpPr>
          <p:nvPr/>
        </p:nvSpPr>
        <p:spPr>
          <a:xfrm xmlns:a="http://schemas.openxmlformats.org/drawingml/2006/main">
            <a:off x="666750" y="1619250"/>
            <a:ext cx="981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0">
                <a:solidFill>
                  <a:srgbClr val="435466"/>
                </a:solidFill>
                <a:latin typeface="Arial"/>
                <a:ea typeface="Arial"/>
                <a:cs typeface="Arial"/>
              </a:defRPr>
            </a:pPr>
            <a:r>
              <a:rPr sz="2250" b="0">
                <a:solidFill>
                  <a:srgbClr val="435466"/>
                </a:solidFill>
                <a:latin typeface="Arial"/>
                <a:ea typeface="Arial"/>
                <a:cs typeface="Arial"/>
              </a:rPr>
              <a:t>A customer-local product for connecting a person’s choice to downstream work and evidence</a:t>
            </a:r>
          </a:p>
        </p:txBody>
      </p:sp>
      <p:sp>
        <p:nvSpPr>
          <p:cNvPr id="5" name="">
            <a:extLst xmlns:a="http://schemas.openxmlformats.org/drawingml/2006/main">
              <a:ext uri="{FF2B5EF4-FFF2-40B4-BE49-F238E27FC236}">
                <a16:creationId xmlns:a16="http://schemas.microsoft.com/office/drawing/2014/main" id="{457955D3-AC38-4BE5-9DC3-C1193347DC70}"/>
              </a:ext>
            </a:extLst>
          </p:cNvPr>
          <p:cNvSpPr>
            <a:spLocks xmlns:a="http://schemas.openxmlformats.org/drawingml/2006/main" noGrp="1"/>
          </p:cNvSpPr>
          <p:nvPr/>
        </p:nvSpPr>
        <p:spPr>
          <a:xfrm xmlns:a="http://schemas.openxmlformats.org/drawingml/2006/main">
            <a:off x="666750" y="30480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THE PRODUCT CASE</a:t>
            </a:r>
          </a:p>
        </p:txBody>
      </p:sp>
      <p:sp>
        <p:nvSpPr>
          <p:cNvPr id="6" name="">
            <a:extLst xmlns:a="http://schemas.openxmlformats.org/drawingml/2006/main">
              <a:ext uri="{FF2B5EF4-FFF2-40B4-BE49-F238E27FC236}">
                <a16:creationId xmlns:a16="http://schemas.microsoft.com/office/drawing/2014/main" id="{8987A8DE-861E-4565-A04E-7DE85556E24E}"/>
              </a:ext>
            </a:extLst>
          </p:cNvPr>
          <p:cNvSpPr>
            <a:spLocks xmlns:a="http://schemas.openxmlformats.org/drawingml/2006/main" noGrp="1"/>
          </p:cNvSpPr>
          <p:nvPr/>
        </p:nvSpPr>
        <p:spPr>
          <a:xfrm xmlns:a="http://schemas.openxmlformats.org/drawingml/2006/main">
            <a:off x="666750" y="3476625"/>
            <a:ext cx="9906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A choice is tied to an exact notice and purpose.</a:t>
            </a:r>
          </a:p>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Work continues in a durable workflow.</a:t>
            </a:r>
          </a:p>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The target response is checked separately.</a:t>
            </a:r>
          </a:p>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The resulting evidence remains available for review.</a:t>
            </a:r>
          </a:p>
        </p:txBody>
      </p:sp>
    </p:spTree>
    <p:extLst>
      <p:ext uri="{BB962C8B-B14F-4D97-AF65-F5344CB8AC3E}">
        <p14:creationId xmlns:p14="http://schemas.microsoft.com/office/powerpoint/2010/main" val="21170175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F4A406-85DB-42DA-B0DB-C1BCBE029BB5}"/>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What ORVIA makes visible</a:t>
            </a:r>
          </a:p>
        </p:txBody>
      </p:sp>
      <p:sp>
        <p:nvSpPr>
          <p:cNvPr id="2" name="">
            <a:extLst xmlns:a="http://schemas.openxmlformats.org/drawingml/2006/main">
              <a:ext uri="{FF2B5EF4-FFF2-40B4-BE49-F238E27FC236}">
                <a16:creationId xmlns:a16="http://schemas.microsoft.com/office/drawing/2014/main" id="{F4AAE3EB-75EB-4382-9BB3-012367ED88F2}"/>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73D123C7-7420-40E0-B9C9-E4AD5924FBD6}"/>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330C7CF2-D3E9-4FE7-A6D9-641CCEA4A19C}"/>
              </a:ext>
            </a:extLst>
          </p:cNvPr>
          <p:cNvSpPr>
            <a:spLocks xmlns:a="http://schemas.openxmlformats.org/drawingml/2006/main" noGrp="1"/>
          </p:cNvSpPr>
          <p:nvPr/>
        </p:nvSpPr>
        <p:spPr>
          <a:xfrm xmlns:a="http://schemas.openxmlformats.org/drawingml/2006/main">
            <a:off x="666750" y="14859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CHOICE</a:t>
            </a:r>
          </a:p>
        </p:txBody>
      </p:sp>
      <p:sp>
        <p:nvSpPr>
          <p:cNvPr id="5" name="">
            <a:extLst xmlns:a="http://schemas.openxmlformats.org/drawingml/2006/main">
              <a:ext uri="{FF2B5EF4-FFF2-40B4-BE49-F238E27FC236}">
                <a16:creationId xmlns:a16="http://schemas.microsoft.com/office/drawing/2014/main" id="{E3A4D589-5C60-415C-8FCE-E9C65CC59030}"/>
              </a:ext>
            </a:extLst>
          </p:cNvPr>
          <p:cNvSpPr>
            <a:spLocks xmlns:a="http://schemas.openxmlformats.org/drawingml/2006/main" noGrp="1"/>
          </p:cNvSpPr>
          <p:nvPr/>
        </p:nvSpPr>
        <p:spPr>
          <a:xfrm xmlns:a="http://schemas.openxmlformats.org/drawingml/2006/main">
            <a:off x="4333875" y="14859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ACTION</a:t>
            </a:r>
          </a:p>
        </p:txBody>
      </p:sp>
      <p:sp>
        <p:nvSpPr>
          <p:cNvPr id="6" name="">
            <a:extLst xmlns:a="http://schemas.openxmlformats.org/drawingml/2006/main">
              <a:ext uri="{FF2B5EF4-FFF2-40B4-BE49-F238E27FC236}">
                <a16:creationId xmlns:a16="http://schemas.microsoft.com/office/drawing/2014/main" id="{BE708B76-115A-423F-8642-5C92A11DCF18}"/>
              </a:ext>
            </a:extLst>
          </p:cNvPr>
          <p:cNvSpPr>
            <a:spLocks xmlns:a="http://schemas.openxmlformats.org/drawingml/2006/main" noGrp="1"/>
          </p:cNvSpPr>
          <p:nvPr/>
        </p:nvSpPr>
        <p:spPr>
          <a:xfrm xmlns:a="http://schemas.openxmlformats.org/drawingml/2006/main">
            <a:off x="8001000" y="14859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PROOF</a:t>
            </a:r>
          </a:p>
        </p:txBody>
      </p:sp>
      <p:sp>
        <p:nvSpPr>
          <p:cNvPr id="7" name="">
            <a:extLst xmlns:a="http://schemas.openxmlformats.org/drawingml/2006/main">
              <a:ext uri="{FF2B5EF4-FFF2-40B4-BE49-F238E27FC236}">
                <a16:creationId xmlns:a16="http://schemas.microsoft.com/office/drawing/2014/main" id="{88A310BE-9AEE-4D41-9319-AE70057CCAF0}"/>
              </a:ext>
            </a:extLst>
          </p:cNvPr>
          <p:cNvSpPr>
            <a:spLocks xmlns:a="http://schemas.openxmlformats.org/drawingml/2006/main" noGrp="1"/>
          </p:cNvSpPr>
          <p:nvPr/>
        </p:nvSpPr>
        <p:spPr>
          <a:xfrm xmlns:a="http://schemas.openxmlformats.org/drawingml/2006/main">
            <a:off x="666750" y="1952625"/>
            <a:ext cx="295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Exact notice version and purpose</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Ordered consent and withdrawal</a:t>
            </a:r>
          </a:p>
        </p:txBody>
      </p:sp>
      <p:sp>
        <p:nvSpPr>
          <p:cNvPr id="8" name="">
            <a:extLst xmlns:a="http://schemas.openxmlformats.org/drawingml/2006/main">
              <a:ext uri="{FF2B5EF4-FFF2-40B4-BE49-F238E27FC236}">
                <a16:creationId xmlns:a16="http://schemas.microsoft.com/office/drawing/2014/main" id="{4CA6DC84-D8A1-4B21-91D8-F3EA77D548EC}"/>
              </a:ext>
            </a:extLst>
          </p:cNvPr>
          <p:cNvSpPr>
            <a:spLocks xmlns:a="http://schemas.openxmlformats.org/drawingml/2006/main" noGrp="1"/>
          </p:cNvSpPr>
          <p:nvPr/>
        </p:nvSpPr>
        <p:spPr>
          <a:xfrm xmlns:a="http://schemas.openxmlformats.org/drawingml/2006/main">
            <a:off x="4333875" y="1952625"/>
            <a:ext cx="3000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Scoped command and durable work</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Acknowledgement kept distinct from effect</a:t>
            </a:r>
          </a:p>
        </p:txBody>
      </p:sp>
      <p:sp>
        <p:nvSpPr>
          <p:cNvPr id="9" name="">
            <a:extLst xmlns:a="http://schemas.openxmlformats.org/drawingml/2006/main">
              <a:ext uri="{FF2B5EF4-FFF2-40B4-BE49-F238E27FC236}">
                <a16:creationId xmlns:a16="http://schemas.microsoft.com/office/drawing/2014/main" id="{9FFBB1AF-2B10-4345-8D91-1990C00EC1C7}"/>
              </a:ext>
            </a:extLst>
          </p:cNvPr>
          <p:cNvSpPr>
            <a:spLocks xmlns:a="http://schemas.openxmlformats.org/drawingml/2006/main" noGrp="1"/>
          </p:cNvSpPr>
          <p:nvPr/>
        </p:nvSpPr>
        <p:spPr>
          <a:xfrm xmlns:a="http://schemas.openxmlformats.org/drawingml/2006/main">
            <a:off x="8001000" y="1952625"/>
            <a:ext cx="300037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Independent target observation</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Evidence, tests and coverage gaps</a:t>
            </a:r>
          </a:p>
        </p:txBody>
      </p:sp>
      <p:sp>
        <p:nvSpPr>
          <p:cNvPr id="10" name="">
            <a:extLst xmlns:a="http://schemas.openxmlformats.org/drawingml/2006/main">
              <a:ext uri="{FF2B5EF4-FFF2-40B4-BE49-F238E27FC236}">
                <a16:creationId xmlns:a16="http://schemas.microsoft.com/office/drawing/2014/main" id="{784BD7B2-E2AA-4EF0-924F-516E113BD671}"/>
              </a:ext>
            </a:extLst>
          </p:cNvPr>
          <p:cNvSpPr>
            <a:spLocks xmlns:a="http://schemas.openxmlformats.org/drawingml/2006/main" noGrp="1"/>
          </p:cNvSpPr>
          <p:nvPr/>
        </p:nvSpPr>
        <p:spPr>
          <a:xfrm xmlns:a="http://schemas.openxmlformats.org/drawingml/2006/main">
            <a:off x="666750" y="4286250"/>
            <a:ext cx="10287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025" b="0">
                <a:solidFill>
                  <a:srgbClr val="14283F"/>
                </a:solidFill>
                <a:latin typeface="Arial"/>
                <a:ea typeface="Arial"/>
                <a:cs typeface="Arial"/>
              </a:defRPr>
            </a:pPr>
            <a:r>
              <a:rPr sz="2025" b="0">
                <a:solidFill>
                  <a:srgbClr val="14283F"/>
                </a:solidFill>
                <a:latin typeface="Arial"/>
                <a:ea typeface="Arial"/>
                <a:cs typeface="Arial"/>
              </a:rPr>
              <a:t>A timeout or unchanged target remains unresolved. The product does not turn an acknowledgement into proof of completion.</a:t>
            </a:r>
          </a:p>
        </p:txBody>
      </p:sp>
    </p:spTree>
    <p:extLst>
      <p:ext uri="{BB962C8B-B14F-4D97-AF65-F5344CB8AC3E}">
        <p14:creationId xmlns:p14="http://schemas.microsoft.com/office/powerpoint/2010/main" val="38780379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49988BF-EC5C-442B-AE06-900AFB9B6FEC}"/>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Priority use cases</a:t>
            </a:r>
          </a:p>
        </p:txBody>
      </p:sp>
      <p:sp>
        <p:nvSpPr>
          <p:cNvPr id="2" name="">
            <a:extLst xmlns:a="http://schemas.openxmlformats.org/drawingml/2006/main">
              <a:ext uri="{FF2B5EF4-FFF2-40B4-BE49-F238E27FC236}">
                <a16:creationId xmlns:a16="http://schemas.microsoft.com/office/drawing/2014/main" id="{16F7BE4A-DBA2-4308-A7E4-0A8AF3E95432}"/>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72D5591B-EE71-4A0B-9619-D73B9E63C9AB}"/>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FD93304F-B6FE-48C5-8C63-D6B55F479B8C}"/>
              </a:ext>
            </a:extLst>
          </p:cNvPr>
          <p:cNvSpPr>
            <a:spLocks xmlns:a="http://schemas.openxmlformats.org/drawingml/2006/main" noGrp="1"/>
          </p:cNvSpPr>
          <p:nvPr/>
        </p:nvSpPr>
        <p:spPr>
          <a:xfrm xmlns:a="http://schemas.openxmlformats.org/drawingml/2006/main">
            <a:off x="666750" y="14763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PRINCIPAL</a:t>
            </a:r>
          </a:p>
        </p:txBody>
      </p:sp>
      <p:sp>
        <p:nvSpPr>
          <p:cNvPr id="5" name="">
            <a:extLst xmlns:a="http://schemas.openxmlformats.org/drawingml/2006/main">
              <a:ext uri="{FF2B5EF4-FFF2-40B4-BE49-F238E27FC236}">
                <a16:creationId xmlns:a16="http://schemas.microsoft.com/office/drawing/2014/main" id="{C3B3B086-86AD-474A-B8FB-7307EA4D144A}"/>
              </a:ext>
            </a:extLst>
          </p:cNvPr>
          <p:cNvSpPr>
            <a:spLocks xmlns:a="http://schemas.openxmlformats.org/drawingml/2006/main" noGrp="1"/>
          </p:cNvSpPr>
          <p:nvPr/>
        </p:nvSpPr>
        <p:spPr>
          <a:xfrm xmlns:a="http://schemas.openxmlformats.org/drawingml/2006/main">
            <a:off x="4429125" y="14763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PRIVACY TEAM</a:t>
            </a:r>
          </a:p>
        </p:txBody>
      </p:sp>
      <p:sp>
        <p:nvSpPr>
          <p:cNvPr id="6" name="">
            <a:extLst xmlns:a="http://schemas.openxmlformats.org/drawingml/2006/main">
              <a:ext uri="{FF2B5EF4-FFF2-40B4-BE49-F238E27FC236}">
                <a16:creationId xmlns:a16="http://schemas.microsoft.com/office/drawing/2014/main" id="{CAB33D97-38C7-4DBA-8DA2-81EA8565303A}"/>
              </a:ext>
            </a:extLst>
          </p:cNvPr>
          <p:cNvSpPr>
            <a:spLocks xmlns:a="http://schemas.openxmlformats.org/drawingml/2006/main" noGrp="1"/>
          </p:cNvSpPr>
          <p:nvPr/>
        </p:nvSpPr>
        <p:spPr>
          <a:xfrm xmlns:a="http://schemas.openxmlformats.org/drawingml/2006/main">
            <a:off x="8191500" y="1476375"/>
            <a:ext cx="276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CONTROL OWNER</a:t>
            </a:r>
          </a:p>
        </p:txBody>
      </p:sp>
      <p:sp>
        <p:nvSpPr>
          <p:cNvPr id="7" name="">
            <a:extLst xmlns:a="http://schemas.openxmlformats.org/drawingml/2006/main">
              <a:ext uri="{FF2B5EF4-FFF2-40B4-BE49-F238E27FC236}">
                <a16:creationId xmlns:a16="http://schemas.microsoft.com/office/drawing/2014/main" id="{DA2813E0-CFA4-4085-B31F-2ECE6E2F744B}"/>
              </a:ext>
            </a:extLst>
          </p:cNvPr>
          <p:cNvSpPr>
            <a:spLocks xmlns:a="http://schemas.openxmlformats.org/drawingml/2006/main" noGrp="1"/>
          </p:cNvSpPr>
          <p:nvPr/>
        </p:nvSpPr>
        <p:spPr>
          <a:xfrm xmlns:a="http://schemas.openxmlformats.org/drawingml/2006/main">
            <a:off x="666750" y="1952625"/>
            <a:ext cx="3000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Grant consent against a specific notice</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Withdraw consent and follow the target effect</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Submit a rights request</a:t>
            </a:r>
          </a:p>
        </p:txBody>
      </p:sp>
      <p:sp>
        <p:nvSpPr>
          <p:cNvPr id="8" name="">
            <a:extLst xmlns:a="http://schemas.openxmlformats.org/drawingml/2006/main">
              <a:ext uri="{FF2B5EF4-FFF2-40B4-BE49-F238E27FC236}">
                <a16:creationId xmlns:a16="http://schemas.microsoft.com/office/drawing/2014/main" id="{01AC074F-C7D4-4D9E-AC85-DBA4BEDE0218}"/>
              </a:ext>
            </a:extLst>
          </p:cNvPr>
          <p:cNvSpPr>
            <a:spLocks xmlns:a="http://schemas.openxmlformats.org/drawingml/2006/main" noGrp="1"/>
          </p:cNvSpPr>
          <p:nvPr/>
        </p:nvSpPr>
        <p:spPr>
          <a:xfrm xmlns:a="http://schemas.openxmlformats.org/drawingml/2006/main">
            <a:off x="4429125" y="1952625"/>
            <a:ext cx="3000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Publish reviewed notice versions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Review retention, holds and processor evidence</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Handle incidents and duties</a:t>
            </a:r>
          </a:p>
        </p:txBody>
      </p:sp>
      <p:sp>
        <p:nvSpPr>
          <p:cNvPr id="9" name="">
            <a:extLst xmlns:a="http://schemas.openxmlformats.org/drawingml/2006/main">
              <a:ext uri="{FF2B5EF4-FFF2-40B4-BE49-F238E27FC236}">
                <a16:creationId xmlns:a16="http://schemas.microsoft.com/office/drawing/2014/main" id="{205B9F64-DC6F-4D32-933A-B08D33687D1D}"/>
              </a:ext>
            </a:extLst>
          </p:cNvPr>
          <p:cNvSpPr>
            <a:spLocks xmlns:a="http://schemas.openxmlformats.org/drawingml/2006/main" noGrp="1"/>
          </p:cNvSpPr>
          <p:nvPr/>
        </p:nvSpPr>
        <p:spPr>
          <a:xfrm xmlns:a="http://schemas.openxmlformats.org/drawingml/2006/main">
            <a:off x="8191500" y="1952625"/>
            <a:ext cx="3000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Run privacy tests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Review failed or stale observations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Keep the result linked to evidence</a:t>
            </a:r>
          </a:p>
        </p:txBody>
      </p:sp>
      <p:sp>
        <p:nvSpPr>
          <p:cNvPr id="10" name="">
            <a:extLst xmlns:a="http://schemas.openxmlformats.org/drawingml/2006/main">
              <a:ext uri="{FF2B5EF4-FFF2-40B4-BE49-F238E27FC236}">
                <a16:creationId xmlns:a16="http://schemas.microsoft.com/office/drawing/2014/main" id="{5003AD97-1730-4D63-9C50-D8EE227A51CA}"/>
              </a:ext>
            </a:extLst>
          </p:cNvPr>
          <p:cNvSpPr>
            <a:spLocks xmlns:a="http://schemas.openxmlformats.org/drawingml/2006/main" noGrp="1"/>
          </p:cNvSpPr>
          <p:nvPr/>
        </p:nvSpPr>
        <p:spPr>
          <a:xfrm xmlns:a="http://schemas.openxmlformats.org/drawingml/2006/main">
            <a:off x="666750" y="53340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14283F"/>
                </a:solidFill>
                <a:latin typeface="Arial"/>
                <a:ea typeface="Arial"/>
                <a:cs typeface="Arial"/>
              </a:defRPr>
            </a:pPr>
            <a:r>
              <a:rPr sz="1575" b="0">
                <a:solidFill>
                  <a:srgbClr val="14283F"/>
                </a:solidFill>
                <a:latin typeface="Arial"/>
                <a:ea typeface="Arial"/>
                <a:cs typeface="Arial"/>
              </a:rPr>
              <a:t>These are priority journeys. Full merged-runtime acceptance is still required before customer deployment.</a:t>
            </a:r>
          </a:p>
        </p:txBody>
      </p:sp>
    </p:spTree>
    <p:extLst>
      <p:ext uri="{BB962C8B-B14F-4D97-AF65-F5344CB8AC3E}">
        <p14:creationId xmlns:p14="http://schemas.microsoft.com/office/powerpoint/2010/main" val="4882733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5B854F-C999-4112-B397-FD59F340F515}"/>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Market comparison: where the focus differs</a:t>
            </a:r>
          </a:p>
        </p:txBody>
      </p:sp>
      <p:sp>
        <p:nvSpPr>
          <p:cNvPr id="2" name="">
            <a:extLst xmlns:a="http://schemas.openxmlformats.org/drawingml/2006/main">
              <a:ext uri="{FF2B5EF4-FFF2-40B4-BE49-F238E27FC236}">
                <a16:creationId xmlns:a16="http://schemas.microsoft.com/office/drawing/2014/main" id="{BC5FC249-153A-433C-B95E-A7F66DA0D105}"/>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FB4539C0-5FEF-4AA0-AC7D-9C800250F234}"/>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C1C49F61-FD37-40C7-8BD9-8028D108A7CC}"/>
              </a:ext>
            </a:extLst>
          </p:cNvPr>
          <p:cNvSpPr>
            <a:spLocks xmlns:a="http://schemas.openxmlformats.org/drawingml/2006/main" noGrp="1"/>
          </p:cNvSpPr>
          <p:nvPr/>
        </p:nvSpPr>
        <p:spPr>
          <a:xfrm xmlns:a="http://schemas.openxmlformats.org/drawingml/2006/main">
            <a:off x="666750" y="1428750"/>
            <a:ext cx="4048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ENTERPRISE PRIVACY AND GRC</a:t>
            </a:r>
          </a:p>
        </p:txBody>
      </p:sp>
      <p:sp>
        <p:nvSpPr>
          <p:cNvPr id="5" name="">
            <a:extLst xmlns:a="http://schemas.openxmlformats.org/drawingml/2006/main">
              <a:ext uri="{FF2B5EF4-FFF2-40B4-BE49-F238E27FC236}">
                <a16:creationId xmlns:a16="http://schemas.microsoft.com/office/drawing/2014/main" id="{DD02424F-EEBC-4FBC-9A29-4EEAE714289A}"/>
              </a:ext>
            </a:extLst>
          </p:cNvPr>
          <p:cNvSpPr>
            <a:spLocks xmlns:a="http://schemas.openxmlformats.org/drawingml/2006/main" noGrp="1"/>
          </p:cNvSpPr>
          <p:nvPr/>
        </p:nvSpPr>
        <p:spPr>
          <a:xfrm xmlns:a="http://schemas.openxmlformats.org/drawingml/2006/main">
            <a:off x="666750" y="1857375"/>
            <a:ext cx="48101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OneTrust, BigID, Securiti, ServiceNow and MetricStream publicly cover broad governance, discovery and workflow needs.</a:t>
            </a:r>
          </a:p>
        </p:txBody>
      </p:sp>
      <p:sp>
        <p:nvSpPr>
          <p:cNvPr id="6" name="">
            <a:extLst xmlns:a="http://schemas.openxmlformats.org/drawingml/2006/main">
              <a:ext uri="{FF2B5EF4-FFF2-40B4-BE49-F238E27FC236}">
                <a16:creationId xmlns:a16="http://schemas.microsoft.com/office/drawing/2014/main" id="{22B80DD5-D037-4DA7-8C8E-E19D5947901E}"/>
              </a:ext>
            </a:extLst>
          </p:cNvPr>
          <p:cNvSpPr>
            <a:spLocks xmlns:a="http://schemas.openxmlformats.org/drawingml/2006/main" noGrp="1"/>
          </p:cNvSpPr>
          <p:nvPr/>
        </p:nvSpPr>
        <p:spPr>
          <a:xfrm xmlns:a="http://schemas.openxmlformats.org/drawingml/2006/main">
            <a:off x="6334125" y="14287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CONTINUOUS COMPLIANCE</a:t>
            </a:r>
          </a:p>
        </p:txBody>
      </p:sp>
      <p:sp>
        <p:nvSpPr>
          <p:cNvPr id="7" name="">
            <a:extLst xmlns:a="http://schemas.openxmlformats.org/drawingml/2006/main">
              <a:ext uri="{FF2B5EF4-FFF2-40B4-BE49-F238E27FC236}">
                <a16:creationId xmlns:a16="http://schemas.microsoft.com/office/drawing/2014/main" id="{EE60E12C-3BBA-411C-B0E7-74A4DDDDFC63}"/>
              </a:ext>
            </a:extLst>
          </p:cNvPr>
          <p:cNvSpPr>
            <a:spLocks xmlns:a="http://schemas.openxmlformats.org/drawingml/2006/main" noGrp="1"/>
          </p:cNvSpPr>
          <p:nvPr/>
        </p:nvSpPr>
        <p:spPr>
          <a:xfrm xmlns:a="http://schemas.openxmlformats.org/drawingml/2006/main">
            <a:off x="6334125" y="1857375"/>
            <a:ext cx="471487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Vanta, Drata, Sprinto and Scrut emphasise control checks, evidence collection and audit work.</a:t>
            </a:r>
          </a:p>
        </p:txBody>
      </p:sp>
      <p:sp>
        <p:nvSpPr>
          <p:cNvPr id="8" name="">
            <a:extLst xmlns:a="http://schemas.openxmlformats.org/drawingml/2006/main">
              <a:ext uri="{FF2B5EF4-FFF2-40B4-BE49-F238E27FC236}">
                <a16:creationId xmlns:a16="http://schemas.microsoft.com/office/drawing/2014/main" id="{8FD0CBC7-CC48-4CAB-B3C1-7C61C6808077}"/>
              </a:ext>
            </a:extLst>
          </p:cNvPr>
          <p:cNvSpPr>
            <a:spLocks xmlns:a="http://schemas.openxmlformats.org/drawingml/2006/main" noGrp="1"/>
          </p:cNvSpPr>
          <p:nvPr/>
        </p:nvSpPr>
        <p:spPr>
          <a:xfrm xmlns:a="http://schemas.openxmlformats.org/drawingml/2006/main">
            <a:off x="666750" y="381000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INDIA-FOCUSED AND SPECIALIST PEERS</a:t>
            </a:r>
          </a:p>
        </p:txBody>
      </p:sp>
      <p:sp>
        <p:nvSpPr>
          <p:cNvPr id="9" name="">
            <a:extLst xmlns:a="http://schemas.openxmlformats.org/drawingml/2006/main">
              <a:ext uri="{FF2B5EF4-FFF2-40B4-BE49-F238E27FC236}">
                <a16:creationId xmlns:a16="http://schemas.microsoft.com/office/drawing/2014/main" id="{F06B072B-9E2B-4C7C-A23C-D92D164ADE0A}"/>
              </a:ext>
            </a:extLst>
          </p:cNvPr>
          <p:cNvSpPr>
            <a:spLocks xmlns:a="http://schemas.openxmlformats.org/drawingml/2006/main" noGrp="1"/>
          </p:cNvSpPr>
          <p:nvPr/>
        </p:nvSpPr>
        <p:spPr>
          <a:xfrm xmlns:a="http://schemas.openxmlformats.org/drawingml/2006/main">
            <a:off x="666750" y="4238625"/>
            <a:ext cx="4810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Redacto, miniOrange, Consentin, Privado and others address DPDP operations or narrower consent and discovery needs.</a:t>
            </a:r>
          </a:p>
        </p:txBody>
      </p:sp>
      <p:sp>
        <p:nvSpPr>
          <p:cNvPr id="10" name="">
            <a:extLst xmlns:a="http://schemas.openxmlformats.org/drawingml/2006/main">
              <a:ext uri="{FF2B5EF4-FFF2-40B4-BE49-F238E27FC236}">
                <a16:creationId xmlns:a16="http://schemas.microsoft.com/office/drawing/2014/main" id="{1991718C-9C5C-4AE4-A762-46E8C31E29C2}"/>
              </a:ext>
            </a:extLst>
          </p:cNvPr>
          <p:cNvSpPr>
            <a:spLocks xmlns:a="http://schemas.openxmlformats.org/drawingml/2006/main" noGrp="1"/>
          </p:cNvSpPr>
          <p:nvPr/>
        </p:nvSpPr>
        <p:spPr>
          <a:xfrm xmlns:a="http://schemas.openxmlformats.org/drawingml/2006/main">
            <a:off x="6334125" y="384810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ORVIA’s inspectable angle is the customer-local chain from choice to action, independent observation and evidence. This is a feature-level position, not a claim of broader coverage or measured superiority.</a:t>
            </a:r>
          </a:p>
        </p:txBody>
      </p:sp>
    </p:spTree>
    <p:extLst>
      <p:ext uri="{BB962C8B-B14F-4D97-AF65-F5344CB8AC3E}">
        <p14:creationId xmlns:p14="http://schemas.microsoft.com/office/powerpoint/2010/main" val="4557960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EFF0B2-711C-44CD-8B94-357424A6D800}"/>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Architecture and module scope</a:t>
            </a:r>
          </a:p>
        </p:txBody>
      </p:sp>
      <p:sp>
        <p:nvSpPr>
          <p:cNvPr id="2" name="">
            <a:extLst xmlns:a="http://schemas.openxmlformats.org/drawingml/2006/main">
              <a:ext uri="{FF2B5EF4-FFF2-40B4-BE49-F238E27FC236}">
                <a16:creationId xmlns:a16="http://schemas.microsoft.com/office/drawing/2014/main" id="{B1BAD0E6-80D8-43D6-AE0A-B356546F2A03}"/>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12DEA837-F582-4E7B-9CD6-B82FEC7FF9F6}"/>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E3E710F-2AFC-4E8D-857D-3C783C7D42C4}"/>
              </a:ext>
            </a:extLst>
          </p:cNvPr>
          <p:cNvSpPr>
            <a:spLocks xmlns:a="http://schemas.openxmlformats.org/drawingml/2006/main" noGrp="1"/>
          </p:cNvSpPr>
          <p:nvPr/>
        </p:nvSpPr>
        <p:spPr>
          <a:xfrm xmlns:a="http://schemas.openxmlformats.org/drawingml/2006/main">
            <a:off x="666750" y="138112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THE OPERATING SPINE</a:t>
            </a:r>
          </a:p>
        </p:txBody>
      </p:sp>
      <p:sp>
        <p:nvSpPr>
          <p:cNvPr id="5" name="">
            <a:extLst xmlns:a="http://schemas.openxmlformats.org/drawingml/2006/main">
              <a:ext uri="{FF2B5EF4-FFF2-40B4-BE49-F238E27FC236}">
                <a16:creationId xmlns:a16="http://schemas.microsoft.com/office/drawing/2014/main" id="{A8E44C94-D925-483B-8BBF-AD0112F2EF5A}"/>
              </a:ext>
            </a:extLst>
          </p:cNvPr>
          <p:cNvSpPr>
            <a:spLocks xmlns:a="http://schemas.openxmlformats.org/drawingml/2006/main" noGrp="1"/>
          </p:cNvSpPr>
          <p:nvPr/>
        </p:nvSpPr>
        <p:spPr>
          <a:xfrm xmlns:a="http://schemas.openxmlformats.org/drawingml/2006/main">
            <a:off x="666750" y="1838325"/>
            <a:ext cx="4810125"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Identity and scope</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Privacy graph and policy</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Durable workflow</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Bounded connector action</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Independent verification</a:t>
            </a:r>
          </a:p>
          <a:p xmlns:a="http://schemas.openxmlformats.org/drawingml/2006/main">
            <a:pPr>
              <a:defRPr sz="1800" b="0">
                <a:solidFill>
                  <a:srgbClr val="14283F"/>
                </a:solidFill>
                <a:latin typeface="Arial"/>
                <a:ea typeface="Arial"/>
                <a:cs typeface="Arial"/>
              </a:defRPr>
            </a:pPr>
            <a:r>
              <a:rPr sz="1800" b="0">
                <a:solidFill>
                  <a:srgbClr val="14283F"/>
                </a:solidFill>
                <a:latin typeface="Arial"/>
                <a:ea typeface="Arial"/>
                <a:cs typeface="Arial"/>
              </a:rPr>
              <a:t>Evidence and test result</a:t>
            </a:r>
          </a:p>
        </p:txBody>
      </p:sp>
      <p:sp>
        <p:nvSpPr>
          <p:cNvPr id="6" name="">
            <a:extLst xmlns:a="http://schemas.openxmlformats.org/drawingml/2006/main">
              <a:ext uri="{FF2B5EF4-FFF2-40B4-BE49-F238E27FC236}">
                <a16:creationId xmlns:a16="http://schemas.microsoft.com/office/drawing/2014/main" id="{B8CF7184-EC15-4719-9529-1EA4D9AF8A8C}"/>
              </a:ext>
            </a:extLst>
          </p:cNvPr>
          <p:cNvSpPr>
            <a:spLocks xmlns:a="http://schemas.openxmlformats.org/drawingml/2006/main" noGrp="1"/>
          </p:cNvSpPr>
          <p:nvPr/>
        </p:nvSpPr>
        <p:spPr>
          <a:xfrm xmlns:a="http://schemas.openxmlformats.org/drawingml/2006/main">
            <a:off x="6334125" y="13811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CURRENT MODULE PICTURE</a:t>
            </a:r>
          </a:p>
        </p:txBody>
      </p:sp>
      <p:sp>
        <p:nvSpPr>
          <p:cNvPr id="7" name="">
            <a:extLst xmlns:a="http://schemas.openxmlformats.org/drawingml/2006/main">
              <a:ext uri="{FF2B5EF4-FFF2-40B4-BE49-F238E27FC236}">
                <a16:creationId xmlns:a16="http://schemas.microsoft.com/office/drawing/2014/main" id="{18DF5E77-811B-479B-A8C9-06BA34D7E071}"/>
              </a:ext>
            </a:extLst>
          </p:cNvPr>
          <p:cNvSpPr>
            <a:spLocks xmlns:a="http://schemas.openxmlformats.org/drawingml/2006/main" noGrp="1"/>
          </p:cNvSpPr>
          <p:nvPr/>
        </p:nvSpPr>
        <p:spPr>
          <a:xfrm xmlns:a="http://schemas.openxmlformats.org/drawingml/2006/main">
            <a:off x="6334125" y="1838325"/>
            <a:ext cx="4762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The 33-module register describes the original V1/V2 structure. Merged V1 code now adds non-model AI-use governance, catalog-metadata discovery, GRC records, DPDP execution paths and payment primitives.</a:t>
            </a:r>
          </a:p>
        </p:txBody>
      </p:sp>
      <p:sp>
        <p:nvSpPr>
          <p:cNvPr id="8" name="">
            <a:extLst xmlns:a="http://schemas.openxmlformats.org/drawingml/2006/main">
              <a:ext uri="{FF2B5EF4-FFF2-40B4-BE49-F238E27FC236}">
                <a16:creationId xmlns:a16="http://schemas.microsoft.com/office/drawing/2014/main" id="{9FDED2F7-7BE1-4253-B1F1-3ABF904DA6A3}"/>
              </a:ext>
            </a:extLst>
          </p:cNvPr>
          <p:cNvSpPr>
            <a:spLocks xmlns:a="http://schemas.openxmlformats.org/drawingml/2006/main" noGrp="1"/>
          </p:cNvSpPr>
          <p:nvPr/>
        </p:nvSpPr>
        <p:spPr>
          <a:xfrm xmlns:a="http://schemas.openxmlformats.org/drawingml/2006/main">
            <a:off x="6334125" y="4572000"/>
            <a:ext cx="4762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M19–M25 are seven custom-model functions reserved for V2. The legacy register is not an overall completion score.</a:t>
            </a:r>
          </a:p>
        </p:txBody>
      </p:sp>
    </p:spTree>
    <p:extLst>
      <p:ext uri="{BB962C8B-B14F-4D97-AF65-F5344CB8AC3E}">
        <p14:creationId xmlns:p14="http://schemas.microsoft.com/office/powerpoint/2010/main" val="3641961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4B40FE-DB0F-4399-B5C4-08B900A070AE}"/>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Data model and DPDP control path</a:t>
            </a:r>
          </a:p>
        </p:txBody>
      </p:sp>
      <p:sp>
        <p:nvSpPr>
          <p:cNvPr id="2" name="">
            <a:extLst xmlns:a="http://schemas.openxmlformats.org/drawingml/2006/main">
              <a:ext uri="{FF2B5EF4-FFF2-40B4-BE49-F238E27FC236}">
                <a16:creationId xmlns:a16="http://schemas.microsoft.com/office/drawing/2014/main" id="{28A411D7-4C95-467D-B645-C9D555352E1B}"/>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C86B258E-CB60-4520-A2B2-65AFB363A8BE}"/>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1C26A0D6-FB18-4C86-861D-6D37A36FEDEC}"/>
              </a:ext>
            </a:extLst>
          </p:cNvPr>
          <p:cNvSpPr>
            <a:spLocks xmlns:a="http://schemas.openxmlformats.org/drawingml/2006/main" noGrp="1"/>
          </p:cNvSpPr>
          <p:nvPr/>
        </p:nvSpPr>
        <p:spPr>
          <a:xfrm xmlns:a="http://schemas.openxmlformats.org/drawingml/2006/main">
            <a:off x="666750" y="1428750"/>
            <a:ext cx="4143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CUSTOMER-LOCAL RECORDS</a:t>
            </a:r>
          </a:p>
        </p:txBody>
      </p:sp>
      <p:sp>
        <p:nvSpPr>
          <p:cNvPr id="5" name="">
            <a:extLst xmlns:a="http://schemas.openxmlformats.org/drawingml/2006/main">
              <a:ext uri="{FF2B5EF4-FFF2-40B4-BE49-F238E27FC236}">
                <a16:creationId xmlns:a16="http://schemas.microsoft.com/office/drawing/2014/main" id="{9876C93C-F8B1-4B70-ACFC-A0E59E25CCCD}"/>
              </a:ext>
            </a:extLst>
          </p:cNvPr>
          <p:cNvSpPr>
            <a:spLocks xmlns:a="http://schemas.openxmlformats.org/drawingml/2006/main" noGrp="1"/>
          </p:cNvSpPr>
          <p:nvPr/>
        </p:nvSpPr>
        <p:spPr>
          <a:xfrm xmlns:a="http://schemas.openxmlformats.org/drawingml/2006/main">
            <a:off x="666750" y="190500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PostgreSQL stores scope, purposes, notices, consent, rights cases, workflow actions, observations, evidence, tests and findings. Customer systems remain authoritative for their own records.</a:t>
            </a:r>
          </a:p>
        </p:txBody>
      </p:sp>
      <p:sp>
        <p:nvSpPr>
          <p:cNvPr id="6" name="">
            <a:extLst xmlns:a="http://schemas.openxmlformats.org/drawingml/2006/main">
              <a:ext uri="{FF2B5EF4-FFF2-40B4-BE49-F238E27FC236}">
                <a16:creationId xmlns:a16="http://schemas.microsoft.com/office/drawing/2014/main" id="{AE8603E1-4CDA-4619-BA2A-4EAF3D0325AC}"/>
              </a:ext>
            </a:extLst>
          </p:cNvPr>
          <p:cNvSpPr>
            <a:spLocks xmlns:a="http://schemas.openxmlformats.org/drawingml/2006/main" noGrp="1"/>
          </p:cNvSpPr>
          <p:nvPr/>
        </p:nvSpPr>
        <p:spPr>
          <a:xfrm xmlns:a="http://schemas.openxmlformats.org/drawingml/2006/main">
            <a:off x="6334125" y="14287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FROM LEGAL SOURCE TO CONTROL</a:t>
            </a:r>
          </a:p>
        </p:txBody>
      </p:sp>
      <p:sp>
        <p:nvSpPr>
          <p:cNvPr id="7" name="">
            <a:extLst xmlns:a="http://schemas.openxmlformats.org/drawingml/2006/main">
              <a:ext uri="{FF2B5EF4-FFF2-40B4-BE49-F238E27FC236}">
                <a16:creationId xmlns:a16="http://schemas.microsoft.com/office/drawing/2014/main" id="{F4BF33F7-E39A-40FE-A087-B9EBA27E34A2}"/>
              </a:ext>
            </a:extLst>
          </p:cNvPr>
          <p:cNvSpPr>
            <a:spLocks xmlns:a="http://schemas.openxmlformats.org/drawingml/2006/main" noGrp="1"/>
          </p:cNvSpPr>
          <p:nvPr/>
        </p:nvSpPr>
        <p:spPr>
          <a:xfrm xmlns:a="http://schemas.openxmlformats.org/drawingml/2006/main">
            <a:off x="6334125" y="1905000"/>
            <a:ext cx="471487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 reviewed source and provision informs an applicability decision. The customer configures the control. Evidence and tests show what the software observed.</a:t>
            </a:r>
          </a:p>
        </p:txBody>
      </p:sp>
      <p:sp>
        <p:nvSpPr>
          <p:cNvPr id="8" name="">
            <a:extLst xmlns:a="http://schemas.openxmlformats.org/drawingml/2006/main">
              <a:ext uri="{FF2B5EF4-FFF2-40B4-BE49-F238E27FC236}">
                <a16:creationId xmlns:a16="http://schemas.microsoft.com/office/drawing/2014/main" id="{85789D5A-404E-4427-8953-BACBCF056BBF}"/>
              </a:ext>
            </a:extLst>
          </p:cNvPr>
          <p:cNvSpPr>
            <a:spLocks xmlns:a="http://schemas.openxmlformats.org/drawingml/2006/main" noGrp="1"/>
          </p:cNvSpPr>
          <p:nvPr/>
        </p:nvSpPr>
        <p:spPr>
          <a:xfrm xmlns:a="http://schemas.openxmlformats.org/drawingml/2006/main">
            <a:off x="666750" y="4762500"/>
            <a:ext cx="1028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The regulatory import and review path is coded. A complete legally approved Indian control pack and full end-to-end acceptance remain open.</a:t>
            </a:r>
          </a:p>
        </p:txBody>
      </p:sp>
    </p:spTree>
    <p:extLst>
      <p:ext uri="{BB962C8B-B14F-4D97-AF65-F5344CB8AC3E}">
        <p14:creationId xmlns:p14="http://schemas.microsoft.com/office/powerpoint/2010/main" val="3492810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7B2061-8D37-407E-A746-D22A3793A6C7}"/>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Test reference and baselines</a:t>
            </a:r>
          </a:p>
        </p:txBody>
      </p:sp>
      <p:sp>
        <p:nvSpPr>
          <p:cNvPr id="2" name="">
            <a:extLst xmlns:a="http://schemas.openxmlformats.org/drawingml/2006/main">
              <a:ext uri="{FF2B5EF4-FFF2-40B4-BE49-F238E27FC236}">
                <a16:creationId xmlns:a16="http://schemas.microsoft.com/office/drawing/2014/main" id="{C46B4A9A-DB5E-41B6-ABBD-643EDF15FF80}"/>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124C300A-9904-47E4-9940-09E189E5B7A6}"/>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DF468DCD-DAD1-4D31-AF4A-3293D1E61202}"/>
              </a:ext>
            </a:extLst>
          </p:cNvPr>
          <p:cNvSpPr>
            <a:spLocks xmlns:a="http://schemas.openxmlformats.org/drawingml/2006/main" noGrp="1"/>
          </p:cNvSpPr>
          <p:nvPr/>
        </p:nvSpPr>
        <p:spPr>
          <a:xfrm xmlns:a="http://schemas.openxmlformats.org/drawingml/2006/main">
            <a:off x="666750" y="14287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SYNTHETIC REFERENCE</a:t>
            </a:r>
          </a:p>
        </p:txBody>
      </p:sp>
      <p:sp>
        <p:nvSpPr>
          <p:cNvPr id="5" name="">
            <a:extLst xmlns:a="http://schemas.openxmlformats.org/drawingml/2006/main">
              <a:ext uri="{FF2B5EF4-FFF2-40B4-BE49-F238E27FC236}">
                <a16:creationId xmlns:a16="http://schemas.microsoft.com/office/drawing/2014/main" id="{2B56EDFF-4841-484D-A25D-D057D1851D3D}"/>
              </a:ext>
            </a:extLst>
          </p:cNvPr>
          <p:cNvSpPr>
            <a:spLocks xmlns:a="http://schemas.openxmlformats.org/drawingml/2006/main" noGrp="1"/>
          </p:cNvSpPr>
          <p:nvPr/>
        </p:nvSpPr>
        <p:spPr>
          <a:xfrm xmlns:a="http://schemas.openxmlformats.org/drawingml/2006/main">
            <a:off x="666750" y="1905000"/>
            <a:ext cx="4762500" cy="2524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Aster and Birch are invented customer environments. They support positive cases and adverse cases such as wrong-tenant access, old consent events, timeouts and unchanged targets.</a:t>
            </a:r>
          </a:p>
        </p:txBody>
      </p:sp>
      <p:sp>
        <p:nvSpPr>
          <p:cNvPr id="6" name="">
            <a:extLst xmlns:a="http://schemas.openxmlformats.org/drawingml/2006/main">
              <a:ext uri="{FF2B5EF4-FFF2-40B4-BE49-F238E27FC236}">
                <a16:creationId xmlns:a16="http://schemas.microsoft.com/office/drawing/2014/main" id="{1F285400-CC66-4091-8C56-D35D6652D3C4}"/>
              </a:ext>
            </a:extLst>
          </p:cNvPr>
          <p:cNvSpPr>
            <a:spLocks xmlns:a="http://schemas.openxmlformats.org/drawingml/2006/main" noGrp="1"/>
          </p:cNvSpPr>
          <p:nvPr/>
        </p:nvSpPr>
        <p:spPr>
          <a:xfrm xmlns:a="http://schemas.openxmlformats.org/drawingml/2006/main">
            <a:off x="6334125" y="142875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WHAT A BASELINE FIXES</a:t>
            </a:r>
          </a:p>
        </p:txBody>
      </p:sp>
      <p:sp>
        <p:nvSpPr>
          <p:cNvPr id="7" name="">
            <a:extLst xmlns:a="http://schemas.openxmlformats.org/drawingml/2006/main">
              <a:ext uri="{FF2B5EF4-FFF2-40B4-BE49-F238E27FC236}">
                <a16:creationId xmlns:a16="http://schemas.microsoft.com/office/drawing/2014/main" id="{6220410B-C65A-46F7-8ED9-B1957736F043}"/>
              </a:ext>
            </a:extLst>
          </p:cNvPr>
          <p:cNvSpPr>
            <a:spLocks xmlns:a="http://schemas.openxmlformats.org/drawingml/2006/main" noGrp="1"/>
          </p:cNvSpPr>
          <p:nvPr/>
        </p:nvSpPr>
        <p:spPr>
          <a:xfrm xmlns:a="http://schemas.openxmlformats.org/drawingml/2006/main">
            <a:off x="6334125" y="1905000"/>
            <a:ext cx="461962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Regulatory source edition</a:t>
            </a:r>
          </a:p>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Approved product master</a:t>
            </a:r>
          </a:p>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Control and fixture versions</a:t>
            </a:r>
          </a:p>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Security requirements</a:t>
            </a:r>
          </a:p>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Exact release candidate</a:t>
            </a:r>
          </a:p>
        </p:txBody>
      </p:sp>
      <p:sp>
        <p:nvSpPr>
          <p:cNvPr id="8" name="">
            <a:extLst xmlns:a="http://schemas.openxmlformats.org/drawingml/2006/main">
              <a:ext uri="{FF2B5EF4-FFF2-40B4-BE49-F238E27FC236}">
                <a16:creationId xmlns:a16="http://schemas.microsoft.com/office/drawing/2014/main" id="{7BBE0F3E-8CB9-4008-88DD-3F66317B2455}"/>
              </a:ext>
            </a:extLst>
          </p:cNvPr>
          <p:cNvSpPr>
            <a:spLocks xmlns:a="http://schemas.openxmlformats.org/drawingml/2006/main" noGrp="1"/>
          </p:cNvSpPr>
          <p:nvPr/>
        </p:nvSpPr>
        <p:spPr>
          <a:xfrm xmlns:a="http://schemas.openxmlformats.org/drawingml/2006/main">
            <a:off x="666750" y="50482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14283F"/>
                </a:solidFill>
                <a:latin typeface="Arial"/>
                <a:ea typeface="Arial"/>
                <a:cs typeface="Arial"/>
              </a:defRPr>
            </a:pPr>
            <a:r>
              <a:rPr sz="1725" b="0">
                <a:solidFill>
                  <a:srgbClr val="14283F"/>
                </a:solidFill>
                <a:latin typeface="Arial"/>
                <a:ea typeface="Arial"/>
                <a:cs typeface="Arial"/>
              </a:rPr>
              <a:t>A past component result belongs to its tested build. The merged application still needs its own acceptance record.</a:t>
            </a:r>
          </a:p>
        </p:txBody>
      </p:sp>
    </p:spTree>
    <p:extLst>
      <p:ext uri="{BB962C8B-B14F-4D97-AF65-F5344CB8AC3E}">
        <p14:creationId xmlns:p14="http://schemas.microsoft.com/office/powerpoint/2010/main" val="9887811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9ECED2-7F5A-4DBB-869C-ABCA14005023}"/>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Current engineering state</a:t>
            </a:r>
          </a:p>
        </p:txBody>
      </p:sp>
      <p:sp>
        <p:nvSpPr>
          <p:cNvPr id="2" name="">
            <a:extLst xmlns:a="http://schemas.openxmlformats.org/drawingml/2006/main">
              <a:ext uri="{FF2B5EF4-FFF2-40B4-BE49-F238E27FC236}">
                <a16:creationId xmlns:a16="http://schemas.microsoft.com/office/drawing/2014/main" id="{34D9BA6A-1B86-4791-BF47-6B7A342392FD}"/>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D5692895-8B0C-43CE-AC1D-853314DCF7D7}"/>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EC8FF42A-1A67-400B-8D0D-3119FB56DBD4}"/>
              </a:ext>
            </a:extLst>
          </p:cNvPr>
          <p:cNvSpPr>
            <a:spLocks xmlns:a="http://schemas.openxmlformats.org/drawingml/2006/main" noGrp="1"/>
          </p:cNvSpPr>
          <p:nvPr/>
        </p:nvSpPr>
        <p:spPr>
          <a:xfrm xmlns:a="http://schemas.openxmlformats.org/drawingml/2006/main">
            <a:off x="666750" y="142875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EVIDENCE AVAILABLE</a:t>
            </a:r>
          </a:p>
        </p:txBody>
      </p:sp>
      <p:sp>
        <p:nvSpPr>
          <p:cNvPr id="5" name="">
            <a:extLst xmlns:a="http://schemas.openxmlformats.org/drawingml/2006/main">
              <a:ext uri="{FF2B5EF4-FFF2-40B4-BE49-F238E27FC236}">
                <a16:creationId xmlns:a16="http://schemas.microsoft.com/office/drawing/2014/main" id="{8969DFA9-E2F0-476F-84C0-B18F265AA179}"/>
              </a:ext>
            </a:extLst>
          </p:cNvPr>
          <p:cNvSpPr>
            <a:spLocks xmlns:a="http://schemas.openxmlformats.org/drawingml/2006/main" noGrp="1"/>
          </p:cNvSpPr>
          <p:nvPr/>
        </p:nvSpPr>
        <p:spPr>
          <a:xfrm xmlns:a="http://schemas.openxmlformats.org/drawingml/2006/main">
            <a:off x="666750" y="1905000"/>
            <a:ext cx="481012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The combined source passed 252 unit tests, typecheck, lint, web build and policy compilation at the documented checkpoint. Core privacy journeys and newer expansion paths are coded with differing test depth.</a:t>
            </a:r>
          </a:p>
        </p:txBody>
      </p:sp>
      <p:sp>
        <p:nvSpPr>
          <p:cNvPr id="6" name="">
            <a:extLst xmlns:a="http://schemas.openxmlformats.org/drawingml/2006/main">
              <a:ext uri="{FF2B5EF4-FFF2-40B4-BE49-F238E27FC236}">
                <a16:creationId xmlns:a16="http://schemas.microsoft.com/office/drawing/2014/main" id="{80A4C4B9-913D-4CE7-A487-F4B71254232F}"/>
              </a:ext>
            </a:extLst>
          </p:cNvPr>
          <p:cNvSpPr>
            <a:spLocks xmlns:a="http://schemas.openxmlformats.org/drawingml/2006/main" noGrp="1"/>
          </p:cNvSpPr>
          <p:nvPr/>
        </p:nvSpPr>
        <p:spPr>
          <a:xfrm xmlns:a="http://schemas.openxmlformats.org/drawingml/2006/main">
            <a:off x="6334125" y="1428750"/>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QUALIFICATION STILL OPEN</a:t>
            </a:r>
          </a:p>
        </p:txBody>
      </p:sp>
      <p:sp>
        <p:nvSpPr>
          <p:cNvPr id="7" name="">
            <a:extLst xmlns:a="http://schemas.openxmlformats.org/drawingml/2006/main">
              <a:ext uri="{FF2B5EF4-FFF2-40B4-BE49-F238E27FC236}">
                <a16:creationId xmlns:a16="http://schemas.microsoft.com/office/drawing/2014/main" id="{81C056DC-4BC7-491C-9C6C-4105609E767E}"/>
              </a:ext>
            </a:extLst>
          </p:cNvPr>
          <p:cNvSpPr>
            <a:spLocks xmlns:a="http://schemas.openxmlformats.org/drawingml/2006/main" noGrp="1"/>
          </p:cNvSpPr>
          <p:nvPr/>
        </p:nvSpPr>
        <p:spPr>
          <a:xfrm xmlns:a="http://schemas.openxmlformats.org/drawingml/2006/main">
            <a:off x="6334125" y="1905000"/>
            <a:ext cx="47148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All 34 named full-application scenarios, T01–T34, remain NOT_RUN in the canonical record. There is no frozen qualified candidate. Four of 14 expansion families are in progress; ten remain open.</a:t>
            </a:r>
          </a:p>
        </p:txBody>
      </p:sp>
      <p:sp>
        <p:nvSpPr>
          <p:cNvPr id="8" name="">
            <a:extLst xmlns:a="http://schemas.openxmlformats.org/drawingml/2006/main">
              <a:ext uri="{FF2B5EF4-FFF2-40B4-BE49-F238E27FC236}">
                <a16:creationId xmlns:a16="http://schemas.microsoft.com/office/drawing/2014/main" id="{631B1190-A17B-4CFE-BB74-BF3F4AE95181}"/>
              </a:ext>
            </a:extLst>
          </p:cNvPr>
          <p:cNvSpPr>
            <a:spLocks xmlns:a="http://schemas.openxmlformats.org/drawingml/2006/main" noGrp="1"/>
          </p:cNvSpPr>
          <p:nvPr/>
        </p:nvSpPr>
        <p:spPr>
          <a:xfrm xmlns:a="http://schemas.openxmlformats.org/drawingml/2006/main">
            <a:off x="666750" y="533400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14283F"/>
                </a:solidFill>
                <a:latin typeface="Arial"/>
                <a:ea typeface="Arial"/>
                <a:cs typeface="Arial"/>
              </a:defRPr>
            </a:pPr>
            <a:r>
              <a:rPr sz="1950" b="0">
                <a:solidFill>
                  <a:srgbClr val="14283F"/>
                </a:solidFill>
                <a:latin typeface="Arial"/>
                <a:ea typeface="Arial"/>
                <a:cs typeface="Arial"/>
              </a:rPr>
              <a:t>There is no defensible overall completion percentage yet.</a:t>
            </a:r>
          </a:p>
        </p:txBody>
      </p:sp>
    </p:spTree>
    <p:extLst>
      <p:ext uri="{BB962C8B-B14F-4D97-AF65-F5344CB8AC3E}">
        <p14:creationId xmlns:p14="http://schemas.microsoft.com/office/powerpoint/2010/main" val="8599329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59A89DC-CDA3-46B8-8896-377306C0B88B}"/>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Catalogs and adoption</a:t>
            </a:r>
          </a:p>
        </p:txBody>
      </p:sp>
      <p:sp>
        <p:nvSpPr>
          <p:cNvPr id="2" name="">
            <a:extLst xmlns:a="http://schemas.openxmlformats.org/drawingml/2006/main">
              <a:ext uri="{FF2B5EF4-FFF2-40B4-BE49-F238E27FC236}">
                <a16:creationId xmlns:a16="http://schemas.microsoft.com/office/drawing/2014/main" id="{498965C2-8649-4132-AABB-444AA5CC26AF}"/>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325BEECB-C9FC-4948-8E20-364B758D70FB}"/>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D11A9D8C-F32D-4A29-901E-16D75C594CAA}"/>
              </a:ext>
            </a:extLst>
          </p:cNvPr>
          <p:cNvSpPr>
            <a:spLocks xmlns:a="http://schemas.openxmlformats.org/drawingml/2006/main" noGrp="1"/>
          </p:cNvSpPr>
          <p:nvPr/>
        </p:nvSpPr>
        <p:spPr>
          <a:xfrm xmlns:a="http://schemas.openxmlformats.org/drawingml/2006/main">
            <a:off x="666750" y="14287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CATALOG CONTENT</a:t>
            </a:r>
          </a:p>
        </p:txBody>
      </p:sp>
      <p:sp>
        <p:nvSpPr>
          <p:cNvPr id="5" name="">
            <a:extLst xmlns:a="http://schemas.openxmlformats.org/drawingml/2006/main">
              <a:ext uri="{FF2B5EF4-FFF2-40B4-BE49-F238E27FC236}">
                <a16:creationId xmlns:a16="http://schemas.microsoft.com/office/drawing/2014/main" id="{B921243F-322B-431C-B23E-F8E188820C1F}"/>
              </a:ext>
            </a:extLst>
          </p:cNvPr>
          <p:cNvSpPr>
            <a:spLocks xmlns:a="http://schemas.openxmlformats.org/drawingml/2006/main" noGrp="1"/>
          </p:cNvSpPr>
          <p:nvPr/>
        </p:nvSpPr>
        <p:spPr>
          <a:xfrm xmlns:a="http://schemas.openxmlformats.org/drawingml/2006/main">
            <a:off x="666750" y="1905000"/>
            <a:ext cx="49053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Regulatory sources and interpretations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Controls and evidence requirements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Connector permissions and observation methods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Policy, workflow and test definitions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Commercial entitlements and artifacts</a:t>
            </a:r>
          </a:p>
        </p:txBody>
      </p:sp>
      <p:sp>
        <p:nvSpPr>
          <p:cNvPr id="6" name="">
            <a:extLst xmlns:a="http://schemas.openxmlformats.org/drawingml/2006/main">
              <a:ext uri="{FF2B5EF4-FFF2-40B4-BE49-F238E27FC236}">
                <a16:creationId xmlns:a16="http://schemas.microsoft.com/office/drawing/2014/main" id="{3D80C4D3-7A6F-46EB-8C40-BD5383137199}"/>
              </a:ext>
            </a:extLst>
          </p:cNvPr>
          <p:cNvSpPr>
            <a:spLocks xmlns:a="http://schemas.openxmlformats.org/drawingml/2006/main" noGrp="1"/>
          </p:cNvSpPr>
          <p:nvPr/>
        </p:nvSpPr>
        <p:spPr>
          <a:xfrm xmlns:a="http://schemas.openxmlformats.org/drawingml/2006/main">
            <a:off x="6334125" y="1428750"/>
            <a:ext cx="361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ADOPTION PATH</a:t>
            </a:r>
          </a:p>
        </p:txBody>
      </p:sp>
      <p:sp>
        <p:nvSpPr>
          <p:cNvPr id="7" name="">
            <a:extLst xmlns:a="http://schemas.openxmlformats.org/drawingml/2006/main">
              <a:ext uri="{FF2B5EF4-FFF2-40B4-BE49-F238E27FC236}">
                <a16:creationId xmlns:a16="http://schemas.microsoft.com/office/drawing/2014/main" id="{54D9EE96-D93F-441E-8B67-4C5ED3E3AF5C}"/>
              </a:ext>
            </a:extLst>
          </p:cNvPr>
          <p:cNvSpPr>
            <a:spLocks xmlns:a="http://schemas.openxmlformats.org/drawingml/2006/main" noGrp="1"/>
          </p:cNvSpPr>
          <p:nvPr/>
        </p:nvSpPr>
        <p:spPr>
          <a:xfrm xmlns:a="http://schemas.openxmlformats.org/drawingml/2006/main">
            <a:off x="6334125" y="1905000"/>
            <a:ext cx="47148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Publish a signed version.</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Preview applicability and impact.</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Authorised owner selects and configures it.</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Run tests against the adopted version.</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Keep earlier evidence tied to its original version.</a:t>
            </a:r>
          </a:p>
        </p:txBody>
      </p:sp>
      <p:sp>
        <p:nvSpPr>
          <p:cNvPr id="8" name="">
            <a:extLst xmlns:a="http://schemas.openxmlformats.org/drawingml/2006/main">
              <a:ext uri="{FF2B5EF4-FFF2-40B4-BE49-F238E27FC236}">
                <a16:creationId xmlns:a16="http://schemas.microsoft.com/office/drawing/2014/main" id="{65F00001-F67A-4D8A-AB8B-C5C4F196CB53}"/>
              </a:ext>
            </a:extLst>
          </p:cNvPr>
          <p:cNvSpPr>
            <a:spLocks xmlns:a="http://schemas.openxmlformats.org/drawingml/2006/main" noGrp="1"/>
          </p:cNvSpPr>
          <p:nvPr/>
        </p:nvSpPr>
        <p:spPr>
          <a:xfrm xmlns:a="http://schemas.openxmlformats.org/drawingml/2006/main">
            <a:off x="666750" y="5429250"/>
            <a:ext cx="1028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75" b="0">
                <a:solidFill>
                  <a:srgbClr val="14283F"/>
                </a:solidFill>
                <a:latin typeface="Arial"/>
                <a:ea typeface="Arial"/>
                <a:cs typeface="Arial"/>
              </a:defRPr>
            </a:pPr>
            <a:r>
              <a:rPr sz="1575" b="0">
                <a:solidFill>
                  <a:srgbClr val="14283F"/>
                </a:solidFill>
                <a:latin typeface="Arial"/>
                <a:ea typeface="Arial"/>
                <a:cs typeface="Arial"/>
              </a:rPr>
              <a:t>The signed regulatory-package review path exists; approved content and release sign-off remain separate gates.</a:t>
            </a:r>
          </a:p>
        </p:txBody>
      </p:sp>
    </p:spTree>
    <p:extLst>
      <p:ext uri="{BB962C8B-B14F-4D97-AF65-F5344CB8AC3E}">
        <p14:creationId xmlns:p14="http://schemas.microsoft.com/office/powerpoint/2010/main" val="125544359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BF4A18-1EBB-4471-8662-966C22B2C783}"/>
              </a:ext>
            </a:extLst>
          </p:cNvPr>
          <p:cNvSpPr>
            <a:spLocks xmlns:a="http://schemas.openxmlformats.org/drawingml/2006/main" noGrp="1"/>
          </p:cNvSpPr>
          <p:nvPr/>
        </p:nvSpPr>
        <p:spPr>
          <a:xfrm xmlns:a="http://schemas.openxmlformats.org/drawingml/2006/main">
            <a:off x="666750" y="400050"/>
            <a:ext cx="108108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700" b="1">
                <a:solidFill>
                  <a:srgbClr val="14283F"/>
                </a:solidFill>
                <a:latin typeface="Arial"/>
                <a:ea typeface="Arial"/>
                <a:cs typeface="Arial"/>
              </a:defRPr>
            </a:pPr>
            <a:r>
              <a:rPr sz="2700" b="1">
                <a:solidFill>
                  <a:srgbClr val="14283F"/>
                </a:solidFill>
                <a:latin typeface="Arial"/>
                <a:ea typeface="Arial"/>
                <a:cs typeface="Arial"/>
              </a:rPr>
              <a:t>What the customer receives</a:t>
            </a:r>
          </a:p>
        </p:txBody>
      </p:sp>
      <p:sp>
        <p:nvSpPr>
          <p:cNvPr id="2" name="">
            <a:extLst xmlns:a="http://schemas.openxmlformats.org/drawingml/2006/main">
              <a:ext uri="{FF2B5EF4-FFF2-40B4-BE49-F238E27FC236}">
                <a16:creationId xmlns:a16="http://schemas.microsoft.com/office/drawing/2014/main" id="{270B3F01-B43E-4809-A6D3-B364E69A4CD5}"/>
              </a:ext>
            </a:extLst>
          </p:cNvPr>
          <p:cNvSpPr>
            <a:spLocks xmlns:a="http://schemas.openxmlformats.org/drawingml/2006/main" noGrp="1"/>
          </p:cNvSpPr>
          <p:nvPr/>
        </p:nvSpPr>
        <p:spPr>
          <a:xfrm xmlns:a="http://schemas.openxmlformats.org/drawingml/2006/main">
            <a:off x="666750" y="6343650"/>
            <a:ext cx="1000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900" b="0">
                <a:solidFill>
                  <a:srgbClr val="435466"/>
                </a:solidFill>
                <a:latin typeface="Arial"/>
                <a:ea typeface="Arial"/>
                <a:cs typeface="Arial"/>
              </a:defRPr>
            </a:pPr>
            <a:r>
              <a:rPr sz="900" b="0">
                <a:solidFill>
                  <a:srgbClr val="435466"/>
                </a:solidFill>
                <a:latin typeface="Arial"/>
                <a:ea typeface="Arial"/>
                <a:cs typeface="Arial"/>
              </a:rPr>
              <a:t>Source: ORVIA leadership brief, 25 Sep 2026</a:t>
            </a:r>
          </a:p>
        </p:txBody>
      </p:sp>
      <p:sp>
        <p:nvSpPr>
          <p:cNvPr id="3" name="">
            <a:extLst xmlns:a="http://schemas.openxmlformats.org/drawingml/2006/main">
              <a:ext uri="{FF2B5EF4-FFF2-40B4-BE49-F238E27FC236}">
                <a16:creationId xmlns:a16="http://schemas.microsoft.com/office/drawing/2014/main" id="{8CE6E121-8189-43DE-AFC1-67630382FF0E}"/>
              </a:ext>
            </a:extLst>
          </p:cNvPr>
          <p:cNvSpPr>
            <a:spLocks xmlns:a="http://schemas.openxmlformats.org/drawingml/2006/main" noGrp="1"/>
          </p:cNvSpPr>
          <p:nvPr/>
        </p:nvSpPr>
        <p:spPr>
          <a:xfrm xmlns:a="http://schemas.openxmlformats.org/drawingml/2006/main">
            <a:off x="11049000" y="6305550"/>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125" b="1">
                <a:solidFill>
                  <a:srgbClr val="087C82"/>
                </a:solidFill>
                <a:latin typeface="Arial"/>
                <a:ea typeface="Arial"/>
                <a:cs typeface="Arial"/>
              </a:defRPr>
            </a:pPr>
            <a:r>
              <a:rPr sz="1125" b="1">
                <a:solidFill>
                  <a:srgbClr val="087C82"/>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D38D8D4F-0306-4184-A017-FDEAEDFC62F5}"/>
              </a:ext>
            </a:extLst>
          </p:cNvPr>
          <p:cNvSpPr>
            <a:spLocks xmlns:a="http://schemas.openxmlformats.org/drawingml/2006/main" noGrp="1"/>
          </p:cNvSpPr>
          <p:nvPr/>
        </p:nvSpPr>
        <p:spPr>
          <a:xfrm xmlns:a="http://schemas.openxmlformats.org/drawingml/2006/main">
            <a:off x="666750" y="1428750"/>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CUSTOMER INSTALLATION</a:t>
            </a:r>
          </a:p>
        </p:txBody>
      </p:sp>
      <p:sp>
        <p:nvSpPr>
          <p:cNvPr id="5" name="">
            <a:extLst xmlns:a="http://schemas.openxmlformats.org/drawingml/2006/main">
              <a:ext uri="{FF2B5EF4-FFF2-40B4-BE49-F238E27FC236}">
                <a16:creationId xmlns:a16="http://schemas.microsoft.com/office/drawing/2014/main" id="{85119112-CA27-4B07-926F-182FFCA31394}"/>
              </a:ext>
            </a:extLst>
          </p:cNvPr>
          <p:cNvSpPr>
            <a:spLocks xmlns:a="http://schemas.openxmlformats.org/drawingml/2006/main" noGrp="1"/>
          </p:cNvSpPr>
          <p:nvPr/>
        </p:nvSpPr>
        <p:spPr>
          <a:xfrm xmlns:a="http://schemas.openxmlformats.org/drawingml/2006/main">
            <a:off x="666750" y="1905000"/>
            <a:ext cx="49053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Workspace and principal privacy centre</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APIs, durable worker and local database</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Approved connectors, evidence and tests</a:t>
            </a:r>
          </a:p>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Operational records kept in the customer environment</a:t>
            </a:r>
          </a:p>
        </p:txBody>
      </p:sp>
      <p:sp>
        <p:nvSpPr>
          <p:cNvPr id="6" name="">
            <a:extLst xmlns:a="http://schemas.openxmlformats.org/drawingml/2006/main">
              <a:ext uri="{FF2B5EF4-FFF2-40B4-BE49-F238E27FC236}">
                <a16:creationId xmlns:a16="http://schemas.microsoft.com/office/drawing/2014/main" id="{6DD21C6A-4AE7-41C4-8AF1-238B7457DFDD}"/>
              </a:ext>
            </a:extLst>
          </p:cNvPr>
          <p:cNvSpPr>
            <a:spLocks xmlns:a="http://schemas.openxmlformats.org/drawingml/2006/main" noGrp="1"/>
          </p:cNvSpPr>
          <p:nvPr/>
        </p:nvSpPr>
        <p:spPr>
          <a:xfrm xmlns:a="http://schemas.openxmlformats.org/drawingml/2006/main">
            <a:off x="6334125" y="1428750"/>
            <a:ext cx="352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275" b="1">
                <a:solidFill>
                  <a:srgbClr val="087C82"/>
                </a:solidFill>
                <a:latin typeface="Arial"/>
                <a:ea typeface="Arial"/>
                <a:cs typeface="Arial"/>
              </a:defRPr>
            </a:pPr>
            <a:r>
              <a:rPr sz="1275" b="1">
                <a:solidFill>
                  <a:srgbClr val="087C82"/>
                </a:solidFill>
                <a:latin typeface="Arial"/>
                <a:ea typeface="Arial"/>
                <a:cs typeface="Arial"/>
              </a:rPr>
              <a:t>VENDOR BOUNDARY</a:t>
            </a:r>
          </a:p>
        </p:txBody>
      </p:sp>
      <p:sp>
        <p:nvSpPr>
          <p:cNvPr id="7" name="">
            <a:extLst xmlns:a="http://schemas.openxmlformats.org/drawingml/2006/main">
              <a:ext uri="{FF2B5EF4-FFF2-40B4-BE49-F238E27FC236}">
                <a16:creationId xmlns:a16="http://schemas.microsoft.com/office/drawing/2014/main" id="{1D65A524-AAFA-4DDE-AD67-2CE92AB2BF20}"/>
              </a:ext>
            </a:extLst>
          </p:cNvPr>
          <p:cNvSpPr>
            <a:spLocks xmlns:a="http://schemas.openxmlformats.org/drawingml/2006/main" noGrp="1"/>
          </p:cNvSpPr>
          <p:nvPr/>
        </p:nvSpPr>
        <p:spPr>
          <a:xfrm xmlns:a="http://schemas.openxmlformats.org/drawingml/2006/main">
            <a:off x="6334125" y="1905000"/>
            <a:ext cx="47148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14283F"/>
                </a:solidFill>
                <a:latin typeface="Arial"/>
                <a:ea typeface="Arial"/>
                <a:cs typeface="Arial"/>
              </a:defRPr>
            </a:pPr>
            <a:r>
              <a:rPr sz="1650" b="0">
                <a:solidFill>
                  <a:srgbClr val="14283F"/>
                </a:solidFill>
                <a:latin typeface="Arial"/>
                <a:ea typeface="Arial"/>
                <a:cs typeface="Arial"/>
              </a:rPr>
              <a:t>A separate account and delivery service handles licence, signed download/update metadata and limited support metadata. Operational records stay with the customer.</a:t>
            </a:r>
          </a:p>
        </p:txBody>
      </p:sp>
      <p:sp>
        <p:nvSpPr>
          <p:cNvPr id="8" name="">
            <a:extLst xmlns:a="http://schemas.openxmlformats.org/drawingml/2006/main">
              <a:ext uri="{FF2B5EF4-FFF2-40B4-BE49-F238E27FC236}">
                <a16:creationId xmlns:a16="http://schemas.microsoft.com/office/drawing/2014/main" id="{A4503930-0686-48C2-9CB2-2CA771F50D25}"/>
              </a:ext>
            </a:extLst>
          </p:cNvPr>
          <p:cNvSpPr>
            <a:spLocks xmlns:a="http://schemas.openxmlformats.org/drawingml/2006/main" noGrp="1"/>
          </p:cNvSpPr>
          <p:nvPr/>
        </p:nvSpPr>
        <p:spPr>
          <a:xfrm xmlns:a="http://schemas.openxmlformats.org/drawingml/2006/main">
            <a:off x="666750" y="523875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14283F"/>
                </a:solidFill>
                <a:latin typeface="Arial"/>
                <a:ea typeface="Arial"/>
                <a:cs typeface="Arial"/>
              </a:defRPr>
            </a:pPr>
            <a:r>
              <a:rPr sz="1500" b="0">
                <a:solidFill>
                  <a:srgbClr val="14283F"/>
                </a:solidFill>
                <a:latin typeface="Arial"/>
                <a:ea typeface="Arial"/>
                <a:cs typeface="Arial"/>
              </a:rPr>
              <a:t>Local licensing and update primitives are coded. Payment processing primitives exist; complete billing, live provider integration and the full account/download journey still need qualification.</a:t>
            </a:r>
          </a:p>
        </p:txBody>
      </p:sp>
    </p:spTree>
    <p:extLst>
      <p:ext uri="{BB962C8B-B14F-4D97-AF65-F5344CB8AC3E}">
        <p14:creationId xmlns:p14="http://schemas.microsoft.com/office/powerpoint/2010/main" val="9999456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2026-09-25T13:17:09.4050000Z</dcterms:created>
  <dcterms:modified xsi:type="dcterms:W3CDTF">2026-09-25T13:17:09.4050000Z</dcterms:modified>
</coreProperties>
</file>