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c48e2e5a91b4274" /><Relationship Type="http://schemas.openxmlformats.org/officeDocument/2006/relationships/extended-properties" Target="/docProps/app.xml" Id="R621a0f49c58d49a5" /><Relationship Type="http://schemas.openxmlformats.org/officeDocument/2006/relationships/officeDocument" Target="/ppt/presentation.xml" Id="Re5121c7893d84140" /></Relationships>
</file>

<file path=ppt/presentation.xml><?xml version="1.0" encoding="utf-8"?>
<p:presentation xmlns:p="http://schemas.openxmlformats.org/presentationml/2006/main">
  <p:sldMasterIdLst>
    <p:sldMasterId xmlns:r="http://schemas.openxmlformats.org/officeDocument/2006/relationships" id="2147483648" r:id="Rb5de5879932d4961"/>
  </p:sldMasterIdLst>
  <p:notesMasterIdLst>
    <p:notesMasterId xmlns:r="http://schemas.openxmlformats.org/officeDocument/2006/relationships" r:id="R27755fa4aa484c2d"/>
  </p:notesMasterIdLst>
  <p:sldIdLst>
    <p:sldId xmlns:r="http://schemas.openxmlformats.org/officeDocument/2006/relationships" id="256" r:id="Rb40733e66c114be6"/>
    <p:sldId xmlns:r="http://schemas.openxmlformats.org/officeDocument/2006/relationships" id="257" r:id="R4e742a5d39ec4606"/>
    <p:sldId xmlns:r="http://schemas.openxmlformats.org/officeDocument/2006/relationships" id="258" r:id="R63f2c65b99a048af"/>
    <p:sldId xmlns:r="http://schemas.openxmlformats.org/officeDocument/2006/relationships" id="259" r:id="R35fbb62308874565"/>
    <p:sldId xmlns:r="http://schemas.openxmlformats.org/officeDocument/2006/relationships" id="260" r:id="Rdb2b200876954a27"/>
    <p:sldId xmlns:r="http://schemas.openxmlformats.org/officeDocument/2006/relationships" id="261" r:id="R52b7a6897da44778"/>
    <p:sldId xmlns:r="http://schemas.openxmlformats.org/officeDocument/2006/relationships" id="262" r:id="Rd72b221f526d4bce"/>
    <p:sldId xmlns:r="http://schemas.openxmlformats.org/officeDocument/2006/relationships" id="263" r:id="R07502b75254749b7"/>
    <p:sldId xmlns:r="http://schemas.openxmlformats.org/officeDocument/2006/relationships" id="264" r:id="Re124ac61eaca4eca"/>
    <p:sldId xmlns:r="http://schemas.openxmlformats.org/officeDocument/2006/relationships" id="265" r:id="R959bc5e19683418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b4a1d822ca24c5a" /><Relationship Type="http://schemas.openxmlformats.org/officeDocument/2006/relationships/slideMaster" Target="/ppt/slideMasters/slideMaster1.xml" Id="Rb5de5879932d4961" /><Relationship Type="http://schemas.openxmlformats.org/officeDocument/2006/relationships/notesMaster" Target="/ppt/notesMasters/notesMaster1.xml" Id="R27755fa4aa484c2d" /><Relationship Type="http://schemas.openxmlformats.org/officeDocument/2006/relationships/presProps" Target="/ppt/presProps.xml" Id="Rf94e29d049824f8c" /><Relationship Type="http://schemas.openxmlformats.org/officeDocument/2006/relationships/tableStyles" Target="/ppt/tableStyles.xml" Id="R6f5b9c459c464833" /><Relationship Type="http://schemas.openxmlformats.org/officeDocument/2006/relationships/slide" Target="/ppt/slides/slide1.xml" Id="Rb40733e66c114be6" /><Relationship Type="http://schemas.openxmlformats.org/officeDocument/2006/relationships/slide" Target="/ppt/slides/slide2.xml" Id="R4e742a5d39ec4606" /><Relationship Type="http://schemas.openxmlformats.org/officeDocument/2006/relationships/slide" Target="/ppt/slides/slide3.xml" Id="R63f2c65b99a048af" /><Relationship Type="http://schemas.openxmlformats.org/officeDocument/2006/relationships/slide" Target="/ppt/slides/slide4.xml" Id="R35fbb62308874565" /><Relationship Type="http://schemas.openxmlformats.org/officeDocument/2006/relationships/slide" Target="/ppt/slides/slide5.xml" Id="Rdb2b200876954a27" /><Relationship Type="http://schemas.openxmlformats.org/officeDocument/2006/relationships/slide" Target="/ppt/slides/slide6.xml" Id="R52b7a6897da44778" /><Relationship Type="http://schemas.openxmlformats.org/officeDocument/2006/relationships/slide" Target="/ppt/slides/slide7.xml" Id="Rd72b221f526d4bce" /><Relationship Type="http://schemas.openxmlformats.org/officeDocument/2006/relationships/slide" Target="/ppt/slides/slide8.xml" Id="R07502b75254749b7" /><Relationship Type="http://schemas.openxmlformats.org/officeDocument/2006/relationships/slide" Target="/ppt/slides/slide9.xml" Id="Re124ac61eaca4eca" /><Relationship Type="http://schemas.openxmlformats.org/officeDocument/2006/relationships/slide" Target="/ppt/slides/slide10.xml" Id="R959bc5e19683418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adc103c0d9d4ca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d70139c49b844ae" /><Relationship Type="http://schemas.openxmlformats.org/officeDocument/2006/relationships/notesMaster" Target="/ppt/notesMasters/notesMaster1.xml" Id="R484662d018184cb0" /></Relationships>
</file>

<file path=ppt/notesSlides/_rels/notesSlide2.xml.rels>&#65279;<?xml version="1.0" encoding="utf-8"?><Relationships xmlns="http://schemas.openxmlformats.org/package/2006/relationships"><Relationship Type="http://schemas.openxmlformats.org/officeDocument/2006/relationships/slide" Target="/ppt/slides/slide2.xml" Id="R925c8378cf5d4672" /><Relationship Type="http://schemas.openxmlformats.org/officeDocument/2006/relationships/notesMaster" Target="/ppt/notesMasters/notesMaster1.xml" Id="Racf85364bd6c40de" /></Relationships>
</file>

<file path=ppt/notesSlides/_rels/notesSlide3.xml.rels>&#65279;<?xml version="1.0" encoding="utf-8"?><Relationships xmlns="http://schemas.openxmlformats.org/package/2006/relationships"><Relationship Type="http://schemas.openxmlformats.org/officeDocument/2006/relationships/slide" Target="/ppt/slides/slide3.xml" Id="R23b53d2333174d05" /><Relationship Type="http://schemas.openxmlformats.org/officeDocument/2006/relationships/notesMaster" Target="/ppt/notesMasters/notesMaster1.xml" Id="Raf36e1b2c9794858" /></Relationships>
</file>

<file path=ppt/notesSlides/_rels/notesSlide4.xml.rels>&#65279;<?xml version="1.0" encoding="utf-8"?><Relationships xmlns="http://schemas.openxmlformats.org/package/2006/relationships"><Relationship Type="http://schemas.openxmlformats.org/officeDocument/2006/relationships/slide" Target="/ppt/slides/slide4.xml" Id="Rd873757060c04d7b" /><Relationship Type="http://schemas.openxmlformats.org/officeDocument/2006/relationships/notesMaster" Target="/ppt/notesMasters/notesMaster1.xml" Id="R7c67bc4b78d04935" /></Relationships>
</file>

<file path=ppt/notesSlides/_rels/notesSlide5.xml.rels>&#65279;<?xml version="1.0" encoding="utf-8"?><Relationships xmlns="http://schemas.openxmlformats.org/package/2006/relationships"><Relationship Type="http://schemas.openxmlformats.org/officeDocument/2006/relationships/slide" Target="/ppt/slides/slide5.xml" Id="Ree9241982db147b2" /><Relationship Type="http://schemas.openxmlformats.org/officeDocument/2006/relationships/notesMaster" Target="/ppt/notesMasters/notesMaster1.xml" Id="Rdd0c0e6af5574e94" /></Relationships>
</file>

<file path=ppt/notesSlides/_rels/notesSlide6.xml.rels>&#65279;<?xml version="1.0" encoding="utf-8"?><Relationships xmlns="http://schemas.openxmlformats.org/package/2006/relationships"><Relationship Type="http://schemas.openxmlformats.org/officeDocument/2006/relationships/slide" Target="/ppt/slides/slide6.xml" Id="R8d885d0bcd964909" /><Relationship Type="http://schemas.openxmlformats.org/officeDocument/2006/relationships/notesMaster" Target="/ppt/notesMasters/notesMaster1.xml" Id="R1614a8445b514f58" /></Relationships>
</file>

<file path=ppt/notesSlides/_rels/notesSlide7.xml.rels>&#65279;<?xml version="1.0" encoding="utf-8"?><Relationships xmlns="http://schemas.openxmlformats.org/package/2006/relationships"><Relationship Type="http://schemas.openxmlformats.org/officeDocument/2006/relationships/slide" Target="/ppt/slides/slide7.xml" Id="R533f9d7446634a16" /><Relationship Type="http://schemas.openxmlformats.org/officeDocument/2006/relationships/notesMaster" Target="/ppt/notesMasters/notesMaster1.xml" Id="R41aae946a4b24e7f" /></Relationships>
</file>

<file path=ppt/notesSlides/_rels/notesSlide8.xml.rels>&#65279;<?xml version="1.0" encoding="utf-8"?><Relationships xmlns="http://schemas.openxmlformats.org/package/2006/relationships"><Relationship Type="http://schemas.openxmlformats.org/officeDocument/2006/relationships/slide" Target="/ppt/slides/slide8.xml" Id="R0ba1ab232a104ef9" /><Relationship Type="http://schemas.openxmlformats.org/officeDocument/2006/relationships/notesMaster" Target="/ppt/notesMasters/notesMaster1.xml" Id="R68916580b3b34216" /></Relationships>
</file>

<file path=ppt/notesSlides/_rels/notesSlide9.xml.rels>&#65279;<?xml version="1.0" encoding="utf-8"?><Relationships xmlns="http://schemas.openxmlformats.org/package/2006/relationships"><Relationship Type="http://schemas.openxmlformats.org/officeDocument/2006/relationships/slide" Target="/ppt/slides/slide9.xml" Id="Rfe1153e43a1b47c0" /><Relationship Type="http://schemas.openxmlformats.org/officeDocument/2006/relationships/notesMaster" Target="/ppt/notesMasters/notesMaster1.xml" Id="Rbfa4ddfa60ae4ec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d970f1adb55413d" /><Relationship Type="http://schemas.openxmlformats.org/officeDocument/2006/relationships/notesMaster" Target="/ppt/notesMasters/notesMaster1.xml" Id="R21db5bc8752a448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ORVIA_Leadership_Market_Position_2026-09-25.pdf, opening product case. Scope: customer-local synthetic engineering profile; no production acceptance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leadership brief, product case. The documented path is demonstrated with synthetic/local targets.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leadership brief §1. Base synthetic Aster/Birch tests and merged DPDP code have different qualification depth.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leadership brief comparison pages and §2. Vendor descriptions are public positioning, not independent benchmarks. Module availability and price vary by contract.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leadership brief §3; approved master rev 1.4; 25 Sep overall completion assessment and expanded V1 baseline.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leadership brief §§4–5. The PostgreSQL discovery adapter observes approved catalog metadata; it does not scan row values or classify personal data. Legal interpretation requires owner 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leadership brief §§6–7 and overall completion assessment. Merged DPDP test suites exist but lack committed execution artifacts for the merged candidate.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leadership brief §8 and docs/engineering/2026-09-25-overall-completion-and-resume.md. Historical 100/104 routed-requirement figure is not whole-product completion.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leadership brief §9. This adoption path includes target design and coded primitives; do not present a complete approved content catalog as shipped.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leadership brief §10 and overall completion assessment. Intended customer package versus qualified release status is distinguished on the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7a0cd98a332454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03d137aba6c4f28" /><Relationship Type="http://schemas.openxmlformats.org/officeDocument/2006/relationships/slideLayout" Target="/ppt/slideLayouts/slideLayout1.xml" Id="R39e87b24686d471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9e87b24686d471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946446da4f84e5e" /><Relationship Type="http://schemas.openxmlformats.org/officeDocument/2006/relationships/notesSlide" Target="/ppt/notesSlides/notesSlide1.xml" Id="R201d264116fd414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f13083c64c641dd" /><Relationship Type="http://schemas.openxmlformats.org/officeDocument/2006/relationships/notesSlide" Target="/ppt/notesSlides/notesSlide2.xml" Id="R9d80f8caf4df4ee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e712f6cb48b4c46" /><Relationship Type="http://schemas.openxmlformats.org/officeDocument/2006/relationships/notesSlide" Target="/ppt/notesSlides/notesSlide3.xml" Id="R079f00cfcbbd43f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2d8c4d7174c409a" /><Relationship Type="http://schemas.openxmlformats.org/officeDocument/2006/relationships/notesSlide" Target="/ppt/notesSlides/notesSlide4.xml" Id="R799a2c4b4a2e40e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0715ede9d7a481e" /><Relationship Type="http://schemas.openxmlformats.org/officeDocument/2006/relationships/notesSlide" Target="/ppt/notesSlides/notesSlide5.xml" Id="Re98caf4994e240e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cba5e7c36c54646" /><Relationship Type="http://schemas.openxmlformats.org/officeDocument/2006/relationships/notesSlide" Target="/ppt/notesSlides/notesSlide6.xml" Id="R80164d347e244a5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4c92b945750461d" /><Relationship Type="http://schemas.openxmlformats.org/officeDocument/2006/relationships/notesSlide" Target="/ppt/notesSlides/notesSlide7.xml" Id="Rc74b9c93afa1462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620b0842eb24382" /><Relationship Type="http://schemas.openxmlformats.org/officeDocument/2006/relationships/notesSlide" Target="/ppt/notesSlides/notesSlide8.xml" Id="Rdf038488b5ed4519"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d55a4c86ceb84876" /><Relationship Type="http://schemas.openxmlformats.org/officeDocument/2006/relationships/notesSlide" Target="/ppt/notesSlides/notesSlide9.xml" Id="Rae46370b25f34b6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5507780afce94aa3" /><Relationship Type="http://schemas.openxmlformats.org/officeDocument/2006/relationships/notesSlide" Target="/ppt/notesSlides/notesSlide10.xml" Id="R79200decfe2b47a9"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43EDB39-F94D-478F-B57C-736FDC2EA810}"/>
              </a:ext>
            </a:extLst>
          </p:cNvPr>
          <p:cNvSpPr>
            <a:spLocks xmlns:a="http://schemas.openxmlformats.org/drawingml/2006/main" noGrp="1"/>
          </p:cNvSpPr>
          <p:nvPr/>
        </p:nvSpPr>
        <p:spPr>
          <a:xfrm xmlns:a="http://schemas.openxmlformats.org/drawingml/2006/main">
            <a:off x="666750" y="400050"/>
            <a:ext cx="108108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700" b="1">
                <a:solidFill>
                  <a:srgbClr val="14283F"/>
                </a:solidFill>
                <a:latin typeface="Arial"/>
                <a:ea typeface="Arial"/>
                <a:cs typeface="Arial"/>
              </a:defRPr>
            </a:pPr>
            <a:r>
              <a:rPr sz="2700" b="1">
                <a:solidFill>
                  <a:srgbClr val="14283F"/>
                </a:solidFill>
                <a:latin typeface="Arial"/>
                <a:ea typeface="Arial"/>
                <a:cs typeface="Arial"/>
              </a:rPr>
              <a:t>ORVIA: privacy action with a recorded outcome</a:t>
            </a:r>
          </a:p>
        </p:txBody>
      </p:sp>
      <p:sp>
        <p:nvSpPr>
          <p:cNvPr id="2" name="">
            <a:extLst xmlns:a="http://schemas.openxmlformats.org/drawingml/2006/main">
              <a:ext uri="{FF2B5EF4-FFF2-40B4-BE49-F238E27FC236}">
                <a16:creationId xmlns:a16="http://schemas.microsoft.com/office/drawing/2014/main" id="{78FFE879-968F-44EB-B446-D41A83FF0FDB}"/>
              </a:ext>
            </a:extLst>
          </p:cNvPr>
          <p:cNvSpPr>
            <a:spLocks xmlns:a="http://schemas.openxmlformats.org/drawingml/2006/main" noGrp="1"/>
          </p:cNvSpPr>
          <p:nvPr/>
        </p:nvSpPr>
        <p:spPr>
          <a:xfrm xmlns:a="http://schemas.openxmlformats.org/drawingml/2006/main">
            <a:off x="666750" y="6343650"/>
            <a:ext cx="1000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900" b="0">
                <a:solidFill>
                  <a:srgbClr val="435466"/>
                </a:solidFill>
                <a:latin typeface="Arial"/>
                <a:ea typeface="Arial"/>
                <a:cs typeface="Arial"/>
              </a:defRPr>
            </a:pPr>
            <a:r>
              <a:rPr sz="900" b="0">
                <a:solidFill>
                  <a:srgbClr val="435466"/>
                </a:solidFill>
                <a:latin typeface="Arial"/>
                <a:ea typeface="Arial"/>
                <a:cs typeface="Arial"/>
              </a:rPr>
              <a:t>Source: ORVIA leadership brief, 25 Sep 2026</a:t>
            </a:r>
          </a:p>
        </p:txBody>
      </p:sp>
      <p:sp>
        <p:nvSpPr>
          <p:cNvPr id="3" name="">
            <a:extLst xmlns:a="http://schemas.openxmlformats.org/drawingml/2006/main">
              <a:ext uri="{FF2B5EF4-FFF2-40B4-BE49-F238E27FC236}">
                <a16:creationId xmlns:a16="http://schemas.microsoft.com/office/drawing/2014/main" id="{A979D704-81A4-4E35-AA4D-FA83B041DABD}"/>
              </a:ext>
            </a:extLst>
          </p:cNvPr>
          <p:cNvSpPr>
            <a:spLocks xmlns:a="http://schemas.openxmlformats.org/drawingml/2006/main" noGrp="1"/>
          </p:cNvSpPr>
          <p:nvPr/>
        </p:nvSpPr>
        <p:spPr>
          <a:xfrm xmlns:a="http://schemas.openxmlformats.org/drawingml/2006/main">
            <a:off x="11049000" y="63055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125" b="1">
                <a:solidFill>
                  <a:srgbClr val="087C82"/>
                </a:solidFill>
                <a:latin typeface="Arial"/>
                <a:ea typeface="Arial"/>
                <a:cs typeface="Arial"/>
              </a:defRPr>
            </a:pPr>
            <a:r>
              <a:rPr sz="1125" b="1">
                <a:solidFill>
                  <a:srgbClr val="087C82"/>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21D096A8-8992-4C42-9892-D11BD0FA90FC}"/>
              </a:ext>
            </a:extLst>
          </p:cNvPr>
          <p:cNvSpPr>
            <a:spLocks xmlns:a="http://schemas.openxmlformats.org/drawingml/2006/main" noGrp="1"/>
          </p:cNvSpPr>
          <p:nvPr/>
        </p:nvSpPr>
        <p:spPr>
          <a:xfrm xmlns:a="http://schemas.openxmlformats.org/drawingml/2006/main">
            <a:off x="666750" y="1619250"/>
            <a:ext cx="9810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250" b="0">
                <a:solidFill>
                  <a:srgbClr val="435466"/>
                </a:solidFill>
                <a:latin typeface="Arial"/>
                <a:ea typeface="Arial"/>
                <a:cs typeface="Arial"/>
              </a:defRPr>
            </a:pPr>
            <a:r>
              <a:rPr sz="2250" b="0">
                <a:solidFill>
                  <a:srgbClr val="435466"/>
                </a:solidFill>
                <a:latin typeface="Arial"/>
                <a:ea typeface="Arial"/>
                <a:cs typeface="Arial"/>
              </a:rPr>
              <a:t>A customer-local product for connecting a person’s choice to downstream work and evidence</a:t>
            </a:r>
          </a:p>
        </p:txBody>
      </p:sp>
      <p:sp>
        <p:nvSpPr>
          <p:cNvPr id="5" name="">
            <a:extLst xmlns:a="http://schemas.openxmlformats.org/drawingml/2006/main">
              <a:ext uri="{FF2B5EF4-FFF2-40B4-BE49-F238E27FC236}">
                <a16:creationId xmlns:a16="http://schemas.microsoft.com/office/drawing/2014/main" id="{A7F2FD8B-106B-4094-A593-31E88DE1BD95}"/>
              </a:ext>
            </a:extLst>
          </p:cNvPr>
          <p:cNvSpPr>
            <a:spLocks xmlns:a="http://schemas.openxmlformats.org/drawingml/2006/main" noGrp="1"/>
          </p:cNvSpPr>
          <p:nvPr/>
        </p:nvSpPr>
        <p:spPr>
          <a:xfrm xmlns:a="http://schemas.openxmlformats.org/drawingml/2006/main">
            <a:off x="666750" y="3048000"/>
            <a:ext cx="247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1">
                <a:solidFill>
                  <a:srgbClr val="087C82"/>
                </a:solidFill>
                <a:latin typeface="Arial"/>
                <a:ea typeface="Arial"/>
                <a:cs typeface="Arial"/>
              </a:defRPr>
            </a:pPr>
            <a:r>
              <a:rPr sz="1275" b="1">
                <a:solidFill>
                  <a:srgbClr val="087C82"/>
                </a:solidFill>
                <a:latin typeface="Arial"/>
                <a:ea typeface="Arial"/>
                <a:cs typeface="Arial"/>
              </a:rPr>
              <a:t>THE PRODUCT CASE</a:t>
            </a:r>
          </a:p>
        </p:txBody>
      </p:sp>
      <p:sp>
        <p:nvSpPr>
          <p:cNvPr id="6" name="">
            <a:extLst xmlns:a="http://schemas.openxmlformats.org/drawingml/2006/main">
              <a:ext uri="{FF2B5EF4-FFF2-40B4-BE49-F238E27FC236}">
                <a16:creationId xmlns:a16="http://schemas.microsoft.com/office/drawing/2014/main" id="{58D2E019-0C9D-4B3A-86D6-CA63A22E8128}"/>
              </a:ext>
            </a:extLst>
          </p:cNvPr>
          <p:cNvSpPr>
            <a:spLocks xmlns:a="http://schemas.openxmlformats.org/drawingml/2006/main" noGrp="1"/>
          </p:cNvSpPr>
          <p:nvPr/>
        </p:nvSpPr>
        <p:spPr>
          <a:xfrm xmlns:a="http://schemas.openxmlformats.org/drawingml/2006/main">
            <a:off x="666750" y="3476625"/>
            <a:ext cx="990600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0">
                <a:solidFill>
                  <a:srgbClr val="14283F"/>
                </a:solidFill>
                <a:latin typeface="Arial"/>
                <a:ea typeface="Arial"/>
                <a:cs typeface="Arial"/>
              </a:defRPr>
            </a:pPr>
            <a:r>
              <a:rPr sz="1950" b="0">
                <a:solidFill>
                  <a:srgbClr val="14283F"/>
                </a:solidFill>
                <a:latin typeface="Arial"/>
                <a:ea typeface="Arial"/>
                <a:cs typeface="Arial"/>
              </a:rPr>
              <a:t>A choice is tied to an exact notice and purpose.</a:t>
            </a:r>
          </a:p>
          <a:p xmlns:a="http://schemas.openxmlformats.org/drawingml/2006/main">
            <a:pPr>
              <a:defRPr sz="1950" b="0">
                <a:solidFill>
                  <a:srgbClr val="14283F"/>
                </a:solidFill>
                <a:latin typeface="Arial"/>
                <a:ea typeface="Arial"/>
                <a:cs typeface="Arial"/>
              </a:defRPr>
            </a:pPr>
            <a:r>
              <a:rPr sz="1950" b="0">
                <a:solidFill>
                  <a:srgbClr val="14283F"/>
                </a:solidFill>
                <a:latin typeface="Arial"/>
                <a:ea typeface="Arial"/>
                <a:cs typeface="Arial"/>
              </a:rPr>
              <a:t>Work continues in a durable workflow.</a:t>
            </a:r>
          </a:p>
          <a:p xmlns:a="http://schemas.openxmlformats.org/drawingml/2006/main">
            <a:pPr>
              <a:defRPr sz="1950" b="0">
                <a:solidFill>
                  <a:srgbClr val="14283F"/>
                </a:solidFill>
                <a:latin typeface="Arial"/>
                <a:ea typeface="Arial"/>
                <a:cs typeface="Arial"/>
              </a:defRPr>
            </a:pPr>
            <a:r>
              <a:rPr sz="1950" b="0">
                <a:solidFill>
                  <a:srgbClr val="14283F"/>
                </a:solidFill>
                <a:latin typeface="Arial"/>
                <a:ea typeface="Arial"/>
                <a:cs typeface="Arial"/>
              </a:rPr>
              <a:t>The target response is checked separately.</a:t>
            </a:r>
          </a:p>
          <a:p xmlns:a="http://schemas.openxmlformats.org/drawingml/2006/main">
            <a:pPr>
              <a:defRPr sz="1950" b="0">
                <a:solidFill>
                  <a:srgbClr val="14283F"/>
                </a:solidFill>
                <a:latin typeface="Arial"/>
                <a:ea typeface="Arial"/>
                <a:cs typeface="Arial"/>
              </a:defRPr>
            </a:pPr>
            <a:r>
              <a:rPr sz="1950" b="0">
                <a:solidFill>
                  <a:srgbClr val="14283F"/>
                </a:solidFill>
                <a:latin typeface="Arial"/>
                <a:ea typeface="Arial"/>
                <a:cs typeface="Arial"/>
              </a:rPr>
              <a:t>The resulting evidence remains available for review.</a:t>
            </a:r>
          </a:p>
        </p:txBody>
      </p:sp>
    </p:spTree>
    <p:extLst>
      <p:ext uri="{BB962C8B-B14F-4D97-AF65-F5344CB8AC3E}">
        <p14:creationId xmlns:p14="http://schemas.microsoft.com/office/powerpoint/2010/main" val="71743888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E8C5992-36AE-44FB-9BC8-6D31996237F3}"/>
              </a:ext>
            </a:extLst>
          </p:cNvPr>
          <p:cNvSpPr>
            <a:spLocks xmlns:a="http://schemas.openxmlformats.org/drawingml/2006/main" noGrp="1"/>
          </p:cNvSpPr>
          <p:nvPr/>
        </p:nvSpPr>
        <p:spPr>
          <a:xfrm xmlns:a="http://schemas.openxmlformats.org/drawingml/2006/main">
            <a:off x="666750" y="400050"/>
            <a:ext cx="108108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700" b="1">
                <a:solidFill>
                  <a:srgbClr val="14283F"/>
                </a:solidFill>
                <a:latin typeface="Arial"/>
                <a:ea typeface="Arial"/>
                <a:cs typeface="Arial"/>
              </a:defRPr>
            </a:pPr>
            <a:r>
              <a:rPr sz="2700" b="1">
                <a:solidFill>
                  <a:srgbClr val="14283F"/>
                </a:solidFill>
                <a:latin typeface="Arial"/>
                <a:ea typeface="Arial"/>
                <a:cs typeface="Arial"/>
              </a:rPr>
              <a:t>What ORVIA makes visible</a:t>
            </a:r>
          </a:p>
        </p:txBody>
      </p:sp>
      <p:sp>
        <p:nvSpPr>
          <p:cNvPr id="2" name="">
            <a:extLst xmlns:a="http://schemas.openxmlformats.org/drawingml/2006/main">
              <a:ext uri="{FF2B5EF4-FFF2-40B4-BE49-F238E27FC236}">
                <a16:creationId xmlns:a16="http://schemas.microsoft.com/office/drawing/2014/main" id="{5BA879CE-9C14-47C1-AAD9-AEE0C4A2C7C9}"/>
              </a:ext>
            </a:extLst>
          </p:cNvPr>
          <p:cNvSpPr>
            <a:spLocks xmlns:a="http://schemas.openxmlformats.org/drawingml/2006/main" noGrp="1"/>
          </p:cNvSpPr>
          <p:nvPr/>
        </p:nvSpPr>
        <p:spPr>
          <a:xfrm xmlns:a="http://schemas.openxmlformats.org/drawingml/2006/main">
            <a:off x="666750" y="6343650"/>
            <a:ext cx="1000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900" b="0">
                <a:solidFill>
                  <a:srgbClr val="435466"/>
                </a:solidFill>
                <a:latin typeface="Arial"/>
                <a:ea typeface="Arial"/>
                <a:cs typeface="Arial"/>
              </a:defRPr>
            </a:pPr>
            <a:r>
              <a:rPr sz="900" b="0">
                <a:solidFill>
                  <a:srgbClr val="435466"/>
                </a:solidFill>
                <a:latin typeface="Arial"/>
                <a:ea typeface="Arial"/>
                <a:cs typeface="Arial"/>
              </a:rPr>
              <a:t>Source: ORVIA leadership brief, 25 Sep 2026</a:t>
            </a:r>
          </a:p>
        </p:txBody>
      </p:sp>
      <p:sp>
        <p:nvSpPr>
          <p:cNvPr id="3" name="">
            <a:extLst xmlns:a="http://schemas.openxmlformats.org/drawingml/2006/main">
              <a:ext uri="{FF2B5EF4-FFF2-40B4-BE49-F238E27FC236}">
                <a16:creationId xmlns:a16="http://schemas.microsoft.com/office/drawing/2014/main" id="{55DEB084-4FE5-41D6-A468-9DFE54BEA613}"/>
              </a:ext>
            </a:extLst>
          </p:cNvPr>
          <p:cNvSpPr>
            <a:spLocks xmlns:a="http://schemas.openxmlformats.org/drawingml/2006/main" noGrp="1"/>
          </p:cNvSpPr>
          <p:nvPr/>
        </p:nvSpPr>
        <p:spPr>
          <a:xfrm xmlns:a="http://schemas.openxmlformats.org/drawingml/2006/main">
            <a:off x="11049000" y="63055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125" b="1">
                <a:solidFill>
                  <a:srgbClr val="087C82"/>
                </a:solidFill>
                <a:latin typeface="Arial"/>
                <a:ea typeface="Arial"/>
                <a:cs typeface="Arial"/>
              </a:defRPr>
            </a:pPr>
            <a:r>
              <a:rPr sz="1125" b="1">
                <a:solidFill>
                  <a:srgbClr val="087C82"/>
                </a:solidFill>
                <a:latin typeface="Arial"/>
                <a:ea typeface="Arial"/>
                <a:cs typeface="Arial"/>
              </a:rPr>
              <a:t>02</a:t>
            </a:r>
          </a:p>
        </p:txBody>
      </p:sp>
      <p:sp>
        <p:nvSpPr>
          <p:cNvPr id="4" name="">
            <a:extLst xmlns:a="http://schemas.openxmlformats.org/drawingml/2006/main">
              <a:ext uri="{FF2B5EF4-FFF2-40B4-BE49-F238E27FC236}">
                <a16:creationId xmlns:a16="http://schemas.microsoft.com/office/drawing/2014/main" id="{5A7D3E51-84BA-463E-AB0D-07E144BED36C}"/>
              </a:ext>
            </a:extLst>
          </p:cNvPr>
          <p:cNvSpPr>
            <a:spLocks xmlns:a="http://schemas.openxmlformats.org/drawingml/2006/main" noGrp="1"/>
          </p:cNvSpPr>
          <p:nvPr/>
        </p:nvSpPr>
        <p:spPr>
          <a:xfrm xmlns:a="http://schemas.openxmlformats.org/drawingml/2006/main">
            <a:off x="666750" y="1485900"/>
            <a:ext cx="228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1">
                <a:solidFill>
                  <a:srgbClr val="087C82"/>
                </a:solidFill>
                <a:latin typeface="Arial"/>
                <a:ea typeface="Arial"/>
                <a:cs typeface="Arial"/>
              </a:defRPr>
            </a:pPr>
            <a:r>
              <a:rPr sz="1275" b="1">
                <a:solidFill>
                  <a:srgbClr val="087C82"/>
                </a:solidFill>
                <a:latin typeface="Arial"/>
                <a:ea typeface="Arial"/>
                <a:cs typeface="Arial"/>
              </a:rPr>
              <a:t>CHOICE</a:t>
            </a:r>
          </a:p>
        </p:txBody>
      </p:sp>
      <p:sp>
        <p:nvSpPr>
          <p:cNvPr id="5" name="">
            <a:extLst xmlns:a="http://schemas.openxmlformats.org/drawingml/2006/main">
              <a:ext uri="{FF2B5EF4-FFF2-40B4-BE49-F238E27FC236}">
                <a16:creationId xmlns:a16="http://schemas.microsoft.com/office/drawing/2014/main" id="{2B8DD644-9074-4A5D-9B3E-E65CFAB84C48}"/>
              </a:ext>
            </a:extLst>
          </p:cNvPr>
          <p:cNvSpPr>
            <a:spLocks xmlns:a="http://schemas.openxmlformats.org/drawingml/2006/main" noGrp="1"/>
          </p:cNvSpPr>
          <p:nvPr/>
        </p:nvSpPr>
        <p:spPr>
          <a:xfrm xmlns:a="http://schemas.openxmlformats.org/drawingml/2006/main">
            <a:off x="4333875" y="1485900"/>
            <a:ext cx="228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1">
                <a:solidFill>
                  <a:srgbClr val="087C82"/>
                </a:solidFill>
                <a:latin typeface="Arial"/>
                <a:ea typeface="Arial"/>
                <a:cs typeface="Arial"/>
              </a:defRPr>
            </a:pPr>
            <a:r>
              <a:rPr sz="1275" b="1">
                <a:solidFill>
                  <a:srgbClr val="087C82"/>
                </a:solidFill>
                <a:latin typeface="Arial"/>
                <a:ea typeface="Arial"/>
                <a:cs typeface="Arial"/>
              </a:rPr>
              <a:t>ACTION</a:t>
            </a:r>
          </a:p>
        </p:txBody>
      </p:sp>
      <p:sp>
        <p:nvSpPr>
          <p:cNvPr id="6" name="">
            <a:extLst xmlns:a="http://schemas.openxmlformats.org/drawingml/2006/main">
              <a:ext uri="{FF2B5EF4-FFF2-40B4-BE49-F238E27FC236}">
                <a16:creationId xmlns:a16="http://schemas.microsoft.com/office/drawing/2014/main" id="{F17F2EDA-ABAC-42D3-9760-FB5B504726F0}"/>
              </a:ext>
            </a:extLst>
          </p:cNvPr>
          <p:cNvSpPr>
            <a:spLocks xmlns:a="http://schemas.openxmlformats.org/drawingml/2006/main" noGrp="1"/>
          </p:cNvSpPr>
          <p:nvPr/>
        </p:nvSpPr>
        <p:spPr>
          <a:xfrm xmlns:a="http://schemas.openxmlformats.org/drawingml/2006/main">
            <a:off x="8001000" y="1485900"/>
            <a:ext cx="228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1">
                <a:solidFill>
                  <a:srgbClr val="087C82"/>
                </a:solidFill>
                <a:latin typeface="Arial"/>
                <a:ea typeface="Arial"/>
                <a:cs typeface="Arial"/>
              </a:defRPr>
            </a:pPr>
            <a:r>
              <a:rPr sz="1275" b="1">
                <a:solidFill>
                  <a:srgbClr val="087C82"/>
                </a:solidFill>
                <a:latin typeface="Arial"/>
                <a:ea typeface="Arial"/>
                <a:cs typeface="Arial"/>
              </a:rPr>
              <a:t>PROOF</a:t>
            </a:r>
          </a:p>
        </p:txBody>
      </p:sp>
      <p:sp>
        <p:nvSpPr>
          <p:cNvPr id="7" name="">
            <a:extLst xmlns:a="http://schemas.openxmlformats.org/drawingml/2006/main">
              <a:ext uri="{FF2B5EF4-FFF2-40B4-BE49-F238E27FC236}">
                <a16:creationId xmlns:a16="http://schemas.microsoft.com/office/drawing/2014/main" id="{EEC763D3-6E72-485E-81E3-1C5E5B866B70}"/>
              </a:ext>
            </a:extLst>
          </p:cNvPr>
          <p:cNvSpPr>
            <a:spLocks xmlns:a="http://schemas.openxmlformats.org/drawingml/2006/main" noGrp="1"/>
          </p:cNvSpPr>
          <p:nvPr/>
        </p:nvSpPr>
        <p:spPr>
          <a:xfrm xmlns:a="http://schemas.openxmlformats.org/drawingml/2006/main">
            <a:off x="666750" y="1952625"/>
            <a:ext cx="295275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14283F"/>
                </a:solidFill>
                <a:latin typeface="Arial"/>
                <a:ea typeface="Arial"/>
                <a:cs typeface="Arial"/>
              </a:defRPr>
            </a:pPr>
            <a:r>
              <a:rPr sz="1800" b="0">
                <a:solidFill>
                  <a:srgbClr val="14283F"/>
                </a:solidFill>
                <a:latin typeface="Arial"/>
                <a:ea typeface="Arial"/>
                <a:cs typeface="Arial"/>
              </a:rPr>
              <a:t>Exact notice version and purpose</a:t>
            </a:r>
          </a:p>
          <a:p xmlns:a="http://schemas.openxmlformats.org/drawingml/2006/main">
            <a:pPr>
              <a:defRPr sz="1800" b="0">
                <a:solidFill>
                  <a:srgbClr val="14283F"/>
                </a:solidFill>
                <a:latin typeface="Arial"/>
                <a:ea typeface="Arial"/>
                <a:cs typeface="Arial"/>
              </a:defRPr>
            </a:pPr>
            <a:r>
              <a:rPr sz="1800" b="0">
                <a:solidFill>
                  <a:srgbClr val="14283F"/>
                </a:solidFill>
                <a:latin typeface="Arial"/>
                <a:ea typeface="Arial"/>
                <a:cs typeface="Arial"/>
              </a:rPr>
              <a:t>Ordered consent and withdrawal</a:t>
            </a:r>
          </a:p>
        </p:txBody>
      </p:sp>
      <p:sp>
        <p:nvSpPr>
          <p:cNvPr id="8" name="">
            <a:extLst xmlns:a="http://schemas.openxmlformats.org/drawingml/2006/main">
              <a:ext uri="{FF2B5EF4-FFF2-40B4-BE49-F238E27FC236}">
                <a16:creationId xmlns:a16="http://schemas.microsoft.com/office/drawing/2014/main" id="{BACC8666-EB32-4396-A202-E924F1AA04E6}"/>
              </a:ext>
            </a:extLst>
          </p:cNvPr>
          <p:cNvSpPr>
            <a:spLocks xmlns:a="http://schemas.openxmlformats.org/drawingml/2006/main" noGrp="1"/>
          </p:cNvSpPr>
          <p:nvPr/>
        </p:nvSpPr>
        <p:spPr>
          <a:xfrm xmlns:a="http://schemas.openxmlformats.org/drawingml/2006/main">
            <a:off x="4333875" y="1952625"/>
            <a:ext cx="3000375"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14283F"/>
                </a:solidFill>
                <a:latin typeface="Arial"/>
                <a:ea typeface="Arial"/>
                <a:cs typeface="Arial"/>
              </a:defRPr>
            </a:pPr>
            <a:r>
              <a:rPr sz="1800" b="0">
                <a:solidFill>
                  <a:srgbClr val="14283F"/>
                </a:solidFill>
                <a:latin typeface="Arial"/>
                <a:ea typeface="Arial"/>
                <a:cs typeface="Arial"/>
              </a:rPr>
              <a:t>Scoped command and durable work</a:t>
            </a:r>
          </a:p>
          <a:p xmlns:a="http://schemas.openxmlformats.org/drawingml/2006/main">
            <a:pPr>
              <a:defRPr sz="1800" b="0">
                <a:solidFill>
                  <a:srgbClr val="14283F"/>
                </a:solidFill>
                <a:latin typeface="Arial"/>
                <a:ea typeface="Arial"/>
                <a:cs typeface="Arial"/>
              </a:defRPr>
            </a:pPr>
            <a:r>
              <a:rPr sz="1800" b="0">
                <a:solidFill>
                  <a:srgbClr val="14283F"/>
                </a:solidFill>
                <a:latin typeface="Arial"/>
                <a:ea typeface="Arial"/>
                <a:cs typeface="Arial"/>
              </a:rPr>
              <a:t>Acknowledgement kept distinct from effect</a:t>
            </a:r>
          </a:p>
        </p:txBody>
      </p:sp>
      <p:sp>
        <p:nvSpPr>
          <p:cNvPr id="9" name="">
            <a:extLst xmlns:a="http://schemas.openxmlformats.org/drawingml/2006/main">
              <a:ext uri="{FF2B5EF4-FFF2-40B4-BE49-F238E27FC236}">
                <a16:creationId xmlns:a16="http://schemas.microsoft.com/office/drawing/2014/main" id="{1D16FBD9-0BAD-4B83-AE69-005132147527}"/>
              </a:ext>
            </a:extLst>
          </p:cNvPr>
          <p:cNvSpPr>
            <a:spLocks xmlns:a="http://schemas.openxmlformats.org/drawingml/2006/main" noGrp="1"/>
          </p:cNvSpPr>
          <p:nvPr/>
        </p:nvSpPr>
        <p:spPr>
          <a:xfrm xmlns:a="http://schemas.openxmlformats.org/drawingml/2006/main">
            <a:off x="8001000" y="1952625"/>
            <a:ext cx="3000375"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14283F"/>
                </a:solidFill>
                <a:latin typeface="Arial"/>
                <a:ea typeface="Arial"/>
                <a:cs typeface="Arial"/>
              </a:defRPr>
            </a:pPr>
            <a:r>
              <a:rPr sz="1800" b="0">
                <a:solidFill>
                  <a:srgbClr val="14283F"/>
                </a:solidFill>
                <a:latin typeface="Arial"/>
                <a:ea typeface="Arial"/>
                <a:cs typeface="Arial"/>
              </a:rPr>
              <a:t>Independent target observation</a:t>
            </a:r>
          </a:p>
          <a:p xmlns:a="http://schemas.openxmlformats.org/drawingml/2006/main">
            <a:pPr>
              <a:defRPr sz="1800" b="0">
                <a:solidFill>
                  <a:srgbClr val="14283F"/>
                </a:solidFill>
                <a:latin typeface="Arial"/>
                <a:ea typeface="Arial"/>
                <a:cs typeface="Arial"/>
              </a:defRPr>
            </a:pPr>
            <a:r>
              <a:rPr sz="1800" b="0">
                <a:solidFill>
                  <a:srgbClr val="14283F"/>
                </a:solidFill>
                <a:latin typeface="Arial"/>
                <a:ea typeface="Arial"/>
                <a:cs typeface="Arial"/>
              </a:rPr>
              <a:t>Evidence, tests and coverage gaps</a:t>
            </a:r>
          </a:p>
        </p:txBody>
      </p:sp>
      <p:sp>
        <p:nvSpPr>
          <p:cNvPr id="10" name="">
            <a:extLst xmlns:a="http://schemas.openxmlformats.org/drawingml/2006/main">
              <a:ext uri="{FF2B5EF4-FFF2-40B4-BE49-F238E27FC236}">
                <a16:creationId xmlns:a16="http://schemas.microsoft.com/office/drawing/2014/main" id="{AD0DA230-28DD-4C7A-A0A0-0D68089E8FFB}"/>
              </a:ext>
            </a:extLst>
          </p:cNvPr>
          <p:cNvSpPr>
            <a:spLocks xmlns:a="http://schemas.openxmlformats.org/drawingml/2006/main" noGrp="1"/>
          </p:cNvSpPr>
          <p:nvPr/>
        </p:nvSpPr>
        <p:spPr>
          <a:xfrm xmlns:a="http://schemas.openxmlformats.org/drawingml/2006/main">
            <a:off x="666750" y="4286250"/>
            <a:ext cx="10287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0">
                <a:solidFill>
                  <a:srgbClr val="14283F"/>
                </a:solidFill>
                <a:latin typeface="Arial"/>
                <a:ea typeface="Arial"/>
                <a:cs typeface="Arial"/>
              </a:defRPr>
            </a:pPr>
            <a:r>
              <a:rPr sz="2025" b="0">
                <a:solidFill>
                  <a:srgbClr val="14283F"/>
                </a:solidFill>
                <a:latin typeface="Arial"/>
                <a:ea typeface="Arial"/>
                <a:cs typeface="Arial"/>
              </a:rPr>
              <a:t>A timeout or unchanged target remains unresolved. The product does not turn an acknowledgement into proof of completion.</a:t>
            </a:r>
          </a:p>
        </p:txBody>
      </p:sp>
    </p:spTree>
    <p:extLst>
      <p:ext uri="{BB962C8B-B14F-4D97-AF65-F5344CB8AC3E}">
        <p14:creationId xmlns:p14="http://schemas.microsoft.com/office/powerpoint/2010/main" val="145167504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EF8ACB3-4A5B-4879-83D9-E0305B98CF73}"/>
              </a:ext>
            </a:extLst>
          </p:cNvPr>
          <p:cNvSpPr>
            <a:spLocks xmlns:a="http://schemas.openxmlformats.org/drawingml/2006/main" noGrp="1"/>
          </p:cNvSpPr>
          <p:nvPr/>
        </p:nvSpPr>
        <p:spPr>
          <a:xfrm xmlns:a="http://schemas.openxmlformats.org/drawingml/2006/main">
            <a:off x="666750" y="400050"/>
            <a:ext cx="108108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700" b="1">
                <a:solidFill>
                  <a:srgbClr val="14283F"/>
                </a:solidFill>
                <a:latin typeface="Arial"/>
                <a:ea typeface="Arial"/>
                <a:cs typeface="Arial"/>
              </a:defRPr>
            </a:pPr>
            <a:r>
              <a:rPr sz="2700" b="1">
                <a:solidFill>
                  <a:srgbClr val="14283F"/>
                </a:solidFill>
                <a:latin typeface="Arial"/>
                <a:ea typeface="Arial"/>
                <a:cs typeface="Arial"/>
              </a:rPr>
              <a:t>Priority use cases</a:t>
            </a:r>
          </a:p>
        </p:txBody>
      </p:sp>
      <p:sp>
        <p:nvSpPr>
          <p:cNvPr id="2" name="">
            <a:extLst xmlns:a="http://schemas.openxmlformats.org/drawingml/2006/main">
              <a:ext uri="{FF2B5EF4-FFF2-40B4-BE49-F238E27FC236}">
                <a16:creationId xmlns:a16="http://schemas.microsoft.com/office/drawing/2014/main" id="{6207CD5F-E0CA-4A1D-AEA7-7340F5715B69}"/>
              </a:ext>
            </a:extLst>
          </p:cNvPr>
          <p:cNvSpPr>
            <a:spLocks xmlns:a="http://schemas.openxmlformats.org/drawingml/2006/main" noGrp="1"/>
          </p:cNvSpPr>
          <p:nvPr/>
        </p:nvSpPr>
        <p:spPr>
          <a:xfrm xmlns:a="http://schemas.openxmlformats.org/drawingml/2006/main">
            <a:off x="666750" y="6343650"/>
            <a:ext cx="1000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900" b="0">
                <a:solidFill>
                  <a:srgbClr val="435466"/>
                </a:solidFill>
                <a:latin typeface="Arial"/>
                <a:ea typeface="Arial"/>
                <a:cs typeface="Arial"/>
              </a:defRPr>
            </a:pPr>
            <a:r>
              <a:rPr sz="900" b="0">
                <a:solidFill>
                  <a:srgbClr val="435466"/>
                </a:solidFill>
                <a:latin typeface="Arial"/>
                <a:ea typeface="Arial"/>
                <a:cs typeface="Arial"/>
              </a:rPr>
              <a:t>Source: ORVIA leadership brief, 25 Sep 2026</a:t>
            </a:r>
          </a:p>
        </p:txBody>
      </p:sp>
      <p:sp>
        <p:nvSpPr>
          <p:cNvPr id="3" name="">
            <a:extLst xmlns:a="http://schemas.openxmlformats.org/drawingml/2006/main">
              <a:ext uri="{FF2B5EF4-FFF2-40B4-BE49-F238E27FC236}">
                <a16:creationId xmlns:a16="http://schemas.microsoft.com/office/drawing/2014/main" id="{AA28F231-DD30-456A-98B8-4F86E8E60F24}"/>
              </a:ext>
            </a:extLst>
          </p:cNvPr>
          <p:cNvSpPr>
            <a:spLocks xmlns:a="http://schemas.openxmlformats.org/drawingml/2006/main" noGrp="1"/>
          </p:cNvSpPr>
          <p:nvPr/>
        </p:nvSpPr>
        <p:spPr>
          <a:xfrm xmlns:a="http://schemas.openxmlformats.org/drawingml/2006/main">
            <a:off x="11049000" y="63055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125" b="1">
                <a:solidFill>
                  <a:srgbClr val="087C82"/>
                </a:solidFill>
                <a:latin typeface="Arial"/>
                <a:ea typeface="Arial"/>
                <a:cs typeface="Arial"/>
              </a:defRPr>
            </a:pPr>
            <a:r>
              <a:rPr sz="1125" b="1">
                <a:solidFill>
                  <a:srgbClr val="087C82"/>
                </a:solidFill>
                <a:latin typeface="Arial"/>
                <a:ea typeface="Arial"/>
                <a:cs typeface="Arial"/>
              </a:rPr>
              <a:t>03</a:t>
            </a:r>
          </a:p>
        </p:txBody>
      </p:sp>
      <p:sp>
        <p:nvSpPr>
          <p:cNvPr id="4" name="">
            <a:extLst xmlns:a="http://schemas.openxmlformats.org/drawingml/2006/main">
              <a:ext uri="{FF2B5EF4-FFF2-40B4-BE49-F238E27FC236}">
                <a16:creationId xmlns:a16="http://schemas.microsoft.com/office/drawing/2014/main" id="{0834FBDB-8A08-4272-97D5-15285302DD71}"/>
              </a:ext>
            </a:extLst>
          </p:cNvPr>
          <p:cNvSpPr>
            <a:spLocks xmlns:a="http://schemas.openxmlformats.org/drawingml/2006/main" noGrp="1"/>
          </p:cNvSpPr>
          <p:nvPr/>
        </p:nvSpPr>
        <p:spPr>
          <a:xfrm xmlns:a="http://schemas.openxmlformats.org/drawingml/2006/main">
            <a:off x="666750" y="1476375"/>
            <a:ext cx="2762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1">
                <a:solidFill>
                  <a:srgbClr val="087C82"/>
                </a:solidFill>
                <a:latin typeface="Arial"/>
                <a:ea typeface="Arial"/>
                <a:cs typeface="Arial"/>
              </a:defRPr>
            </a:pPr>
            <a:r>
              <a:rPr sz="1275" b="1">
                <a:solidFill>
                  <a:srgbClr val="087C82"/>
                </a:solidFill>
                <a:latin typeface="Arial"/>
                <a:ea typeface="Arial"/>
                <a:cs typeface="Arial"/>
              </a:rPr>
              <a:t>PRINCIPAL</a:t>
            </a:r>
          </a:p>
        </p:txBody>
      </p:sp>
      <p:sp>
        <p:nvSpPr>
          <p:cNvPr id="5" name="">
            <a:extLst xmlns:a="http://schemas.openxmlformats.org/drawingml/2006/main">
              <a:ext uri="{FF2B5EF4-FFF2-40B4-BE49-F238E27FC236}">
                <a16:creationId xmlns:a16="http://schemas.microsoft.com/office/drawing/2014/main" id="{89E50687-9940-44D1-B078-F8A84493E05A}"/>
              </a:ext>
            </a:extLst>
          </p:cNvPr>
          <p:cNvSpPr>
            <a:spLocks xmlns:a="http://schemas.openxmlformats.org/drawingml/2006/main" noGrp="1"/>
          </p:cNvSpPr>
          <p:nvPr/>
        </p:nvSpPr>
        <p:spPr>
          <a:xfrm xmlns:a="http://schemas.openxmlformats.org/drawingml/2006/main">
            <a:off x="4429125" y="1476375"/>
            <a:ext cx="2762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1">
                <a:solidFill>
                  <a:srgbClr val="087C82"/>
                </a:solidFill>
                <a:latin typeface="Arial"/>
                <a:ea typeface="Arial"/>
                <a:cs typeface="Arial"/>
              </a:defRPr>
            </a:pPr>
            <a:r>
              <a:rPr sz="1275" b="1">
                <a:solidFill>
                  <a:srgbClr val="087C82"/>
                </a:solidFill>
                <a:latin typeface="Arial"/>
                <a:ea typeface="Arial"/>
                <a:cs typeface="Arial"/>
              </a:rPr>
              <a:t>PRIVACY TEAM</a:t>
            </a:r>
          </a:p>
        </p:txBody>
      </p:sp>
      <p:sp>
        <p:nvSpPr>
          <p:cNvPr id="6" name="">
            <a:extLst xmlns:a="http://schemas.openxmlformats.org/drawingml/2006/main">
              <a:ext uri="{FF2B5EF4-FFF2-40B4-BE49-F238E27FC236}">
                <a16:creationId xmlns:a16="http://schemas.microsoft.com/office/drawing/2014/main" id="{7CEC20BC-9583-4F74-A949-CD4E0F0E506E}"/>
              </a:ext>
            </a:extLst>
          </p:cNvPr>
          <p:cNvSpPr>
            <a:spLocks xmlns:a="http://schemas.openxmlformats.org/drawingml/2006/main" noGrp="1"/>
          </p:cNvSpPr>
          <p:nvPr/>
        </p:nvSpPr>
        <p:spPr>
          <a:xfrm xmlns:a="http://schemas.openxmlformats.org/drawingml/2006/main">
            <a:off x="8191500" y="1476375"/>
            <a:ext cx="2762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1">
                <a:solidFill>
                  <a:srgbClr val="087C82"/>
                </a:solidFill>
                <a:latin typeface="Arial"/>
                <a:ea typeface="Arial"/>
                <a:cs typeface="Arial"/>
              </a:defRPr>
            </a:pPr>
            <a:r>
              <a:rPr sz="1275" b="1">
                <a:solidFill>
                  <a:srgbClr val="087C82"/>
                </a:solidFill>
                <a:latin typeface="Arial"/>
                <a:ea typeface="Arial"/>
                <a:cs typeface="Arial"/>
              </a:rPr>
              <a:t>CONTROL OWNER</a:t>
            </a:r>
          </a:p>
        </p:txBody>
      </p:sp>
      <p:sp>
        <p:nvSpPr>
          <p:cNvPr id="7" name="">
            <a:extLst xmlns:a="http://schemas.openxmlformats.org/drawingml/2006/main">
              <a:ext uri="{FF2B5EF4-FFF2-40B4-BE49-F238E27FC236}">
                <a16:creationId xmlns:a16="http://schemas.microsoft.com/office/drawing/2014/main" id="{54AC8CA7-4DF6-427F-B8E7-46FA657644C6}"/>
              </a:ext>
            </a:extLst>
          </p:cNvPr>
          <p:cNvSpPr>
            <a:spLocks xmlns:a="http://schemas.openxmlformats.org/drawingml/2006/main" noGrp="1"/>
          </p:cNvSpPr>
          <p:nvPr/>
        </p:nvSpPr>
        <p:spPr>
          <a:xfrm xmlns:a="http://schemas.openxmlformats.org/drawingml/2006/main">
            <a:off x="666750" y="1952625"/>
            <a:ext cx="30003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14283F"/>
                </a:solidFill>
                <a:latin typeface="Arial"/>
                <a:ea typeface="Arial"/>
                <a:cs typeface="Arial"/>
              </a:defRPr>
            </a:pPr>
            <a:r>
              <a:rPr sz="1650" b="0">
                <a:solidFill>
                  <a:srgbClr val="14283F"/>
                </a:solidFill>
                <a:latin typeface="Arial"/>
                <a:ea typeface="Arial"/>
                <a:cs typeface="Arial"/>
              </a:rPr>
              <a:t>Grant consent against a specific notice</a:t>
            </a:r>
          </a:p>
          <a:p xmlns:a="http://schemas.openxmlformats.org/drawingml/2006/main">
            <a:pPr>
              <a:defRPr sz="1650" b="0">
                <a:solidFill>
                  <a:srgbClr val="14283F"/>
                </a:solidFill>
                <a:latin typeface="Arial"/>
                <a:ea typeface="Arial"/>
                <a:cs typeface="Arial"/>
              </a:defRPr>
            </a:pPr>
            <a:r>
              <a:rPr sz="1650" b="0">
                <a:solidFill>
                  <a:srgbClr val="14283F"/>
                </a:solidFill>
                <a:latin typeface="Arial"/>
                <a:ea typeface="Arial"/>
                <a:cs typeface="Arial"/>
              </a:rPr>
              <a:t>Withdraw consent and follow the target effect</a:t>
            </a:r>
          </a:p>
          <a:p xmlns:a="http://schemas.openxmlformats.org/drawingml/2006/main">
            <a:pPr>
              <a:defRPr sz="1650" b="0">
                <a:solidFill>
                  <a:srgbClr val="14283F"/>
                </a:solidFill>
                <a:latin typeface="Arial"/>
                <a:ea typeface="Arial"/>
                <a:cs typeface="Arial"/>
              </a:defRPr>
            </a:pPr>
            <a:r>
              <a:rPr sz="1650" b="0">
                <a:solidFill>
                  <a:srgbClr val="14283F"/>
                </a:solidFill>
                <a:latin typeface="Arial"/>
                <a:ea typeface="Arial"/>
                <a:cs typeface="Arial"/>
              </a:rPr>
              <a:t>Submit a rights request</a:t>
            </a:r>
          </a:p>
        </p:txBody>
      </p:sp>
      <p:sp>
        <p:nvSpPr>
          <p:cNvPr id="8" name="">
            <a:extLst xmlns:a="http://schemas.openxmlformats.org/drawingml/2006/main">
              <a:ext uri="{FF2B5EF4-FFF2-40B4-BE49-F238E27FC236}">
                <a16:creationId xmlns:a16="http://schemas.microsoft.com/office/drawing/2014/main" id="{2D061D7B-0177-4905-842C-7957C73DDA8A}"/>
              </a:ext>
            </a:extLst>
          </p:cNvPr>
          <p:cNvSpPr>
            <a:spLocks xmlns:a="http://schemas.openxmlformats.org/drawingml/2006/main" noGrp="1"/>
          </p:cNvSpPr>
          <p:nvPr/>
        </p:nvSpPr>
        <p:spPr>
          <a:xfrm xmlns:a="http://schemas.openxmlformats.org/drawingml/2006/main">
            <a:off x="4429125" y="1952625"/>
            <a:ext cx="30003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14283F"/>
                </a:solidFill>
                <a:latin typeface="Arial"/>
                <a:ea typeface="Arial"/>
                <a:cs typeface="Arial"/>
              </a:defRPr>
            </a:pPr>
            <a:r>
              <a:rPr sz="1650" b="0">
                <a:solidFill>
                  <a:srgbClr val="14283F"/>
                </a:solidFill>
                <a:latin typeface="Arial"/>
                <a:ea typeface="Arial"/>
                <a:cs typeface="Arial"/>
              </a:rPr>
              <a:t>Publish reviewed notice versions</a:t>
            </a:r>
          </a:p>
          <a:p xmlns:a="http://schemas.openxmlformats.org/drawingml/2006/main">
            <a:pPr>
              <a:defRPr sz="1650" b="0">
                <a:solidFill>
                  <a:srgbClr val="14283F"/>
                </a:solidFill>
                <a:latin typeface="Arial"/>
                <a:ea typeface="Arial"/>
                <a:cs typeface="Arial"/>
              </a:defRPr>
            </a:pPr>
            <a:r>
              <a:rPr sz="1650" b="0">
                <a:solidFill>
                  <a:srgbClr val="14283F"/>
                </a:solidFill>
                <a:latin typeface="Arial"/>
                <a:ea typeface="Arial"/>
                <a:cs typeface="Arial"/>
              </a:rPr>
              <a:t>Review retention, holds and processor evidence</a:t>
            </a:r>
          </a:p>
          <a:p xmlns:a="http://schemas.openxmlformats.org/drawingml/2006/main">
            <a:pPr>
              <a:defRPr sz="1650" b="0">
                <a:solidFill>
                  <a:srgbClr val="14283F"/>
                </a:solidFill>
                <a:latin typeface="Arial"/>
                <a:ea typeface="Arial"/>
                <a:cs typeface="Arial"/>
              </a:defRPr>
            </a:pPr>
            <a:r>
              <a:rPr sz="1650" b="0">
                <a:solidFill>
                  <a:srgbClr val="14283F"/>
                </a:solidFill>
                <a:latin typeface="Arial"/>
                <a:ea typeface="Arial"/>
                <a:cs typeface="Arial"/>
              </a:rPr>
              <a:t>Handle incidents and duties</a:t>
            </a:r>
          </a:p>
        </p:txBody>
      </p:sp>
      <p:sp>
        <p:nvSpPr>
          <p:cNvPr id="9" name="">
            <a:extLst xmlns:a="http://schemas.openxmlformats.org/drawingml/2006/main">
              <a:ext uri="{FF2B5EF4-FFF2-40B4-BE49-F238E27FC236}">
                <a16:creationId xmlns:a16="http://schemas.microsoft.com/office/drawing/2014/main" id="{E04C5F27-4EF4-45F9-9A0F-32B39FE3AC89}"/>
              </a:ext>
            </a:extLst>
          </p:cNvPr>
          <p:cNvSpPr>
            <a:spLocks xmlns:a="http://schemas.openxmlformats.org/drawingml/2006/main" noGrp="1"/>
          </p:cNvSpPr>
          <p:nvPr/>
        </p:nvSpPr>
        <p:spPr>
          <a:xfrm xmlns:a="http://schemas.openxmlformats.org/drawingml/2006/main">
            <a:off x="8191500" y="1952625"/>
            <a:ext cx="30003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14283F"/>
                </a:solidFill>
                <a:latin typeface="Arial"/>
                <a:ea typeface="Arial"/>
                <a:cs typeface="Arial"/>
              </a:defRPr>
            </a:pPr>
            <a:r>
              <a:rPr sz="1650" b="0">
                <a:solidFill>
                  <a:srgbClr val="14283F"/>
                </a:solidFill>
                <a:latin typeface="Arial"/>
                <a:ea typeface="Arial"/>
                <a:cs typeface="Arial"/>
              </a:rPr>
              <a:t>Run privacy tests</a:t>
            </a:r>
          </a:p>
          <a:p xmlns:a="http://schemas.openxmlformats.org/drawingml/2006/main">
            <a:pPr>
              <a:defRPr sz="1650" b="0">
                <a:solidFill>
                  <a:srgbClr val="14283F"/>
                </a:solidFill>
                <a:latin typeface="Arial"/>
                <a:ea typeface="Arial"/>
                <a:cs typeface="Arial"/>
              </a:defRPr>
            </a:pPr>
            <a:r>
              <a:rPr sz="1650" b="0">
                <a:solidFill>
                  <a:srgbClr val="14283F"/>
                </a:solidFill>
                <a:latin typeface="Arial"/>
                <a:ea typeface="Arial"/>
                <a:cs typeface="Arial"/>
              </a:rPr>
              <a:t>Review failed or stale observations</a:t>
            </a:r>
          </a:p>
          <a:p xmlns:a="http://schemas.openxmlformats.org/drawingml/2006/main">
            <a:pPr>
              <a:defRPr sz="1650" b="0">
                <a:solidFill>
                  <a:srgbClr val="14283F"/>
                </a:solidFill>
                <a:latin typeface="Arial"/>
                <a:ea typeface="Arial"/>
                <a:cs typeface="Arial"/>
              </a:defRPr>
            </a:pPr>
            <a:r>
              <a:rPr sz="1650" b="0">
                <a:solidFill>
                  <a:srgbClr val="14283F"/>
                </a:solidFill>
                <a:latin typeface="Arial"/>
                <a:ea typeface="Arial"/>
                <a:cs typeface="Arial"/>
              </a:rPr>
              <a:t>Keep the result linked to evidence</a:t>
            </a:r>
          </a:p>
        </p:txBody>
      </p:sp>
      <p:sp>
        <p:nvSpPr>
          <p:cNvPr id="10" name="">
            <a:extLst xmlns:a="http://schemas.openxmlformats.org/drawingml/2006/main">
              <a:ext uri="{FF2B5EF4-FFF2-40B4-BE49-F238E27FC236}">
                <a16:creationId xmlns:a16="http://schemas.microsoft.com/office/drawing/2014/main" id="{6BAFF64B-7B4A-43A1-B30D-2745D022DFA3}"/>
              </a:ext>
            </a:extLst>
          </p:cNvPr>
          <p:cNvSpPr>
            <a:spLocks xmlns:a="http://schemas.openxmlformats.org/drawingml/2006/main" noGrp="1"/>
          </p:cNvSpPr>
          <p:nvPr/>
        </p:nvSpPr>
        <p:spPr>
          <a:xfrm xmlns:a="http://schemas.openxmlformats.org/drawingml/2006/main">
            <a:off x="666750" y="5334000"/>
            <a:ext cx="1028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75" b="0">
                <a:solidFill>
                  <a:srgbClr val="14283F"/>
                </a:solidFill>
                <a:latin typeface="Arial"/>
                <a:ea typeface="Arial"/>
                <a:cs typeface="Arial"/>
              </a:defRPr>
            </a:pPr>
            <a:r>
              <a:rPr sz="1575" b="0">
                <a:solidFill>
                  <a:srgbClr val="14283F"/>
                </a:solidFill>
                <a:latin typeface="Arial"/>
                <a:ea typeface="Arial"/>
                <a:cs typeface="Arial"/>
              </a:rPr>
              <a:t>These are priority journeys. Full merged-runtime acceptance is still required before customer deployment.</a:t>
            </a:r>
          </a:p>
        </p:txBody>
      </p:sp>
    </p:spTree>
    <p:extLst>
      <p:ext uri="{BB962C8B-B14F-4D97-AF65-F5344CB8AC3E}">
        <p14:creationId xmlns:p14="http://schemas.microsoft.com/office/powerpoint/2010/main" val="10304869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0821F54-65ED-402E-B6F0-E392935B84D9}"/>
              </a:ext>
            </a:extLst>
          </p:cNvPr>
          <p:cNvSpPr>
            <a:spLocks xmlns:a="http://schemas.openxmlformats.org/drawingml/2006/main" noGrp="1"/>
          </p:cNvSpPr>
          <p:nvPr/>
        </p:nvSpPr>
        <p:spPr>
          <a:xfrm xmlns:a="http://schemas.openxmlformats.org/drawingml/2006/main">
            <a:off x="666750" y="400050"/>
            <a:ext cx="108108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700" b="1">
                <a:solidFill>
                  <a:srgbClr val="14283F"/>
                </a:solidFill>
                <a:latin typeface="Arial"/>
                <a:ea typeface="Arial"/>
                <a:cs typeface="Arial"/>
              </a:defRPr>
            </a:pPr>
            <a:r>
              <a:rPr sz="2700" b="1">
                <a:solidFill>
                  <a:srgbClr val="14283F"/>
                </a:solidFill>
                <a:latin typeface="Arial"/>
                <a:ea typeface="Arial"/>
                <a:cs typeface="Arial"/>
              </a:rPr>
              <a:t>Market comparison: where the focus differs</a:t>
            </a:r>
          </a:p>
        </p:txBody>
      </p:sp>
      <p:sp>
        <p:nvSpPr>
          <p:cNvPr id="2" name="">
            <a:extLst xmlns:a="http://schemas.openxmlformats.org/drawingml/2006/main">
              <a:ext uri="{FF2B5EF4-FFF2-40B4-BE49-F238E27FC236}">
                <a16:creationId xmlns:a16="http://schemas.microsoft.com/office/drawing/2014/main" id="{90C11FF6-0397-4F0E-A592-D3A82EE13EA4}"/>
              </a:ext>
            </a:extLst>
          </p:cNvPr>
          <p:cNvSpPr>
            <a:spLocks xmlns:a="http://schemas.openxmlformats.org/drawingml/2006/main" noGrp="1"/>
          </p:cNvSpPr>
          <p:nvPr/>
        </p:nvSpPr>
        <p:spPr>
          <a:xfrm xmlns:a="http://schemas.openxmlformats.org/drawingml/2006/main">
            <a:off x="666750" y="6343650"/>
            <a:ext cx="1000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900" b="0">
                <a:solidFill>
                  <a:srgbClr val="435466"/>
                </a:solidFill>
                <a:latin typeface="Arial"/>
                <a:ea typeface="Arial"/>
                <a:cs typeface="Arial"/>
              </a:defRPr>
            </a:pPr>
            <a:r>
              <a:rPr sz="900" b="0">
                <a:solidFill>
                  <a:srgbClr val="435466"/>
                </a:solidFill>
                <a:latin typeface="Arial"/>
                <a:ea typeface="Arial"/>
                <a:cs typeface="Arial"/>
              </a:rPr>
              <a:t>Source: ORVIA leadership brief, 25 Sep 2026</a:t>
            </a:r>
          </a:p>
        </p:txBody>
      </p:sp>
      <p:sp>
        <p:nvSpPr>
          <p:cNvPr id="3" name="">
            <a:extLst xmlns:a="http://schemas.openxmlformats.org/drawingml/2006/main">
              <a:ext uri="{FF2B5EF4-FFF2-40B4-BE49-F238E27FC236}">
                <a16:creationId xmlns:a16="http://schemas.microsoft.com/office/drawing/2014/main" id="{98A0B6F2-DDFE-414D-BAA5-3888E98C5FE6}"/>
              </a:ext>
            </a:extLst>
          </p:cNvPr>
          <p:cNvSpPr>
            <a:spLocks xmlns:a="http://schemas.openxmlformats.org/drawingml/2006/main" noGrp="1"/>
          </p:cNvSpPr>
          <p:nvPr/>
        </p:nvSpPr>
        <p:spPr>
          <a:xfrm xmlns:a="http://schemas.openxmlformats.org/drawingml/2006/main">
            <a:off x="11049000" y="63055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125" b="1">
                <a:solidFill>
                  <a:srgbClr val="087C82"/>
                </a:solidFill>
                <a:latin typeface="Arial"/>
                <a:ea typeface="Arial"/>
                <a:cs typeface="Arial"/>
              </a:defRPr>
            </a:pPr>
            <a:r>
              <a:rPr sz="1125" b="1">
                <a:solidFill>
                  <a:srgbClr val="087C82"/>
                </a:solidFill>
                <a:latin typeface="Arial"/>
                <a:ea typeface="Arial"/>
                <a:cs typeface="Arial"/>
              </a:rPr>
              <a:t>04</a:t>
            </a:r>
          </a:p>
        </p:txBody>
      </p:sp>
      <p:sp>
        <p:nvSpPr>
          <p:cNvPr id="4" name="">
            <a:extLst xmlns:a="http://schemas.openxmlformats.org/drawingml/2006/main">
              <a:ext uri="{FF2B5EF4-FFF2-40B4-BE49-F238E27FC236}">
                <a16:creationId xmlns:a16="http://schemas.microsoft.com/office/drawing/2014/main" id="{80C0B15B-7700-4124-B969-266230A3ADDF}"/>
              </a:ext>
            </a:extLst>
          </p:cNvPr>
          <p:cNvSpPr>
            <a:spLocks xmlns:a="http://schemas.openxmlformats.org/drawingml/2006/main" noGrp="1"/>
          </p:cNvSpPr>
          <p:nvPr/>
        </p:nvSpPr>
        <p:spPr>
          <a:xfrm xmlns:a="http://schemas.openxmlformats.org/drawingml/2006/main">
            <a:off x="666750" y="1428750"/>
            <a:ext cx="4048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1">
                <a:solidFill>
                  <a:srgbClr val="087C82"/>
                </a:solidFill>
                <a:latin typeface="Arial"/>
                <a:ea typeface="Arial"/>
                <a:cs typeface="Arial"/>
              </a:defRPr>
            </a:pPr>
            <a:r>
              <a:rPr sz="1275" b="1">
                <a:solidFill>
                  <a:srgbClr val="087C82"/>
                </a:solidFill>
                <a:latin typeface="Arial"/>
                <a:ea typeface="Arial"/>
                <a:cs typeface="Arial"/>
              </a:rPr>
              <a:t>ENTERPRISE PLATFORMS</a:t>
            </a:r>
          </a:p>
        </p:txBody>
      </p:sp>
      <p:sp>
        <p:nvSpPr>
          <p:cNvPr id="5" name="">
            <a:extLst xmlns:a="http://schemas.openxmlformats.org/drawingml/2006/main">
              <a:ext uri="{FF2B5EF4-FFF2-40B4-BE49-F238E27FC236}">
                <a16:creationId xmlns:a16="http://schemas.microsoft.com/office/drawing/2014/main" id="{47F0CFD6-8F13-495A-9BFA-04CD5AB62E82}"/>
              </a:ext>
            </a:extLst>
          </p:cNvPr>
          <p:cNvSpPr>
            <a:spLocks xmlns:a="http://schemas.openxmlformats.org/drawingml/2006/main" noGrp="1"/>
          </p:cNvSpPr>
          <p:nvPr/>
        </p:nvSpPr>
        <p:spPr>
          <a:xfrm xmlns:a="http://schemas.openxmlformats.org/drawingml/2006/main">
            <a:off x="666750" y="1857375"/>
            <a:ext cx="481012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14283F"/>
                </a:solidFill>
                <a:latin typeface="Arial"/>
                <a:ea typeface="Arial"/>
                <a:cs typeface="Arial"/>
              </a:defRPr>
            </a:pPr>
            <a:r>
              <a:rPr sz="1650" b="0">
                <a:solidFill>
                  <a:srgbClr val="14283F"/>
                </a:solidFill>
                <a:latin typeface="Arial"/>
                <a:ea typeface="Arial"/>
                <a:cs typeface="Arial"/>
              </a:rPr>
              <a:t>OneTrust, BigID, Securiti, ServiceNow and MetricStream publicly cover broad governance, discovery and workflow needs.</a:t>
            </a:r>
          </a:p>
        </p:txBody>
      </p:sp>
      <p:sp>
        <p:nvSpPr>
          <p:cNvPr id="6" name="">
            <a:extLst xmlns:a="http://schemas.openxmlformats.org/drawingml/2006/main">
              <a:ext uri="{FF2B5EF4-FFF2-40B4-BE49-F238E27FC236}">
                <a16:creationId xmlns:a16="http://schemas.microsoft.com/office/drawing/2014/main" id="{CA192CCF-FBF7-4CB0-A34E-9FC6D74D0086}"/>
              </a:ext>
            </a:extLst>
          </p:cNvPr>
          <p:cNvSpPr>
            <a:spLocks xmlns:a="http://schemas.openxmlformats.org/drawingml/2006/main" noGrp="1"/>
          </p:cNvSpPr>
          <p:nvPr/>
        </p:nvSpPr>
        <p:spPr>
          <a:xfrm xmlns:a="http://schemas.openxmlformats.org/drawingml/2006/main">
            <a:off x="6334125" y="1428750"/>
            <a:ext cx="381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1">
                <a:solidFill>
                  <a:srgbClr val="087C82"/>
                </a:solidFill>
                <a:latin typeface="Arial"/>
                <a:ea typeface="Arial"/>
                <a:cs typeface="Arial"/>
              </a:defRPr>
            </a:pPr>
            <a:r>
              <a:rPr sz="1275" b="1">
                <a:solidFill>
                  <a:srgbClr val="087C82"/>
                </a:solidFill>
                <a:latin typeface="Arial"/>
                <a:ea typeface="Arial"/>
                <a:cs typeface="Arial"/>
              </a:rPr>
              <a:t>COMPLIANCE PLATFORMS</a:t>
            </a:r>
          </a:p>
        </p:txBody>
      </p:sp>
      <p:sp>
        <p:nvSpPr>
          <p:cNvPr id="7" name="">
            <a:extLst xmlns:a="http://schemas.openxmlformats.org/drawingml/2006/main">
              <a:ext uri="{FF2B5EF4-FFF2-40B4-BE49-F238E27FC236}">
                <a16:creationId xmlns:a16="http://schemas.microsoft.com/office/drawing/2014/main" id="{F8813758-1122-4DE3-80ED-4EC6D163092E}"/>
              </a:ext>
            </a:extLst>
          </p:cNvPr>
          <p:cNvSpPr>
            <a:spLocks xmlns:a="http://schemas.openxmlformats.org/drawingml/2006/main" noGrp="1"/>
          </p:cNvSpPr>
          <p:nvPr/>
        </p:nvSpPr>
        <p:spPr>
          <a:xfrm xmlns:a="http://schemas.openxmlformats.org/drawingml/2006/main">
            <a:off x="6334125" y="1857375"/>
            <a:ext cx="471487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14283F"/>
                </a:solidFill>
                <a:latin typeface="Arial"/>
                <a:ea typeface="Arial"/>
                <a:cs typeface="Arial"/>
              </a:defRPr>
            </a:pPr>
            <a:r>
              <a:rPr sz="1650" b="0">
                <a:solidFill>
                  <a:srgbClr val="14283F"/>
                </a:solidFill>
                <a:latin typeface="Arial"/>
                <a:ea typeface="Arial"/>
                <a:cs typeface="Arial"/>
              </a:rPr>
              <a:t>Vanta, Drata, Sprinto and Scrut emphasise control checks, evidence collection and audit work.</a:t>
            </a:r>
          </a:p>
        </p:txBody>
      </p:sp>
      <p:sp>
        <p:nvSpPr>
          <p:cNvPr id="8" name="">
            <a:extLst xmlns:a="http://schemas.openxmlformats.org/drawingml/2006/main">
              <a:ext uri="{FF2B5EF4-FFF2-40B4-BE49-F238E27FC236}">
                <a16:creationId xmlns:a16="http://schemas.microsoft.com/office/drawing/2014/main" id="{23FC22AD-B0EC-4242-BD1C-21001A06215C}"/>
              </a:ext>
            </a:extLst>
          </p:cNvPr>
          <p:cNvSpPr>
            <a:spLocks xmlns:a="http://schemas.openxmlformats.org/drawingml/2006/main" noGrp="1"/>
          </p:cNvSpPr>
          <p:nvPr/>
        </p:nvSpPr>
        <p:spPr>
          <a:xfrm xmlns:a="http://schemas.openxmlformats.org/drawingml/2006/main">
            <a:off x="666750" y="3810000"/>
            <a:ext cx="495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1">
                <a:solidFill>
                  <a:srgbClr val="087C82"/>
                </a:solidFill>
                <a:latin typeface="Arial"/>
                <a:ea typeface="Arial"/>
                <a:cs typeface="Arial"/>
              </a:defRPr>
            </a:pPr>
            <a:r>
              <a:rPr sz="1275" b="1">
                <a:solidFill>
                  <a:srgbClr val="087C82"/>
                </a:solidFill>
                <a:latin typeface="Arial"/>
                <a:ea typeface="Arial"/>
                <a:cs typeface="Arial"/>
              </a:rPr>
              <a:t>INDIA AND SPECIALIST PEERS</a:t>
            </a:r>
          </a:p>
        </p:txBody>
      </p:sp>
      <p:sp>
        <p:nvSpPr>
          <p:cNvPr id="9" name="">
            <a:extLst xmlns:a="http://schemas.openxmlformats.org/drawingml/2006/main">
              <a:ext uri="{FF2B5EF4-FFF2-40B4-BE49-F238E27FC236}">
                <a16:creationId xmlns:a16="http://schemas.microsoft.com/office/drawing/2014/main" id="{63792D1D-C443-4DE9-816D-11EDC63DF436}"/>
              </a:ext>
            </a:extLst>
          </p:cNvPr>
          <p:cNvSpPr>
            <a:spLocks xmlns:a="http://schemas.openxmlformats.org/drawingml/2006/main" noGrp="1"/>
          </p:cNvSpPr>
          <p:nvPr/>
        </p:nvSpPr>
        <p:spPr>
          <a:xfrm xmlns:a="http://schemas.openxmlformats.org/drawingml/2006/main">
            <a:off x="666750" y="4238625"/>
            <a:ext cx="481012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14283F"/>
                </a:solidFill>
                <a:latin typeface="Arial"/>
                <a:ea typeface="Arial"/>
                <a:cs typeface="Arial"/>
              </a:defRPr>
            </a:pPr>
            <a:r>
              <a:rPr sz="1650" b="0">
                <a:solidFill>
                  <a:srgbClr val="14283F"/>
                </a:solidFill>
                <a:latin typeface="Arial"/>
                <a:ea typeface="Arial"/>
                <a:cs typeface="Arial"/>
              </a:rPr>
              <a:t>Redacto, miniOrange, Consentin, Privado and others address DPDP operations or narrower consent and discovery needs.</a:t>
            </a:r>
          </a:p>
        </p:txBody>
      </p:sp>
      <p:sp>
        <p:nvSpPr>
          <p:cNvPr id="10" name="">
            <a:extLst xmlns:a="http://schemas.openxmlformats.org/drawingml/2006/main">
              <a:ext uri="{FF2B5EF4-FFF2-40B4-BE49-F238E27FC236}">
                <a16:creationId xmlns:a16="http://schemas.microsoft.com/office/drawing/2014/main" id="{98B5C575-A5F7-4F31-879C-6C1960F11851}"/>
              </a:ext>
            </a:extLst>
          </p:cNvPr>
          <p:cNvSpPr>
            <a:spLocks xmlns:a="http://schemas.openxmlformats.org/drawingml/2006/main" noGrp="1"/>
          </p:cNvSpPr>
          <p:nvPr/>
        </p:nvSpPr>
        <p:spPr>
          <a:xfrm xmlns:a="http://schemas.openxmlformats.org/drawingml/2006/main">
            <a:off x="6334125" y="3848100"/>
            <a:ext cx="47625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14283F"/>
                </a:solidFill>
                <a:latin typeface="Arial"/>
                <a:ea typeface="Arial"/>
                <a:cs typeface="Arial"/>
              </a:defRPr>
            </a:pPr>
            <a:r>
              <a:rPr sz="1650" b="0">
                <a:solidFill>
                  <a:srgbClr val="14283F"/>
                </a:solidFill>
                <a:latin typeface="Arial"/>
                <a:ea typeface="Arial"/>
                <a:cs typeface="Arial"/>
              </a:rPr>
              <a:t>ORVIA’s inspectable angle is the customer-local chain from choice to action, independent observation and evidence. This is a feature-level position, not a claim of broader coverage or measured superiority.</a:t>
            </a:r>
          </a:p>
        </p:txBody>
      </p:sp>
    </p:spTree>
    <p:extLst>
      <p:ext uri="{BB962C8B-B14F-4D97-AF65-F5344CB8AC3E}">
        <p14:creationId xmlns:p14="http://schemas.microsoft.com/office/powerpoint/2010/main" val="133624479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3AADE85-B91E-4096-88E9-E9BB15194206}"/>
              </a:ext>
            </a:extLst>
          </p:cNvPr>
          <p:cNvSpPr>
            <a:spLocks xmlns:a="http://schemas.openxmlformats.org/drawingml/2006/main" noGrp="1"/>
          </p:cNvSpPr>
          <p:nvPr/>
        </p:nvSpPr>
        <p:spPr>
          <a:xfrm xmlns:a="http://schemas.openxmlformats.org/drawingml/2006/main">
            <a:off x="666750" y="400050"/>
            <a:ext cx="108108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700" b="1">
                <a:solidFill>
                  <a:srgbClr val="14283F"/>
                </a:solidFill>
                <a:latin typeface="Arial"/>
                <a:ea typeface="Arial"/>
                <a:cs typeface="Arial"/>
              </a:defRPr>
            </a:pPr>
            <a:r>
              <a:rPr sz="2700" b="1">
                <a:solidFill>
                  <a:srgbClr val="14283F"/>
                </a:solidFill>
                <a:latin typeface="Arial"/>
                <a:ea typeface="Arial"/>
                <a:cs typeface="Arial"/>
              </a:rPr>
              <a:t>Architecture and module scope</a:t>
            </a:r>
          </a:p>
        </p:txBody>
      </p:sp>
      <p:sp>
        <p:nvSpPr>
          <p:cNvPr id="2" name="">
            <a:extLst xmlns:a="http://schemas.openxmlformats.org/drawingml/2006/main">
              <a:ext uri="{FF2B5EF4-FFF2-40B4-BE49-F238E27FC236}">
                <a16:creationId xmlns:a16="http://schemas.microsoft.com/office/drawing/2014/main" id="{31196053-3517-4E7A-9EF6-EBBDD1FAD5C7}"/>
              </a:ext>
            </a:extLst>
          </p:cNvPr>
          <p:cNvSpPr>
            <a:spLocks xmlns:a="http://schemas.openxmlformats.org/drawingml/2006/main" noGrp="1"/>
          </p:cNvSpPr>
          <p:nvPr/>
        </p:nvSpPr>
        <p:spPr>
          <a:xfrm xmlns:a="http://schemas.openxmlformats.org/drawingml/2006/main">
            <a:off x="666750" y="6343650"/>
            <a:ext cx="1000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900" b="0">
                <a:solidFill>
                  <a:srgbClr val="435466"/>
                </a:solidFill>
                <a:latin typeface="Arial"/>
                <a:ea typeface="Arial"/>
                <a:cs typeface="Arial"/>
              </a:defRPr>
            </a:pPr>
            <a:r>
              <a:rPr sz="900" b="0">
                <a:solidFill>
                  <a:srgbClr val="435466"/>
                </a:solidFill>
                <a:latin typeface="Arial"/>
                <a:ea typeface="Arial"/>
                <a:cs typeface="Arial"/>
              </a:rPr>
              <a:t>Source: ORVIA leadership brief, 25 Sep 2026</a:t>
            </a:r>
          </a:p>
        </p:txBody>
      </p:sp>
      <p:sp>
        <p:nvSpPr>
          <p:cNvPr id="3" name="">
            <a:extLst xmlns:a="http://schemas.openxmlformats.org/drawingml/2006/main">
              <a:ext uri="{FF2B5EF4-FFF2-40B4-BE49-F238E27FC236}">
                <a16:creationId xmlns:a16="http://schemas.microsoft.com/office/drawing/2014/main" id="{6666A9CF-DDA1-4C0E-AF0F-5C6B775B4FA7}"/>
              </a:ext>
            </a:extLst>
          </p:cNvPr>
          <p:cNvSpPr>
            <a:spLocks xmlns:a="http://schemas.openxmlformats.org/drawingml/2006/main" noGrp="1"/>
          </p:cNvSpPr>
          <p:nvPr/>
        </p:nvSpPr>
        <p:spPr>
          <a:xfrm xmlns:a="http://schemas.openxmlformats.org/drawingml/2006/main">
            <a:off x="11049000" y="63055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125" b="1">
                <a:solidFill>
                  <a:srgbClr val="087C82"/>
                </a:solidFill>
                <a:latin typeface="Arial"/>
                <a:ea typeface="Arial"/>
                <a:cs typeface="Arial"/>
              </a:defRPr>
            </a:pPr>
            <a:r>
              <a:rPr sz="1125" b="1">
                <a:solidFill>
                  <a:srgbClr val="087C82"/>
                </a:solidFill>
                <a:latin typeface="Arial"/>
                <a:ea typeface="Arial"/>
                <a:cs typeface="Arial"/>
              </a:rPr>
              <a:t>05</a:t>
            </a:r>
          </a:p>
        </p:txBody>
      </p:sp>
      <p:sp>
        <p:nvSpPr>
          <p:cNvPr id="4" name="">
            <a:extLst xmlns:a="http://schemas.openxmlformats.org/drawingml/2006/main">
              <a:ext uri="{FF2B5EF4-FFF2-40B4-BE49-F238E27FC236}">
                <a16:creationId xmlns:a16="http://schemas.microsoft.com/office/drawing/2014/main" id="{D8B4D8CE-E521-4235-A135-C0A059EE005D}"/>
              </a:ext>
            </a:extLst>
          </p:cNvPr>
          <p:cNvSpPr>
            <a:spLocks xmlns:a="http://schemas.openxmlformats.org/drawingml/2006/main" noGrp="1"/>
          </p:cNvSpPr>
          <p:nvPr/>
        </p:nvSpPr>
        <p:spPr>
          <a:xfrm xmlns:a="http://schemas.openxmlformats.org/drawingml/2006/main">
            <a:off x="666750" y="1381125"/>
            <a:ext cx="381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1">
                <a:solidFill>
                  <a:srgbClr val="087C82"/>
                </a:solidFill>
                <a:latin typeface="Arial"/>
                <a:ea typeface="Arial"/>
                <a:cs typeface="Arial"/>
              </a:defRPr>
            </a:pPr>
            <a:r>
              <a:rPr sz="1275" b="1">
                <a:solidFill>
                  <a:srgbClr val="087C82"/>
                </a:solidFill>
                <a:latin typeface="Arial"/>
                <a:ea typeface="Arial"/>
                <a:cs typeface="Arial"/>
              </a:rPr>
              <a:t>THE OPERATING SPINE</a:t>
            </a:r>
          </a:p>
        </p:txBody>
      </p:sp>
      <p:sp>
        <p:nvSpPr>
          <p:cNvPr id="5" name="">
            <a:extLst xmlns:a="http://schemas.openxmlformats.org/drawingml/2006/main">
              <a:ext uri="{FF2B5EF4-FFF2-40B4-BE49-F238E27FC236}">
                <a16:creationId xmlns:a16="http://schemas.microsoft.com/office/drawing/2014/main" id="{1EECF66E-8D1D-4B54-A892-DDC05944D0D1}"/>
              </a:ext>
            </a:extLst>
          </p:cNvPr>
          <p:cNvSpPr>
            <a:spLocks xmlns:a="http://schemas.openxmlformats.org/drawingml/2006/main" noGrp="1"/>
          </p:cNvSpPr>
          <p:nvPr/>
        </p:nvSpPr>
        <p:spPr>
          <a:xfrm xmlns:a="http://schemas.openxmlformats.org/drawingml/2006/main">
            <a:off x="666750" y="1838325"/>
            <a:ext cx="4810125"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14283F"/>
                </a:solidFill>
                <a:latin typeface="Arial"/>
                <a:ea typeface="Arial"/>
                <a:cs typeface="Arial"/>
              </a:defRPr>
            </a:pPr>
            <a:r>
              <a:rPr sz="1800" b="0">
                <a:solidFill>
                  <a:srgbClr val="14283F"/>
                </a:solidFill>
                <a:latin typeface="Arial"/>
                <a:ea typeface="Arial"/>
                <a:cs typeface="Arial"/>
              </a:rPr>
              <a:t>Identity and scope</a:t>
            </a:r>
          </a:p>
          <a:p xmlns:a="http://schemas.openxmlformats.org/drawingml/2006/main">
            <a:pPr>
              <a:defRPr sz="1800" b="0">
                <a:solidFill>
                  <a:srgbClr val="14283F"/>
                </a:solidFill>
                <a:latin typeface="Arial"/>
                <a:ea typeface="Arial"/>
                <a:cs typeface="Arial"/>
              </a:defRPr>
            </a:pPr>
            <a:r>
              <a:rPr sz="1800" b="0">
                <a:solidFill>
                  <a:srgbClr val="14283F"/>
                </a:solidFill>
                <a:latin typeface="Arial"/>
                <a:ea typeface="Arial"/>
                <a:cs typeface="Arial"/>
              </a:rPr>
              <a:t>Privacy graph and policy</a:t>
            </a:r>
          </a:p>
          <a:p xmlns:a="http://schemas.openxmlformats.org/drawingml/2006/main">
            <a:pPr>
              <a:defRPr sz="1800" b="0">
                <a:solidFill>
                  <a:srgbClr val="14283F"/>
                </a:solidFill>
                <a:latin typeface="Arial"/>
                <a:ea typeface="Arial"/>
                <a:cs typeface="Arial"/>
              </a:defRPr>
            </a:pPr>
            <a:r>
              <a:rPr sz="1800" b="0">
                <a:solidFill>
                  <a:srgbClr val="14283F"/>
                </a:solidFill>
                <a:latin typeface="Arial"/>
                <a:ea typeface="Arial"/>
                <a:cs typeface="Arial"/>
              </a:rPr>
              <a:t>Durable workflow</a:t>
            </a:r>
          </a:p>
          <a:p xmlns:a="http://schemas.openxmlformats.org/drawingml/2006/main">
            <a:pPr>
              <a:defRPr sz="1800" b="0">
                <a:solidFill>
                  <a:srgbClr val="14283F"/>
                </a:solidFill>
                <a:latin typeface="Arial"/>
                <a:ea typeface="Arial"/>
                <a:cs typeface="Arial"/>
              </a:defRPr>
            </a:pPr>
            <a:r>
              <a:rPr sz="1800" b="0">
                <a:solidFill>
                  <a:srgbClr val="14283F"/>
                </a:solidFill>
                <a:latin typeface="Arial"/>
                <a:ea typeface="Arial"/>
                <a:cs typeface="Arial"/>
              </a:rPr>
              <a:t>Bounded connector action</a:t>
            </a:r>
          </a:p>
          <a:p xmlns:a="http://schemas.openxmlformats.org/drawingml/2006/main">
            <a:pPr>
              <a:defRPr sz="1800" b="0">
                <a:solidFill>
                  <a:srgbClr val="14283F"/>
                </a:solidFill>
                <a:latin typeface="Arial"/>
                <a:ea typeface="Arial"/>
                <a:cs typeface="Arial"/>
              </a:defRPr>
            </a:pPr>
            <a:r>
              <a:rPr sz="1800" b="0">
                <a:solidFill>
                  <a:srgbClr val="14283F"/>
                </a:solidFill>
                <a:latin typeface="Arial"/>
                <a:ea typeface="Arial"/>
                <a:cs typeface="Arial"/>
              </a:rPr>
              <a:t>Independent verification</a:t>
            </a:r>
          </a:p>
          <a:p xmlns:a="http://schemas.openxmlformats.org/drawingml/2006/main">
            <a:pPr>
              <a:defRPr sz="1800" b="0">
                <a:solidFill>
                  <a:srgbClr val="14283F"/>
                </a:solidFill>
                <a:latin typeface="Arial"/>
                <a:ea typeface="Arial"/>
                <a:cs typeface="Arial"/>
              </a:defRPr>
            </a:pPr>
            <a:r>
              <a:rPr sz="1800" b="0">
                <a:solidFill>
                  <a:srgbClr val="14283F"/>
                </a:solidFill>
                <a:latin typeface="Arial"/>
                <a:ea typeface="Arial"/>
                <a:cs typeface="Arial"/>
              </a:rPr>
              <a:t>Evidence and test result</a:t>
            </a:r>
          </a:p>
        </p:txBody>
      </p:sp>
      <p:sp>
        <p:nvSpPr>
          <p:cNvPr id="6" name="">
            <a:extLst xmlns:a="http://schemas.openxmlformats.org/drawingml/2006/main">
              <a:ext uri="{FF2B5EF4-FFF2-40B4-BE49-F238E27FC236}">
                <a16:creationId xmlns:a16="http://schemas.microsoft.com/office/drawing/2014/main" id="{4FFE2EFD-20F5-4304-BFDA-6D9D3F4BC94A}"/>
              </a:ext>
            </a:extLst>
          </p:cNvPr>
          <p:cNvSpPr>
            <a:spLocks xmlns:a="http://schemas.openxmlformats.org/drawingml/2006/main" noGrp="1"/>
          </p:cNvSpPr>
          <p:nvPr/>
        </p:nvSpPr>
        <p:spPr>
          <a:xfrm xmlns:a="http://schemas.openxmlformats.org/drawingml/2006/main">
            <a:off x="6334125" y="1381125"/>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1">
                <a:solidFill>
                  <a:srgbClr val="087C82"/>
                </a:solidFill>
                <a:latin typeface="Arial"/>
                <a:ea typeface="Arial"/>
                <a:cs typeface="Arial"/>
              </a:defRPr>
            </a:pPr>
            <a:r>
              <a:rPr sz="1275" b="1">
                <a:solidFill>
                  <a:srgbClr val="087C82"/>
                </a:solidFill>
                <a:latin typeface="Arial"/>
                <a:ea typeface="Arial"/>
                <a:cs typeface="Arial"/>
              </a:rPr>
              <a:t>CURRENT MODULE PICTURE</a:t>
            </a:r>
          </a:p>
        </p:txBody>
      </p:sp>
      <p:sp>
        <p:nvSpPr>
          <p:cNvPr id="7" name="">
            <a:extLst xmlns:a="http://schemas.openxmlformats.org/drawingml/2006/main">
              <a:ext uri="{FF2B5EF4-FFF2-40B4-BE49-F238E27FC236}">
                <a16:creationId xmlns:a16="http://schemas.microsoft.com/office/drawing/2014/main" id="{182BFD1A-B1FE-4480-B4B1-DBB66286AC0A}"/>
              </a:ext>
            </a:extLst>
          </p:cNvPr>
          <p:cNvSpPr>
            <a:spLocks xmlns:a="http://schemas.openxmlformats.org/drawingml/2006/main" noGrp="1"/>
          </p:cNvSpPr>
          <p:nvPr/>
        </p:nvSpPr>
        <p:spPr>
          <a:xfrm xmlns:a="http://schemas.openxmlformats.org/drawingml/2006/main">
            <a:off x="6334125" y="1838325"/>
            <a:ext cx="476250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14283F"/>
                </a:solidFill>
                <a:latin typeface="Arial"/>
                <a:ea typeface="Arial"/>
                <a:cs typeface="Arial"/>
              </a:defRPr>
            </a:pPr>
            <a:r>
              <a:rPr sz="1650" b="0">
                <a:solidFill>
                  <a:srgbClr val="14283F"/>
                </a:solidFill>
                <a:latin typeface="Arial"/>
                <a:ea typeface="Arial"/>
                <a:cs typeface="Arial"/>
              </a:rPr>
              <a:t>The 33-module register describes the original V1/V2 structure. Merged V1 code now adds non-model AI-use governance, catalog-metadata discovery, GRC records, DPDP execution paths and payment primitives.</a:t>
            </a:r>
          </a:p>
        </p:txBody>
      </p:sp>
      <p:sp>
        <p:nvSpPr>
          <p:cNvPr id="8" name="">
            <a:extLst xmlns:a="http://schemas.openxmlformats.org/drawingml/2006/main">
              <a:ext uri="{FF2B5EF4-FFF2-40B4-BE49-F238E27FC236}">
                <a16:creationId xmlns:a16="http://schemas.microsoft.com/office/drawing/2014/main" id="{8B1881E4-3005-4E7E-8156-3AFED7A80906}"/>
              </a:ext>
            </a:extLst>
          </p:cNvPr>
          <p:cNvSpPr>
            <a:spLocks xmlns:a="http://schemas.openxmlformats.org/drawingml/2006/main" noGrp="1"/>
          </p:cNvSpPr>
          <p:nvPr/>
        </p:nvSpPr>
        <p:spPr>
          <a:xfrm xmlns:a="http://schemas.openxmlformats.org/drawingml/2006/main">
            <a:off x="6334125" y="4572000"/>
            <a:ext cx="4762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14283F"/>
                </a:solidFill>
                <a:latin typeface="Arial"/>
                <a:ea typeface="Arial"/>
                <a:cs typeface="Arial"/>
              </a:defRPr>
            </a:pPr>
            <a:r>
              <a:rPr sz="1650" b="0">
                <a:solidFill>
                  <a:srgbClr val="14283F"/>
                </a:solidFill>
                <a:latin typeface="Arial"/>
                <a:ea typeface="Arial"/>
                <a:cs typeface="Arial"/>
              </a:rPr>
              <a:t>M19–M25 are seven custom-model functions reserved for V2. The legacy register is not an overall completion score.</a:t>
            </a:r>
          </a:p>
        </p:txBody>
      </p:sp>
    </p:spTree>
    <p:extLst>
      <p:ext uri="{BB962C8B-B14F-4D97-AF65-F5344CB8AC3E}">
        <p14:creationId xmlns:p14="http://schemas.microsoft.com/office/powerpoint/2010/main" val="68874284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709C19F-A7DB-4016-8E40-0AD90D42EE5B}"/>
              </a:ext>
            </a:extLst>
          </p:cNvPr>
          <p:cNvSpPr>
            <a:spLocks xmlns:a="http://schemas.openxmlformats.org/drawingml/2006/main" noGrp="1"/>
          </p:cNvSpPr>
          <p:nvPr/>
        </p:nvSpPr>
        <p:spPr>
          <a:xfrm xmlns:a="http://schemas.openxmlformats.org/drawingml/2006/main">
            <a:off x="666750" y="400050"/>
            <a:ext cx="108108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700" b="1">
                <a:solidFill>
                  <a:srgbClr val="14283F"/>
                </a:solidFill>
                <a:latin typeface="Arial"/>
                <a:ea typeface="Arial"/>
                <a:cs typeface="Arial"/>
              </a:defRPr>
            </a:pPr>
            <a:r>
              <a:rPr sz="2700" b="1">
                <a:solidFill>
                  <a:srgbClr val="14283F"/>
                </a:solidFill>
                <a:latin typeface="Arial"/>
                <a:ea typeface="Arial"/>
                <a:cs typeface="Arial"/>
              </a:rPr>
              <a:t>Data model and DPDP control path</a:t>
            </a:r>
          </a:p>
        </p:txBody>
      </p:sp>
      <p:sp>
        <p:nvSpPr>
          <p:cNvPr id="2" name="">
            <a:extLst xmlns:a="http://schemas.openxmlformats.org/drawingml/2006/main">
              <a:ext uri="{FF2B5EF4-FFF2-40B4-BE49-F238E27FC236}">
                <a16:creationId xmlns:a16="http://schemas.microsoft.com/office/drawing/2014/main" id="{371C41B5-78F8-4F50-879E-2E633AEE6558}"/>
              </a:ext>
            </a:extLst>
          </p:cNvPr>
          <p:cNvSpPr>
            <a:spLocks xmlns:a="http://schemas.openxmlformats.org/drawingml/2006/main" noGrp="1"/>
          </p:cNvSpPr>
          <p:nvPr/>
        </p:nvSpPr>
        <p:spPr>
          <a:xfrm xmlns:a="http://schemas.openxmlformats.org/drawingml/2006/main">
            <a:off x="666750" y="6343650"/>
            <a:ext cx="1000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900" b="0">
                <a:solidFill>
                  <a:srgbClr val="435466"/>
                </a:solidFill>
                <a:latin typeface="Arial"/>
                <a:ea typeface="Arial"/>
                <a:cs typeface="Arial"/>
              </a:defRPr>
            </a:pPr>
            <a:r>
              <a:rPr sz="900" b="0">
                <a:solidFill>
                  <a:srgbClr val="435466"/>
                </a:solidFill>
                <a:latin typeface="Arial"/>
                <a:ea typeface="Arial"/>
                <a:cs typeface="Arial"/>
              </a:rPr>
              <a:t>Source: ORVIA leadership brief, 25 Sep 2026</a:t>
            </a:r>
          </a:p>
        </p:txBody>
      </p:sp>
      <p:sp>
        <p:nvSpPr>
          <p:cNvPr id="3" name="">
            <a:extLst xmlns:a="http://schemas.openxmlformats.org/drawingml/2006/main">
              <a:ext uri="{FF2B5EF4-FFF2-40B4-BE49-F238E27FC236}">
                <a16:creationId xmlns:a16="http://schemas.microsoft.com/office/drawing/2014/main" id="{6D3ABB1F-8EDC-4AD4-90F0-EBE78C9B9423}"/>
              </a:ext>
            </a:extLst>
          </p:cNvPr>
          <p:cNvSpPr>
            <a:spLocks xmlns:a="http://schemas.openxmlformats.org/drawingml/2006/main" noGrp="1"/>
          </p:cNvSpPr>
          <p:nvPr/>
        </p:nvSpPr>
        <p:spPr>
          <a:xfrm xmlns:a="http://schemas.openxmlformats.org/drawingml/2006/main">
            <a:off x="11049000" y="63055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125" b="1">
                <a:solidFill>
                  <a:srgbClr val="087C82"/>
                </a:solidFill>
                <a:latin typeface="Arial"/>
                <a:ea typeface="Arial"/>
                <a:cs typeface="Arial"/>
              </a:defRPr>
            </a:pPr>
            <a:r>
              <a:rPr sz="1125" b="1">
                <a:solidFill>
                  <a:srgbClr val="087C82"/>
                </a:solidFill>
                <a:latin typeface="Arial"/>
                <a:ea typeface="Arial"/>
                <a:cs typeface="Arial"/>
              </a:rPr>
              <a:t>06</a:t>
            </a:r>
          </a:p>
        </p:txBody>
      </p:sp>
      <p:sp>
        <p:nvSpPr>
          <p:cNvPr id="4" name="">
            <a:extLst xmlns:a="http://schemas.openxmlformats.org/drawingml/2006/main">
              <a:ext uri="{FF2B5EF4-FFF2-40B4-BE49-F238E27FC236}">
                <a16:creationId xmlns:a16="http://schemas.microsoft.com/office/drawing/2014/main" id="{87ED7AF0-2FA9-45AB-BD11-ACAAD6814B78}"/>
              </a:ext>
            </a:extLst>
          </p:cNvPr>
          <p:cNvSpPr>
            <a:spLocks xmlns:a="http://schemas.openxmlformats.org/drawingml/2006/main" noGrp="1"/>
          </p:cNvSpPr>
          <p:nvPr/>
        </p:nvSpPr>
        <p:spPr>
          <a:xfrm xmlns:a="http://schemas.openxmlformats.org/drawingml/2006/main">
            <a:off x="666750" y="1428750"/>
            <a:ext cx="4143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1">
                <a:solidFill>
                  <a:srgbClr val="087C82"/>
                </a:solidFill>
                <a:latin typeface="Arial"/>
                <a:ea typeface="Arial"/>
                <a:cs typeface="Arial"/>
              </a:defRPr>
            </a:pPr>
            <a:r>
              <a:rPr sz="1275" b="1">
                <a:solidFill>
                  <a:srgbClr val="087C82"/>
                </a:solidFill>
                <a:latin typeface="Arial"/>
                <a:ea typeface="Arial"/>
                <a:cs typeface="Arial"/>
              </a:rPr>
              <a:t>LOCAL RECORDS</a:t>
            </a:r>
          </a:p>
        </p:txBody>
      </p:sp>
      <p:sp>
        <p:nvSpPr>
          <p:cNvPr id="5" name="">
            <a:extLst xmlns:a="http://schemas.openxmlformats.org/drawingml/2006/main">
              <a:ext uri="{FF2B5EF4-FFF2-40B4-BE49-F238E27FC236}">
                <a16:creationId xmlns:a16="http://schemas.microsoft.com/office/drawing/2014/main" id="{949C3316-C868-4C35-8D8F-CA3663F20024}"/>
              </a:ext>
            </a:extLst>
          </p:cNvPr>
          <p:cNvSpPr>
            <a:spLocks xmlns:a="http://schemas.openxmlformats.org/drawingml/2006/main" noGrp="1"/>
          </p:cNvSpPr>
          <p:nvPr/>
        </p:nvSpPr>
        <p:spPr>
          <a:xfrm xmlns:a="http://schemas.openxmlformats.org/drawingml/2006/main">
            <a:off x="666750" y="1905000"/>
            <a:ext cx="476250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14283F"/>
                </a:solidFill>
                <a:latin typeface="Arial"/>
                <a:ea typeface="Arial"/>
                <a:cs typeface="Arial"/>
              </a:defRPr>
            </a:pPr>
            <a:r>
              <a:rPr sz="1650" b="0">
                <a:solidFill>
                  <a:srgbClr val="14283F"/>
                </a:solidFill>
                <a:latin typeface="Arial"/>
                <a:ea typeface="Arial"/>
                <a:cs typeface="Arial"/>
              </a:rPr>
              <a:t>PostgreSQL stores scope, purposes, notices, consent, rights cases, workflow actions, observations, evidence, tests and findings. Customer systems remain authoritative for their own records.</a:t>
            </a:r>
          </a:p>
        </p:txBody>
      </p:sp>
      <p:sp>
        <p:nvSpPr>
          <p:cNvPr id="6" name="">
            <a:extLst xmlns:a="http://schemas.openxmlformats.org/drawingml/2006/main">
              <a:ext uri="{FF2B5EF4-FFF2-40B4-BE49-F238E27FC236}">
                <a16:creationId xmlns:a16="http://schemas.microsoft.com/office/drawing/2014/main" id="{6BDF9D0A-3FAC-405A-A781-FD3D3F832B9E}"/>
              </a:ext>
            </a:extLst>
          </p:cNvPr>
          <p:cNvSpPr>
            <a:spLocks xmlns:a="http://schemas.openxmlformats.org/drawingml/2006/main" noGrp="1"/>
          </p:cNvSpPr>
          <p:nvPr/>
        </p:nvSpPr>
        <p:spPr>
          <a:xfrm xmlns:a="http://schemas.openxmlformats.org/drawingml/2006/main">
            <a:off x="6334125" y="1428750"/>
            <a:ext cx="4619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1">
                <a:solidFill>
                  <a:srgbClr val="087C82"/>
                </a:solidFill>
                <a:latin typeface="Arial"/>
                <a:ea typeface="Arial"/>
                <a:cs typeface="Arial"/>
              </a:defRPr>
            </a:pPr>
            <a:r>
              <a:rPr sz="1275" b="1">
                <a:solidFill>
                  <a:srgbClr val="087C82"/>
                </a:solidFill>
                <a:latin typeface="Arial"/>
                <a:ea typeface="Arial"/>
                <a:cs typeface="Arial"/>
              </a:rPr>
              <a:t>FROM LEGAL SOURCE TO CONTROL</a:t>
            </a:r>
          </a:p>
        </p:txBody>
      </p:sp>
      <p:sp>
        <p:nvSpPr>
          <p:cNvPr id="7" name="">
            <a:extLst xmlns:a="http://schemas.openxmlformats.org/drawingml/2006/main">
              <a:ext uri="{FF2B5EF4-FFF2-40B4-BE49-F238E27FC236}">
                <a16:creationId xmlns:a16="http://schemas.microsoft.com/office/drawing/2014/main" id="{A6B65EB0-8EC6-439D-B3FD-191C086E15D5}"/>
              </a:ext>
            </a:extLst>
          </p:cNvPr>
          <p:cNvSpPr>
            <a:spLocks xmlns:a="http://schemas.openxmlformats.org/drawingml/2006/main" noGrp="1"/>
          </p:cNvSpPr>
          <p:nvPr/>
        </p:nvSpPr>
        <p:spPr>
          <a:xfrm xmlns:a="http://schemas.openxmlformats.org/drawingml/2006/main">
            <a:off x="6334125" y="1905000"/>
            <a:ext cx="4714875"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14283F"/>
                </a:solidFill>
                <a:latin typeface="Arial"/>
                <a:ea typeface="Arial"/>
                <a:cs typeface="Arial"/>
              </a:defRPr>
            </a:pPr>
            <a:r>
              <a:rPr sz="1650" b="0">
                <a:solidFill>
                  <a:srgbClr val="14283F"/>
                </a:solidFill>
                <a:latin typeface="Arial"/>
                <a:ea typeface="Arial"/>
                <a:cs typeface="Arial"/>
              </a:rPr>
              <a:t>A reviewed source and provision informs an applicability decision. The customer configures the control. Evidence and tests show what the software observed.</a:t>
            </a:r>
          </a:p>
        </p:txBody>
      </p:sp>
      <p:sp>
        <p:nvSpPr>
          <p:cNvPr id="8" name="">
            <a:extLst xmlns:a="http://schemas.openxmlformats.org/drawingml/2006/main">
              <a:ext uri="{FF2B5EF4-FFF2-40B4-BE49-F238E27FC236}">
                <a16:creationId xmlns:a16="http://schemas.microsoft.com/office/drawing/2014/main" id="{400B8E37-D648-4011-B89B-C2A75A195460}"/>
              </a:ext>
            </a:extLst>
          </p:cNvPr>
          <p:cNvSpPr>
            <a:spLocks xmlns:a="http://schemas.openxmlformats.org/drawingml/2006/main" noGrp="1"/>
          </p:cNvSpPr>
          <p:nvPr/>
        </p:nvSpPr>
        <p:spPr>
          <a:xfrm xmlns:a="http://schemas.openxmlformats.org/drawingml/2006/main">
            <a:off x="666750" y="4762500"/>
            <a:ext cx="10287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14283F"/>
                </a:solidFill>
                <a:latin typeface="Arial"/>
                <a:ea typeface="Arial"/>
                <a:cs typeface="Arial"/>
              </a:defRPr>
            </a:pPr>
            <a:r>
              <a:rPr sz="1725" b="0">
                <a:solidFill>
                  <a:srgbClr val="14283F"/>
                </a:solidFill>
                <a:latin typeface="Arial"/>
                <a:ea typeface="Arial"/>
                <a:cs typeface="Arial"/>
              </a:rPr>
              <a:t>The regulatory import and review path is coded. A complete legally approved Indian control pack and full end-to-end acceptance remain open.</a:t>
            </a:r>
          </a:p>
        </p:txBody>
      </p:sp>
    </p:spTree>
    <p:extLst>
      <p:ext uri="{BB962C8B-B14F-4D97-AF65-F5344CB8AC3E}">
        <p14:creationId xmlns:p14="http://schemas.microsoft.com/office/powerpoint/2010/main" val="1911909421"/>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F88AFE6-E9A2-42E6-954B-A3FE5FB95274}"/>
              </a:ext>
            </a:extLst>
          </p:cNvPr>
          <p:cNvSpPr>
            <a:spLocks xmlns:a="http://schemas.openxmlformats.org/drawingml/2006/main" noGrp="1"/>
          </p:cNvSpPr>
          <p:nvPr/>
        </p:nvSpPr>
        <p:spPr>
          <a:xfrm xmlns:a="http://schemas.openxmlformats.org/drawingml/2006/main">
            <a:off x="666750" y="400050"/>
            <a:ext cx="108108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700" b="1">
                <a:solidFill>
                  <a:srgbClr val="14283F"/>
                </a:solidFill>
                <a:latin typeface="Arial"/>
                <a:ea typeface="Arial"/>
                <a:cs typeface="Arial"/>
              </a:defRPr>
            </a:pPr>
            <a:r>
              <a:rPr sz="2700" b="1">
                <a:solidFill>
                  <a:srgbClr val="14283F"/>
                </a:solidFill>
                <a:latin typeface="Arial"/>
                <a:ea typeface="Arial"/>
                <a:cs typeface="Arial"/>
              </a:rPr>
              <a:t>Test reference and baselines</a:t>
            </a:r>
          </a:p>
        </p:txBody>
      </p:sp>
      <p:sp>
        <p:nvSpPr>
          <p:cNvPr id="2" name="">
            <a:extLst xmlns:a="http://schemas.openxmlformats.org/drawingml/2006/main">
              <a:ext uri="{FF2B5EF4-FFF2-40B4-BE49-F238E27FC236}">
                <a16:creationId xmlns:a16="http://schemas.microsoft.com/office/drawing/2014/main" id="{5C58604A-BEE3-43C5-89B9-8CB002FBC86D}"/>
              </a:ext>
            </a:extLst>
          </p:cNvPr>
          <p:cNvSpPr>
            <a:spLocks xmlns:a="http://schemas.openxmlformats.org/drawingml/2006/main" noGrp="1"/>
          </p:cNvSpPr>
          <p:nvPr/>
        </p:nvSpPr>
        <p:spPr>
          <a:xfrm xmlns:a="http://schemas.openxmlformats.org/drawingml/2006/main">
            <a:off x="666750" y="6343650"/>
            <a:ext cx="1000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900" b="0">
                <a:solidFill>
                  <a:srgbClr val="435466"/>
                </a:solidFill>
                <a:latin typeface="Arial"/>
                <a:ea typeface="Arial"/>
                <a:cs typeface="Arial"/>
              </a:defRPr>
            </a:pPr>
            <a:r>
              <a:rPr sz="900" b="0">
                <a:solidFill>
                  <a:srgbClr val="435466"/>
                </a:solidFill>
                <a:latin typeface="Arial"/>
                <a:ea typeface="Arial"/>
                <a:cs typeface="Arial"/>
              </a:rPr>
              <a:t>Source: ORVIA leadership brief, 25 Sep 2026</a:t>
            </a:r>
          </a:p>
        </p:txBody>
      </p:sp>
      <p:sp>
        <p:nvSpPr>
          <p:cNvPr id="3" name="">
            <a:extLst xmlns:a="http://schemas.openxmlformats.org/drawingml/2006/main">
              <a:ext uri="{FF2B5EF4-FFF2-40B4-BE49-F238E27FC236}">
                <a16:creationId xmlns:a16="http://schemas.microsoft.com/office/drawing/2014/main" id="{721092E5-2811-4D83-A387-ED1F25DBC76D}"/>
              </a:ext>
            </a:extLst>
          </p:cNvPr>
          <p:cNvSpPr>
            <a:spLocks xmlns:a="http://schemas.openxmlformats.org/drawingml/2006/main" noGrp="1"/>
          </p:cNvSpPr>
          <p:nvPr/>
        </p:nvSpPr>
        <p:spPr>
          <a:xfrm xmlns:a="http://schemas.openxmlformats.org/drawingml/2006/main">
            <a:off x="11049000" y="63055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125" b="1">
                <a:solidFill>
                  <a:srgbClr val="087C82"/>
                </a:solidFill>
                <a:latin typeface="Arial"/>
                <a:ea typeface="Arial"/>
                <a:cs typeface="Arial"/>
              </a:defRPr>
            </a:pPr>
            <a:r>
              <a:rPr sz="1125" b="1">
                <a:solidFill>
                  <a:srgbClr val="087C82"/>
                </a:solidFill>
                <a:latin typeface="Arial"/>
                <a:ea typeface="Arial"/>
                <a:cs typeface="Arial"/>
              </a:rPr>
              <a:t>07</a:t>
            </a:r>
          </a:p>
        </p:txBody>
      </p:sp>
      <p:sp>
        <p:nvSpPr>
          <p:cNvPr id="4" name="">
            <a:extLst xmlns:a="http://schemas.openxmlformats.org/drawingml/2006/main">
              <a:ext uri="{FF2B5EF4-FFF2-40B4-BE49-F238E27FC236}">
                <a16:creationId xmlns:a16="http://schemas.microsoft.com/office/drawing/2014/main" id="{FAACECD2-B96A-412C-87B0-110140659B0B}"/>
              </a:ext>
            </a:extLst>
          </p:cNvPr>
          <p:cNvSpPr>
            <a:spLocks xmlns:a="http://schemas.openxmlformats.org/drawingml/2006/main" noGrp="1"/>
          </p:cNvSpPr>
          <p:nvPr/>
        </p:nvSpPr>
        <p:spPr>
          <a:xfrm xmlns:a="http://schemas.openxmlformats.org/drawingml/2006/main">
            <a:off x="666750" y="14287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1">
                <a:solidFill>
                  <a:srgbClr val="087C82"/>
                </a:solidFill>
                <a:latin typeface="Arial"/>
                <a:ea typeface="Arial"/>
                <a:cs typeface="Arial"/>
              </a:defRPr>
            </a:pPr>
            <a:r>
              <a:rPr sz="1275" b="1">
                <a:solidFill>
                  <a:srgbClr val="087C82"/>
                </a:solidFill>
                <a:latin typeface="Arial"/>
                <a:ea typeface="Arial"/>
                <a:cs typeface="Arial"/>
              </a:rPr>
              <a:t>SYNTHETIC REFERENCE</a:t>
            </a:r>
          </a:p>
        </p:txBody>
      </p:sp>
      <p:sp>
        <p:nvSpPr>
          <p:cNvPr id="5" name="">
            <a:extLst xmlns:a="http://schemas.openxmlformats.org/drawingml/2006/main">
              <a:ext uri="{FF2B5EF4-FFF2-40B4-BE49-F238E27FC236}">
                <a16:creationId xmlns:a16="http://schemas.microsoft.com/office/drawing/2014/main" id="{DFC8402D-4E49-408B-9FA7-3EFB93F3E8E8}"/>
              </a:ext>
            </a:extLst>
          </p:cNvPr>
          <p:cNvSpPr>
            <a:spLocks xmlns:a="http://schemas.openxmlformats.org/drawingml/2006/main" noGrp="1"/>
          </p:cNvSpPr>
          <p:nvPr/>
        </p:nvSpPr>
        <p:spPr>
          <a:xfrm xmlns:a="http://schemas.openxmlformats.org/drawingml/2006/main">
            <a:off x="666750" y="1905000"/>
            <a:ext cx="4762500" cy="2524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14283F"/>
                </a:solidFill>
                <a:latin typeface="Arial"/>
                <a:ea typeface="Arial"/>
                <a:cs typeface="Arial"/>
              </a:defRPr>
            </a:pPr>
            <a:r>
              <a:rPr sz="1725" b="0">
                <a:solidFill>
                  <a:srgbClr val="14283F"/>
                </a:solidFill>
                <a:latin typeface="Arial"/>
                <a:ea typeface="Arial"/>
                <a:cs typeface="Arial"/>
              </a:rPr>
              <a:t>Aster and Birch are invented customer environments. They support positive cases and adverse cases such as wrong-tenant access, old consent events, timeouts and unchanged targets.</a:t>
            </a:r>
          </a:p>
        </p:txBody>
      </p:sp>
      <p:sp>
        <p:nvSpPr>
          <p:cNvPr id="6" name="">
            <a:extLst xmlns:a="http://schemas.openxmlformats.org/drawingml/2006/main">
              <a:ext uri="{FF2B5EF4-FFF2-40B4-BE49-F238E27FC236}">
                <a16:creationId xmlns:a16="http://schemas.microsoft.com/office/drawing/2014/main" id="{9843FDA4-4C3B-4803-8620-571B909D188D}"/>
              </a:ext>
            </a:extLst>
          </p:cNvPr>
          <p:cNvSpPr>
            <a:spLocks xmlns:a="http://schemas.openxmlformats.org/drawingml/2006/main" noGrp="1"/>
          </p:cNvSpPr>
          <p:nvPr/>
        </p:nvSpPr>
        <p:spPr>
          <a:xfrm xmlns:a="http://schemas.openxmlformats.org/drawingml/2006/main">
            <a:off x="6334125" y="1428750"/>
            <a:ext cx="4095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1">
                <a:solidFill>
                  <a:srgbClr val="087C82"/>
                </a:solidFill>
                <a:latin typeface="Arial"/>
                <a:ea typeface="Arial"/>
                <a:cs typeface="Arial"/>
              </a:defRPr>
            </a:pPr>
            <a:r>
              <a:rPr sz="1275" b="1">
                <a:solidFill>
                  <a:srgbClr val="087C82"/>
                </a:solidFill>
                <a:latin typeface="Arial"/>
                <a:ea typeface="Arial"/>
                <a:cs typeface="Arial"/>
              </a:rPr>
              <a:t>WHAT A BASELINE FIXES</a:t>
            </a:r>
          </a:p>
        </p:txBody>
      </p:sp>
      <p:sp>
        <p:nvSpPr>
          <p:cNvPr id="7" name="">
            <a:extLst xmlns:a="http://schemas.openxmlformats.org/drawingml/2006/main">
              <a:ext uri="{FF2B5EF4-FFF2-40B4-BE49-F238E27FC236}">
                <a16:creationId xmlns:a16="http://schemas.microsoft.com/office/drawing/2014/main" id="{148A1FED-F934-4CE8-9579-E5BFBDFA2E1A}"/>
              </a:ext>
            </a:extLst>
          </p:cNvPr>
          <p:cNvSpPr>
            <a:spLocks xmlns:a="http://schemas.openxmlformats.org/drawingml/2006/main" noGrp="1"/>
          </p:cNvSpPr>
          <p:nvPr/>
        </p:nvSpPr>
        <p:spPr>
          <a:xfrm xmlns:a="http://schemas.openxmlformats.org/drawingml/2006/main">
            <a:off x="6334125" y="1905000"/>
            <a:ext cx="4619625" cy="2714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14283F"/>
                </a:solidFill>
                <a:latin typeface="Arial"/>
                <a:ea typeface="Arial"/>
                <a:cs typeface="Arial"/>
              </a:defRPr>
            </a:pPr>
            <a:r>
              <a:rPr sz="1725" b="0">
                <a:solidFill>
                  <a:srgbClr val="14283F"/>
                </a:solidFill>
                <a:latin typeface="Arial"/>
                <a:ea typeface="Arial"/>
                <a:cs typeface="Arial"/>
              </a:rPr>
              <a:t>Regulatory source edition</a:t>
            </a:r>
          </a:p>
          <a:p xmlns:a="http://schemas.openxmlformats.org/drawingml/2006/main">
            <a:pPr>
              <a:defRPr sz="1725" b="0">
                <a:solidFill>
                  <a:srgbClr val="14283F"/>
                </a:solidFill>
                <a:latin typeface="Arial"/>
                <a:ea typeface="Arial"/>
                <a:cs typeface="Arial"/>
              </a:defRPr>
            </a:pPr>
            <a:r>
              <a:rPr sz="1725" b="0">
                <a:solidFill>
                  <a:srgbClr val="14283F"/>
                </a:solidFill>
                <a:latin typeface="Arial"/>
                <a:ea typeface="Arial"/>
                <a:cs typeface="Arial"/>
              </a:rPr>
              <a:t>Approved product master</a:t>
            </a:r>
          </a:p>
          <a:p xmlns:a="http://schemas.openxmlformats.org/drawingml/2006/main">
            <a:pPr>
              <a:defRPr sz="1725" b="0">
                <a:solidFill>
                  <a:srgbClr val="14283F"/>
                </a:solidFill>
                <a:latin typeface="Arial"/>
                <a:ea typeface="Arial"/>
                <a:cs typeface="Arial"/>
              </a:defRPr>
            </a:pPr>
            <a:r>
              <a:rPr sz="1725" b="0">
                <a:solidFill>
                  <a:srgbClr val="14283F"/>
                </a:solidFill>
                <a:latin typeface="Arial"/>
                <a:ea typeface="Arial"/>
                <a:cs typeface="Arial"/>
              </a:rPr>
              <a:t>Control and fixture versions</a:t>
            </a:r>
          </a:p>
          <a:p xmlns:a="http://schemas.openxmlformats.org/drawingml/2006/main">
            <a:pPr>
              <a:defRPr sz="1725" b="0">
                <a:solidFill>
                  <a:srgbClr val="14283F"/>
                </a:solidFill>
                <a:latin typeface="Arial"/>
                <a:ea typeface="Arial"/>
                <a:cs typeface="Arial"/>
              </a:defRPr>
            </a:pPr>
            <a:r>
              <a:rPr sz="1725" b="0">
                <a:solidFill>
                  <a:srgbClr val="14283F"/>
                </a:solidFill>
                <a:latin typeface="Arial"/>
                <a:ea typeface="Arial"/>
                <a:cs typeface="Arial"/>
              </a:rPr>
              <a:t>Security requirements</a:t>
            </a:r>
          </a:p>
          <a:p xmlns:a="http://schemas.openxmlformats.org/drawingml/2006/main">
            <a:pPr>
              <a:defRPr sz="1725" b="0">
                <a:solidFill>
                  <a:srgbClr val="14283F"/>
                </a:solidFill>
                <a:latin typeface="Arial"/>
                <a:ea typeface="Arial"/>
                <a:cs typeface="Arial"/>
              </a:defRPr>
            </a:pPr>
            <a:r>
              <a:rPr sz="1725" b="0">
                <a:solidFill>
                  <a:srgbClr val="14283F"/>
                </a:solidFill>
                <a:latin typeface="Arial"/>
                <a:ea typeface="Arial"/>
                <a:cs typeface="Arial"/>
              </a:rPr>
              <a:t>Exact release candidate</a:t>
            </a:r>
          </a:p>
        </p:txBody>
      </p:sp>
      <p:sp>
        <p:nvSpPr>
          <p:cNvPr id="8" name="">
            <a:extLst xmlns:a="http://schemas.openxmlformats.org/drawingml/2006/main">
              <a:ext uri="{FF2B5EF4-FFF2-40B4-BE49-F238E27FC236}">
                <a16:creationId xmlns:a16="http://schemas.microsoft.com/office/drawing/2014/main" id="{8B5FED82-384F-4640-8519-4FF1E6BC3716}"/>
              </a:ext>
            </a:extLst>
          </p:cNvPr>
          <p:cNvSpPr>
            <a:spLocks xmlns:a="http://schemas.openxmlformats.org/drawingml/2006/main" noGrp="1"/>
          </p:cNvSpPr>
          <p:nvPr/>
        </p:nvSpPr>
        <p:spPr>
          <a:xfrm xmlns:a="http://schemas.openxmlformats.org/drawingml/2006/main">
            <a:off x="666750" y="5048250"/>
            <a:ext cx="1028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14283F"/>
                </a:solidFill>
                <a:latin typeface="Arial"/>
                <a:ea typeface="Arial"/>
                <a:cs typeface="Arial"/>
              </a:defRPr>
            </a:pPr>
            <a:r>
              <a:rPr sz="1725" b="0">
                <a:solidFill>
                  <a:srgbClr val="14283F"/>
                </a:solidFill>
                <a:latin typeface="Arial"/>
                <a:ea typeface="Arial"/>
                <a:cs typeface="Arial"/>
              </a:rPr>
              <a:t>A past component result belongs to its tested build. The merged application still needs its own acceptance record.</a:t>
            </a:r>
          </a:p>
        </p:txBody>
      </p:sp>
    </p:spTree>
    <p:extLst>
      <p:ext uri="{BB962C8B-B14F-4D97-AF65-F5344CB8AC3E}">
        <p14:creationId xmlns:p14="http://schemas.microsoft.com/office/powerpoint/2010/main" val="26301687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194894D-121F-4E04-ABDF-156059C3EA58}"/>
              </a:ext>
            </a:extLst>
          </p:cNvPr>
          <p:cNvSpPr>
            <a:spLocks xmlns:a="http://schemas.openxmlformats.org/drawingml/2006/main" noGrp="1"/>
          </p:cNvSpPr>
          <p:nvPr/>
        </p:nvSpPr>
        <p:spPr>
          <a:xfrm xmlns:a="http://schemas.openxmlformats.org/drawingml/2006/main">
            <a:off x="666750" y="400050"/>
            <a:ext cx="108108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700" b="1">
                <a:solidFill>
                  <a:srgbClr val="14283F"/>
                </a:solidFill>
                <a:latin typeface="Arial"/>
                <a:ea typeface="Arial"/>
                <a:cs typeface="Arial"/>
              </a:defRPr>
            </a:pPr>
            <a:r>
              <a:rPr sz="2700" b="1">
                <a:solidFill>
                  <a:srgbClr val="14283F"/>
                </a:solidFill>
                <a:latin typeface="Arial"/>
                <a:ea typeface="Arial"/>
                <a:cs typeface="Arial"/>
              </a:rPr>
              <a:t>Current engineering state</a:t>
            </a:r>
          </a:p>
        </p:txBody>
      </p:sp>
      <p:sp>
        <p:nvSpPr>
          <p:cNvPr id="2" name="">
            <a:extLst xmlns:a="http://schemas.openxmlformats.org/drawingml/2006/main">
              <a:ext uri="{FF2B5EF4-FFF2-40B4-BE49-F238E27FC236}">
                <a16:creationId xmlns:a16="http://schemas.microsoft.com/office/drawing/2014/main" id="{BF157965-8DAD-4615-9774-DDE4B8F14323}"/>
              </a:ext>
            </a:extLst>
          </p:cNvPr>
          <p:cNvSpPr>
            <a:spLocks xmlns:a="http://schemas.openxmlformats.org/drawingml/2006/main" noGrp="1"/>
          </p:cNvSpPr>
          <p:nvPr/>
        </p:nvSpPr>
        <p:spPr>
          <a:xfrm xmlns:a="http://schemas.openxmlformats.org/drawingml/2006/main">
            <a:off x="666750" y="6343650"/>
            <a:ext cx="1000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900" b="0">
                <a:solidFill>
                  <a:srgbClr val="435466"/>
                </a:solidFill>
                <a:latin typeface="Arial"/>
                <a:ea typeface="Arial"/>
                <a:cs typeface="Arial"/>
              </a:defRPr>
            </a:pPr>
            <a:r>
              <a:rPr sz="900" b="0">
                <a:solidFill>
                  <a:srgbClr val="435466"/>
                </a:solidFill>
                <a:latin typeface="Arial"/>
                <a:ea typeface="Arial"/>
                <a:cs typeface="Arial"/>
              </a:rPr>
              <a:t>Source: ORVIA leadership brief, 25 Sep 2026</a:t>
            </a:r>
          </a:p>
        </p:txBody>
      </p:sp>
      <p:sp>
        <p:nvSpPr>
          <p:cNvPr id="3" name="">
            <a:extLst xmlns:a="http://schemas.openxmlformats.org/drawingml/2006/main">
              <a:ext uri="{FF2B5EF4-FFF2-40B4-BE49-F238E27FC236}">
                <a16:creationId xmlns:a16="http://schemas.microsoft.com/office/drawing/2014/main" id="{9F9178AA-2163-4681-A10B-2108C96C005E}"/>
              </a:ext>
            </a:extLst>
          </p:cNvPr>
          <p:cNvSpPr>
            <a:spLocks xmlns:a="http://schemas.openxmlformats.org/drawingml/2006/main" noGrp="1"/>
          </p:cNvSpPr>
          <p:nvPr/>
        </p:nvSpPr>
        <p:spPr>
          <a:xfrm xmlns:a="http://schemas.openxmlformats.org/drawingml/2006/main">
            <a:off x="11049000" y="63055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125" b="1">
                <a:solidFill>
                  <a:srgbClr val="087C82"/>
                </a:solidFill>
                <a:latin typeface="Arial"/>
                <a:ea typeface="Arial"/>
                <a:cs typeface="Arial"/>
              </a:defRPr>
            </a:pPr>
            <a:r>
              <a:rPr sz="1125" b="1">
                <a:solidFill>
                  <a:srgbClr val="087C82"/>
                </a:solidFill>
                <a:latin typeface="Arial"/>
                <a:ea typeface="Arial"/>
                <a:cs typeface="Arial"/>
              </a:rPr>
              <a:t>08</a:t>
            </a:r>
          </a:p>
        </p:txBody>
      </p:sp>
      <p:sp>
        <p:nvSpPr>
          <p:cNvPr id="4" name="">
            <a:extLst xmlns:a="http://schemas.openxmlformats.org/drawingml/2006/main">
              <a:ext uri="{FF2B5EF4-FFF2-40B4-BE49-F238E27FC236}">
                <a16:creationId xmlns:a16="http://schemas.microsoft.com/office/drawing/2014/main" id="{D326E934-ECF9-404F-B75D-75E020A1E541}"/>
              </a:ext>
            </a:extLst>
          </p:cNvPr>
          <p:cNvSpPr>
            <a:spLocks xmlns:a="http://schemas.openxmlformats.org/drawingml/2006/main" noGrp="1"/>
          </p:cNvSpPr>
          <p:nvPr/>
        </p:nvSpPr>
        <p:spPr>
          <a:xfrm xmlns:a="http://schemas.openxmlformats.org/drawingml/2006/main">
            <a:off x="666750" y="1428750"/>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1">
                <a:solidFill>
                  <a:srgbClr val="087C82"/>
                </a:solidFill>
                <a:latin typeface="Arial"/>
                <a:ea typeface="Arial"/>
                <a:cs typeface="Arial"/>
              </a:defRPr>
            </a:pPr>
            <a:r>
              <a:rPr sz="1275" b="1">
                <a:solidFill>
                  <a:srgbClr val="087C82"/>
                </a:solidFill>
                <a:latin typeface="Arial"/>
                <a:ea typeface="Arial"/>
                <a:cs typeface="Arial"/>
              </a:rPr>
              <a:t>EVIDENCE AVAILABLE</a:t>
            </a:r>
          </a:p>
        </p:txBody>
      </p:sp>
      <p:sp>
        <p:nvSpPr>
          <p:cNvPr id="5" name="">
            <a:extLst xmlns:a="http://schemas.openxmlformats.org/drawingml/2006/main">
              <a:ext uri="{FF2B5EF4-FFF2-40B4-BE49-F238E27FC236}">
                <a16:creationId xmlns:a16="http://schemas.microsoft.com/office/drawing/2014/main" id="{BEF87FDF-E2F1-4CB5-8B35-7CB48F9A9949}"/>
              </a:ext>
            </a:extLst>
          </p:cNvPr>
          <p:cNvSpPr>
            <a:spLocks xmlns:a="http://schemas.openxmlformats.org/drawingml/2006/main" noGrp="1"/>
          </p:cNvSpPr>
          <p:nvPr/>
        </p:nvSpPr>
        <p:spPr>
          <a:xfrm xmlns:a="http://schemas.openxmlformats.org/drawingml/2006/main">
            <a:off x="666750" y="1905000"/>
            <a:ext cx="4810125"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14283F"/>
                </a:solidFill>
                <a:latin typeface="Arial"/>
                <a:ea typeface="Arial"/>
                <a:cs typeface="Arial"/>
              </a:defRPr>
            </a:pPr>
            <a:r>
              <a:rPr sz="1650" b="0">
                <a:solidFill>
                  <a:srgbClr val="14283F"/>
                </a:solidFill>
                <a:latin typeface="Arial"/>
                <a:ea typeface="Arial"/>
                <a:cs typeface="Arial"/>
              </a:rPr>
              <a:t>The combined source passed 252 unit tests, typecheck, lint, web build and policy compilation at the documented checkpoint. Core privacy journeys and newer expansion paths are coded with differing test depth.</a:t>
            </a:r>
          </a:p>
        </p:txBody>
      </p:sp>
      <p:sp>
        <p:nvSpPr>
          <p:cNvPr id="6" name="">
            <a:extLst xmlns:a="http://schemas.openxmlformats.org/drawingml/2006/main">
              <a:ext uri="{FF2B5EF4-FFF2-40B4-BE49-F238E27FC236}">
                <a16:creationId xmlns:a16="http://schemas.microsoft.com/office/drawing/2014/main" id="{DF64845A-DBE9-48EB-B3F9-D62DD9AFCB03}"/>
              </a:ext>
            </a:extLst>
          </p:cNvPr>
          <p:cNvSpPr>
            <a:spLocks xmlns:a="http://schemas.openxmlformats.org/drawingml/2006/main" noGrp="1"/>
          </p:cNvSpPr>
          <p:nvPr/>
        </p:nvSpPr>
        <p:spPr>
          <a:xfrm xmlns:a="http://schemas.openxmlformats.org/drawingml/2006/main">
            <a:off x="6334125" y="1428750"/>
            <a:ext cx="423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1">
                <a:solidFill>
                  <a:srgbClr val="087C82"/>
                </a:solidFill>
                <a:latin typeface="Arial"/>
                <a:ea typeface="Arial"/>
                <a:cs typeface="Arial"/>
              </a:defRPr>
            </a:pPr>
            <a:r>
              <a:rPr sz="1275" b="1">
                <a:solidFill>
                  <a:srgbClr val="087C82"/>
                </a:solidFill>
                <a:latin typeface="Arial"/>
                <a:ea typeface="Arial"/>
                <a:cs typeface="Arial"/>
              </a:rPr>
              <a:t>QUALIFICATION STILL OPEN</a:t>
            </a:r>
          </a:p>
        </p:txBody>
      </p:sp>
      <p:sp>
        <p:nvSpPr>
          <p:cNvPr id="7" name="">
            <a:extLst xmlns:a="http://schemas.openxmlformats.org/drawingml/2006/main">
              <a:ext uri="{FF2B5EF4-FFF2-40B4-BE49-F238E27FC236}">
                <a16:creationId xmlns:a16="http://schemas.microsoft.com/office/drawing/2014/main" id="{6625BBDA-3740-4778-A147-FC4B1B4B95AA}"/>
              </a:ext>
            </a:extLst>
          </p:cNvPr>
          <p:cNvSpPr>
            <a:spLocks xmlns:a="http://schemas.openxmlformats.org/drawingml/2006/main" noGrp="1"/>
          </p:cNvSpPr>
          <p:nvPr/>
        </p:nvSpPr>
        <p:spPr>
          <a:xfrm xmlns:a="http://schemas.openxmlformats.org/drawingml/2006/main">
            <a:off x="6334125" y="1905000"/>
            <a:ext cx="4714875"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14283F"/>
                </a:solidFill>
                <a:latin typeface="Arial"/>
                <a:ea typeface="Arial"/>
                <a:cs typeface="Arial"/>
              </a:defRPr>
            </a:pPr>
            <a:r>
              <a:rPr sz="1650" b="0">
                <a:solidFill>
                  <a:srgbClr val="14283F"/>
                </a:solidFill>
                <a:latin typeface="Arial"/>
                <a:ea typeface="Arial"/>
                <a:cs typeface="Arial"/>
              </a:rPr>
              <a:t>All 34 named full-application scenarios, T01–T34, have no qualifying full-run result. There is no frozen qualified candidate. Four of 14 expansion families are in progress; ten remain open.</a:t>
            </a:r>
          </a:p>
        </p:txBody>
      </p:sp>
      <p:sp>
        <p:nvSpPr>
          <p:cNvPr id="8" name="">
            <a:extLst xmlns:a="http://schemas.openxmlformats.org/drawingml/2006/main">
              <a:ext uri="{FF2B5EF4-FFF2-40B4-BE49-F238E27FC236}">
                <a16:creationId xmlns:a16="http://schemas.microsoft.com/office/drawing/2014/main" id="{084EC88A-368D-4DDD-8DB4-C2BEB1A0227F}"/>
              </a:ext>
            </a:extLst>
          </p:cNvPr>
          <p:cNvSpPr>
            <a:spLocks xmlns:a="http://schemas.openxmlformats.org/drawingml/2006/main" noGrp="1"/>
          </p:cNvSpPr>
          <p:nvPr/>
        </p:nvSpPr>
        <p:spPr>
          <a:xfrm xmlns:a="http://schemas.openxmlformats.org/drawingml/2006/main">
            <a:off x="666750" y="5334000"/>
            <a:ext cx="10287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0">
                <a:solidFill>
                  <a:srgbClr val="14283F"/>
                </a:solidFill>
                <a:latin typeface="Arial"/>
                <a:ea typeface="Arial"/>
                <a:cs typeface="Arial"/>
              </a:defRPr>
            </a:pPr>
            <a:r>
              <a:rPr sz="1950" b="0">
                <a:solidFill>
                  <a:srgbClr val="14283F"/>
                </a:solidFill>
                <a:latin typeface="Arial"/>
                <a:ea typeface="Arial"/>
                <a:cs typeface="Arial"/>
              </a:rPr>
              <a:t>There is no defensible overall completion percentage yet.</a:t>
            </a:r>
          </a:p>
        </p:txBody>
      </p:sp>
    </p:spTree>
    <p:extLst>
      <p:ext uri="{BB962C8B-B14F-4D97-AF65-F5344CB8AC3E}">
        <p14:creationId xmlns:p14="http://schemas.microsoft.com/office/powerpoint/2010/main" val="45803719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FF439EA-9AA7-432F-809A-4BB95AA073FF}"/>
              </a:ext>
            </a:extLst>
          </p:cNvPr>
          <p:cNvSpPr>
            <a:spLocks xmlns:a="http://schemas.openxmlformats.org/drawingml/2006/main" noGrp="1"/>
          </p:cNvSpPr>
          <p:nvPr/>
        </p:nvSpPr>
        <p:spPr>
          <a:xfrm xmlns:a="http://schemas.openxmlformats.org/drawingml/2006/main">
            <a:off x="666750" y="400050"/>
            <a:ext cx="108108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700" b="1">
                <a:solidFill>
                  <a:srgbClr val="14283F"/>
                </a:solidFill>
                <a:latin typeface="Arial"/>
                <a:ea typeface="Arial"/>
                <a:cs typeface="Arial"/>
              </a:defRPr>
            </a:pPr>
            <a:r>
              <a:rPr sz="2700" b="1">
                <a:solidFill>
                  <a:srgbClr val="14283F"/>
                </a:solidFill>
                <a:latin typeface="Arial"/>
                <a:ea typeface="Arial"/>
                <a:cs typeface="Arial"/>
              </a:rPr>
              <a:t>Catalogs and adoption</a:t>
            </a:r>
          </a:p>
        </p:txBody>
      </p:sp>
      <p:sp>
        <p:nvSpPr>
          <p:cNvPr id="2" name="">
            <a:extLst xmlns:a="http://schemas.openxmlformats.org/drawingml/2006/main">
              <a:ext uri="{FF2B5EF4-FFF2-40B4-BE49-F238E27FC236}">
                <a16:creationId xmlns:a16="http://schemas.microsoft.com/office/drawing/2014/main" id="{E664B3EE-0683-40CE-A08E-9C65E2BB9826}"/>
              </a:ext>
            </a:extLst>
          </p:cNvPr>
          <p:cNvSpPr>
            <a:spLocks xmlns:a="http://schemas.openxmlformats.org/drawingml/2006/main" noGrp="1"/>
          </p:cNvSpPr>
          <p:nvPr/>
        </p:nvSpPr>
        <p:spPr>
          <a:xfrm xmlns:a="http://schemas.openxmlformats.org/drawingml/2006/main">
            <a:off x="666750" y="6343650"/>
            <a:ext cx="1000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900" b="0">
                <a:solidFill>
                  <a:srgbClr val="435466"/>
                </a:solidFill>
                <a:latin typeface="Arial"/>
                <a:ea typeface="Arial"/>
                <a:cs typeface="Arial"/>
              </a:defRPr>
            </a:pPr>
            <a:r>
              <a:rPr sz="900" b="0">
                <a:solidFill>
                  <a:srgbClr val="435466"/>
                </a:solidFill>
                <a:latin typeface="Arial"/>
                <a:ea typeface="Arial"/>
                <a:cs typeface="Arial"/>
              </a:rPr>
              <a:t>Source: ORVIA leadership brief, 25 Sep 2026</a:t>
            </a:r>
          </a:p>
        </p:txBody>
      </p:sp>
      <p:sp>
        <p:nvSpPr>
          <p:cNvPr id="3" name="">
            <a:extLst xmlns:a="http://schemas.openxmlformats.org/drawingml/2006/main">
              <a:ext uri="{FF2B5EF4-FFF2-40B4-BE49-F238E27FC236}">
                <a16:creationId xmlns:a16="http://schemas.microsoft.com/office/drawing/2014/main" id="{085D1229-D841-48DE-861D-399E52BB9DF0}"/>
              </a:ext>
            </a:extLst>
          </p:cNvPr>
          <p:cNvSpPr>
            <a:spLocks xmlns:a="http://schemas.openxmlformats.org/drawingml/2006/main" noGrp="1"/>
          </p:cNvSpPr>
          <p:nvPr/>
        </p:nvSpPr>
        <p:spPr>
          <a:xfrm xmlns:a="http://schemas.openxmlformats.org/drawingml/2006/main">
            <a:off x="11049000" y="63055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125" b="1">
                <a:solidFill>
                  <a:srgbClr val="087C82"/>
                </a:solidFill>
                <a:latin typeface="Arial"/>
                <a:ea typeface="Arial"/>
                <a:cs typeface="Arial"/>
              </a:defRPr>
            </a:pPr>
            <a:r>
              <a:rPr sz="1125" b="1">
                <a:solidFill>
                  <a:srgbClr val="087C82"/>
                </a:solidFill>
                <a:latin typeface="Arial"/>
                <a:ea typeface="Arial"/>
                <a:cs typeface="Arial"/>
              </a:rPr>
              <a:t>09</a:t>
            </a:r>
          </a:p>
        </p:txBody>
      </p:sp>
      <p:sp>
        <p:nvSpPr>
          <p:cNvPr id="4" name="">
            <a:extLst xmlns:a="http://schemas.openxmlformats.org/drawingml/2006/main">
              <a:ext uri="{FF2B5EF4-FFF2-40B4-BE49-F238E27FC236}">
                <a16:creationId xmlns:a16="http://schemas.microsoft.com/office/drawing/2014/main" id="{5E4F3FCA-B667-45AE-823A-F793D2742CFC}"/>
              </a:ext>
            </a:extLst>
          </p:cNvPr>
          <p:cNvSpPr>
            <a:spLocks xmlns:a="http://schemas.openxmlformats.org/drawingml/2006/main" noGrp="1"/>
          </p:cNvSpPr>
          <p:nvPr/>
        </p:nvSpPr>
        <p:spPr>
          <a:xfrm xmlns:a="http://schemas.openxmlformats.org/drawingml/2006/main">
            <a:off x="666750" y="1428750"/>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1">
                <a:solidFill>
                  <a:srgbClr val="087C82"/>
                </a:solidFill>
                <a:latin typeface="Arial"/>
                <a:ea typeface="Arial"/>
                <a:cs typeface="Arial"/>
              </a:defRPr>
            </a:pPr>
            <a:r>
              <a:rPr sz="1275" b="1">
                <a:solidFill>
                  <a:srgbClr val="087C82"/>
                </a:solidFill>
                <a:latin typeface="Arial"/>
                <a:ea typeface="Arial"/>
                <a:cs typeface="Arial"/>
              </a:rPr>
              <a:t>CATALOG CONTENT</a:t>
            </a:r>
          </a:p>
        </p:txBody>
      </p:sp>
      <p:sp>
        <p:nvSpPr>
          <p:cNvPr id="5" name="">
            <a:extLst xmlns:a="http://schemas.openxmlformats.org/drawingml/2006/main">
              <a:ext uri="{FF2B5EF4-FFF2-40B4-BE49-F238E27FC236}">
                <a16:creationId xmlns:a16="http://schemas.microsoft.com/office/drawing/2014/main" id="{A1E7A1DF-1A72-4B23-8DB4-C71D81DFE8DA}"/>
              </a:ext>
            </a:extLst>
          </p:cNvPr>
          <p:cNvSpPr>
            <a:spLocks xmlns:a="http://schemas.openxmlformats.org/drawingml/2006/main" noGrp="1"/>
          </p:cNvSpPr>
          <p:nvPr/>
        </p:nvSpPr>
        <p:spPr>
          <a:xfrm xmlns:a="http://schemas.openxmlformats.org/drawingml/2006/main">
            <a:off x="666750" y="1905000"/>
            <a:ext cx="4905375" cy="323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14283F"/>
                </a:solidFill>
                <a:latin typeface="Arial"/>
                <a:ea typeface="Arial"/>
                <a:cs typeface="Arial"/>
              </a:defRPr>
            </a:pPr>
            <a:r>
              <a:rPr sz="1650" b="0">
                <a:solidFill>
                  <a:srgbClr val="14283F"/>
                </a:solidFill>
                <a:latin typeface="Arial"/>
                <a:ea typeface="Arial"/>
                <a:cs typeface="Arial"/>
              </a:rPr>
              <a:t>Regulatory sources and interpretations</a:t>
            </a:r>
          </a:p>
          <a:p xmlns:a="http://schemas.openxmlformats.org/drawingml/2006/main">
            <a:pPr>
              <a:defRPr sz="1650" b="0">
                <a:solidFill>
                  <a:srgbClr val="14283F"/>
                </a:solidFill>
                <a:latin typeface="Arial"/>
                <a:ea typeface="Arial"/>
                <a:cs typeface="Arial"/>
              </a:defRPr>
            </a:pPr>
            <a:r>
              <a:rPr sz="1650" b="0">
                <a:solidFill>
                  <a:srgbClr val="14283F"/>
                </a:solidFill>
                <a:latin typeface="Arial"/>
                <a:ea typeface="Arial"/>
                <a:cs typeface="Arial"/>
              </a:rPr>
              <a:t>Controls and evidence requirements</a:t>
            </a:r>
          </a:p>
          <a:p xmlns:a="http://schemas.openxmlformats.org/drawingml/2006/main">
            <a:pPr>
              <a:defRPr sz="1650" b="0">
                <a:solidFill>
                  <a:srgbClr val="14283F"/>
                </a:solidFill>
                <a:latin typeface="Arial"/>
                <a:ea typeface="Arial"/>
                <a:cs typeface="Arial"/>
              </a:defRPr>
            </a:pPr>
            <a:r>
              <a:rPr sz="1650" b="0">
                <a:solidFill>
                  <a:srgbClr val="14283F"/>
                </a:solidFill>
                <a:latin typeface="Arial"/>
                <a:ea typeface="Arial"/>
                <a:cs typeface="Arial"/>
              </a:rPr>
              <a:t>Connector permissions and observation methods</a:t>
            </a:r>
          </a:p>
          <a:p xmlns:a="http://schemas.openxmlformats.org/drawingml/2006/main">
            <a:pPr>
              <a:defRPr sz="1650" b="0">
                <a:solidFill>
                  <a:srgbClr val="14283F"/>
                </a:solidFill>
                <a:latin typeface="Arial"/>
                <a:ea typeface="Arial"/>
                <a:cs typeface="Arial"/>
              </a:defRPr>
            </a:pPr>
            <a:r>
              <a:rPr sz="1650" b="0">
                <a:solidFill>
                  <a:srgbClr val="14283F"/>
                </a:solidFill>
                <a:latin typeface="Arial"/>
                <a:ea typeface="Arial"/>
                <a:cs typeface="Arial"/>
              </a:rPr>
              <a:t>Policy, workflow and test definitions</a:t>
            </a:r>
          </a:p>
          <a:p xmlns:a="http://schemas.openxmlformats.org/drawingml/2006/main">
            <a:pPr>
              <a:defRPr sz="1650" b="0">
                <a:solidFill>
                  <a:srgbClr val="14283F"/>
                </a:solidFill>
                <a:latin typeface="Arial"/>
                <a:ea typeface="Arial"/>
                <a:cs typeface="Arial"/>
              </a:defRPr>
            </a:pPr>
            <a:r>
              <a:rPr sz="1650" b="0">
                <a:solidFill>
                  <a:srgbClr val="14283F"/>
                </a:solidFill>
                <a:latin typeface="Arial"/>
                <a:ea typeface="Arial"/>
                <a:cs typeface="Arial"/>
              </a:rPr>
              <a:t>Commercial entitlements and artifacts</a:t>
            </a:r>
          </a:p>
        </p:txBody>
      </p:sp>
      <p:sp>
        <p:nvSpPr>
          <p:cNvPr id="6" name="">
            <a:extLst xmlns:a="http://schemas.openxmlformats.org/drawingml/2006/main">
              <a:ext uri="{FF2B5EF4-FFF2-40B4-BE49-F238E27FC236}">
                <a16:creationId xmlns:a16="http://schemas.microsoft.com/office/drawing/2014/main" id="{FD01A5E2-AB20-4F01-8356-D52D80F5A4BD}"/>
              </a:ext>
            </a:extLst>
          </p:cNvPr>
          <p:cNvSpPr>
            <a:spLocks xmlns:a="http://schemas.openxmlformats.org/drawingml/2006/main" noGrp="1"/>
          </p:cNvSpPr>
          <p:nvPr/>
        </p:nvSpPr>
        <p:spPr>
          <a:xfrm xmlns:a="http://schemas.openxmlformats.org/drawingml/2006/main">
            <a:off x="6334125" y="1428750"/>
            <a:ext cx="3619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1">
                <a:solidFill>
                  <a:srgbClr val="087C82"/>
                </a:solidFill>
                <a:latin typeface="Arial"/>
                <a:ea typeface="Arial"/>
                <a:cs typeface="Arial"/>
              </a:defRPr>
            </a:pPr>
            <a:r>
              <a:rPr sz="1275" b="1">
                <a:solidFill>
                  <a:srgbClr val="087C82"/>
                </a:solidFill>
                <a:latin typeface="Arial"/>
                <a:ea typeface="Arial"/>
                <a:cs typeface="Arial"/>
              </a:rPr>
              <a:t>ADOPTION PATH</a:t>
            </a:r>
          </a:p>
        </p:txBody>
      </p:sp>
      <p:sp>
        <p:nvSpPr>
          <p:cNvPr id="7" name="">
            <a:extLst xmlns:a="http://schemas.openxmlformats.org/drawingml/2006/main">
              <a:ext uri="{FF2B5EF4-FFF2-40B4-BE49-F238E27FC236}">
                <a16:creationId xmlns:a16="http://schemas.microsoft.com/office/drawing/2014/main" id="{9FCFF2B4-DEBB-481C-8074-0C56C2534FB4}"/>
              </a:ext>
            </a:extLst>
          </p:cNvPr>
          <p:cNvSpPr>
            <a:spLocks xmlns:a="http://schemas.openxmlformats.org/drawingml/2006/main" noGrp="1"/>
          </p:cNvSpPr>
          <p:nvPr/>
        </p:nvSpPr>
        <p:spPr>
          <a:xfrm xmlns:a="http://schemas.openxmlformats.org/drawingml/2006/main">
            <a:off x="6334125" y="1905000"/>
            <a:ext cx="4714875" cy="323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14283F"/>
                </a:solidFill>
                <a:latin typeface="Arial"/>
                <a:ea typeface="Arial"/>
                <a:cs typeface="Arial"/>
              </a:defRPr>
            </a:pPr>
            <a:r>
              <a:rPr sz="1650" b="0">
                <a:solidFill>
                  <a:srgbClr val="14283F"/>
                </a:solidFill>
                <a:latin typeface="Arial"/>
                <a:ea typeface="Arial"/>
                <a:cs typeface="Arial"/>
              </a:rPr>
              <a:t>Publish a signed version.</a:t>
            </a:r>
          </a:p>
          <a:p xmlns:a="http://schemas.openxmlformats.org/drawingml/2006/main">
            <a:pPr>
              <a:defRPr sz="1650" b="0">
                <a:solidFill>
                  <a:srgbClr val="14283F"/>
                </a:solidFill>
                <a:latin typeface="Arial"/>
                <a:ea typeface="Arial"/>
                <a:cs typeface="Arial"/>
              </a:defRPr>
            </a:pPr>
            <a:r>
              <a:rPr sz="1650" b="0">
                <a:solidFill>
                  <a:srgbClr val="14283F"/>
                </a:solidFill>
                <a:latin typeface="Arial"/>
                <a:ea typeface="Arial"/>
                <a:cs typeface="Arial"/>
              </a:rPr>
              <a:t>Preview applicability and impact.</a:t>
            </a:r>
          </a:p>
          <a:p xmlns:a="http://schemas.openxmlformats.org/drawingml/2006/main">
            <a:pPr>
              <a:defRPr sz="1650" b="0">
                <a:solidFill>
                  <a:srgbClr val="14283F"/>
                </a:solidFill>
                <a:latin typeface="Arial"/>
                <a:ea typeface="Arial"/>
                <a:cs typeface="Arial"/>
              </a:defRPr>
            </a:pPr>
            <a:r>
              <a:rPr sz="1650" b="0">
                <a:solidFill>
                  <a:srgbClr val="14283F"/>
                </a:solidFill>
                <a:latin typeface="Arial"/>
                <a:ea typeface="Arial"/>
                <a:cs typeface="Arial"/>
              </a:rPr>
              <a:t>Authorised owner selects and configures it.</a:t>
            </a:r>
          </a:p>
          <a:p xmlns:a="http://schemas.openxmlformats.org/drawingml/2006/main">
            <a:pPr>
              <a:defRPr sz="1650" b="0">
                <a:solidFill>
                  <a:srgbClr val="14283F"/>
                </a:solidFill>
                <a:latin typeface="Arial"/>
                <a:ea typeface="Arial"/>
                <a:cs typeface="Arial"/>
              </a:defRPr>
            </a:pPr>
            <a:r>
              <a:rPr sz="1650" b="0">
                <a:solidFill>
                  <a:srgbClr val="14283F"/>
                </a:solidFill>
                <a:latin typeface="Arial"/>
                <a:ea typeface="Arial"/>
                <a:cs typeface="Arial"/>
              </a:rPr>
              <a:t>Run tests against the adopted version.</a:t>
            </a:r>
          </a:p>
          <a:p xmlns:a="http://schemas.openxmlformats.org/drawingml/2006/main">
            <a:pPr>
              <a:defRPr sz="1650" b="0">
                <a:solidFill>
                  <a:srgbClr val="14283F"/>
                </a:solidFill>
                <a:latin typeface="Arial"/>
                <a:ea typeface="Arial"/>
                <a:cs typeface="Arial"/>
              </a:defRPr>
            </a:pPr>
            <a:r>
              <a:rPr sz="1650" b="0">
                <a:solidFill>
                  <a:srgbClr val="14283F"/>
                </a:solidFill>
                <a:latin typeface="Arial"/>
                <a:ea typeface="Arial"/>
                <a:cs typeface="Arial"/>
              </a:rPr>
              <a:t>Keep earlier evidence tied to its original version.</a:t>
            </a:r>
          </a:p>
        </p:txBody>
      </p:sp>
      <p:sp>
        <p:nvSpPr>
          <p:cNvPr id="8" name="">
            <a:extLst xmlns:a="http://schemas.openxmlformats.org/drawingml/2006/main">
              <a:ext uri="{FF2B5EF4-FFF2-40B4-BE49-F238E27FC236}">
                <a16:creationId xmlns:a16="http://schemas.microsoft.com/office/drawing/2014/main" id="{2DD89505-C5FF-41C7-A04F-2968924DFD4E}"/>
              </a:ext>
            </a:extLst>
          </p:cNvPr>
          <p:cNvSpPr>
            <a:spLocks xmlns:a="http://schemas.openxmlformats.org/drawingml/2006/main" noGrp="1"/>
          </p:cNvSpPr>
          <p:nvPr/>
        </p:nvSpPr>
        <p:spPr>
          <a:xfrm xmlns:a="http://schemas.openxmlformats.org/drawingml/2006/main">
            <a:off x="666750" y="5429250"/>
            <a:ext cx="10287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75" b="0">
                <a:solidFill>
                  <a:srgbClr val="14283F"/>
                </a:solidFill>
                <a:latin typeface="Arial"/>
                <a:ea typeface="Arial"/>
                <a:cs typeface="Arial"/>
              </a:defRPr>
            </a:pPr>
            <a:r>
              <a:rPr sz="1575" b="0">
                <a:solidFill>
                  <a:srgbClr val="14283F"/>
                </a:solidFill>
                <a:latin typeface="Arial"/>
                <a:ea typeface="Arial"/>
                <a:cs typeface="Arial"/>
              </a:rPr>
              <a:t>The signed regulatory-package review path exists; approved content and release sign-off remain separate gates.</a:t>
            </a:r>
          </a:p>
        </p:txBody>
      </p:sp>
    </p:spTree>
    <p:extLst>
      <p:ext uri="{BB962C8B-B14F-4D97-AF65-F5344CB8AC3E}">
        <p14:creationId xmlns:p14="http://schemas.microsoft.com/office/powerpoint/2010/main" val="227700530"/>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1B9E41E-46A7-43D1-82CC-A4614369FFD9}"/>
              </a:ext>
            </a:extLst>
          </p:cNvPr>
          <p:cNvSpPr>
            <a:spLocks xmlns:a="http://schemas.openxmlformats.org/drawingml/2006/main" noGrp="1"/>
          </p:cNvSpPr>
          <p:nvPr/>
        </p:nvSpPr>
        <p:spPr>
          <a:xfrm xmlns:a="http://schemas.openxmlformats.org/drawingml/2006/main">
            <a:off x="666750" y="400050"/>
            <a:ext cx="108108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700" b="1">
                <a:solidFill>
                  <a:srgbClr val="14283F"/>
                </a:solidFill>
                <a:latin typeface="Arial"/>
                <a:ea typeface="Arial"/>
                <a:cs typeface="Arial"/>
              </a:defRPr>
            </a:pPr>
            <a:r>
              <a:rPr sz="2700" b="1">
                <a:solidFill>
                  <a:srgbClr val="14283F"/>
                </a:solidFill>
                <a:latin typeface="Arial"/>
                <a:ea typeface="Arial"/>
                <a:cs typeface="Arial"/>
              </a:rPr>
              <a:t>Customer offering and boundaries</a:t>
            </a:r>
          </a:p>
        </p:txBody>
      </p:sp>
      <p:sp>
        <p:nvSpPr>
          <p:cNvPr id="2" name="">
            <a:extLst xmlns:a="http://schemas.openxmlformats.org/drawingml/2006/main">
              <a:ext uri="{FF2B5EF4-FFF2-40B4-BE49-F238E27FC236}">
                <a16:creationId xmlns:a16="http://schemas.microsoft.com/office/drawing/2014/main" id="{C0BFC8C0-FF42-45CA-AC7A-8FA6185BB1FD}"/>
              </a:ext>
            </a:extLst>
          </p:cNvPr>
          <p:cNvSpPr>
            <a:spLocks xmlns:a="http://schemas.openxmlformats.org/drawingml/2006/main" noGrp="1"/>
          </p:cNvSpPr>
          <p:nvPr/>
        </p:nvSpPr>
        <p:spPr>
          <a:xfrm xmlns:a="http://schemas.openxmlformats.org/drawingml/2006/main">
            <a:off x="666750" y="6343650"/>
            <a:ext cx="1000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900" b="0">
                <a:solidFill>
                  <a:srgbClr val="435466"/>
                </a:solidFill>
                <a:latin typeface="Arial"/>
                <a:ea typeface="Arial"/>
                <a:cs typeface="Arial"/>
              </a:defRPr>
            </a:pPr>
            <a:r>
              <a:rPr sz="900" b="0">
                <a:solidFill>
                  <a:srgbClr val="435466"/>
                </a:solidFill>
                <a:latin typeface="Arial"/>
                <a:ea typeface="Arial"/>
                <a:cs typeface="Arial"/>
              </a:rPr>
              <a:t>Source: ORVIA leadership brief, 25 Sep 2026</a:t>
            </a:r>
          </a:p>
        </p:txBody>
      </p:sp>
      <p:sp>
        <p:nvSpPr>
          <p:cNvPr id="3" name="">
            <a:extLst xmlns:a="http://schemas.openxmlformats.org/drawingml/2006/main">
              <a:ext uri="{FF2B5EF4-FFF2-40B4-BE49-F238E27FC236}">
                <a16:creationId xmlns:a16="http://schemas.microsoft.com/office/drawing/2014/main" id="{7D235F1B-57FD-442B-93BA-174E9D494EBB}"/>
              </a:ext>
            </a:extLst>
          </p:cNvPr>
          <p:cNvSpPr>
            <a:spLocks xmlns:a="http://schemas.openxmlformats.org/drawingml/2006/main" noGrp="1"/>
          </p:cNvSpPr>
          <p:nvPr/>
        </p:nvSpPr>
        <p:spPr>
          <a:xfrm xmlns:a="http://schemas.openxmlformats.org/drawingml/2006/main">
            <a:off x="11049000" y="63055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125" b="1">
                <a:solidFill>
                  <a:srgbClr val="087C82"/>
                </a:solidFill>
                <a:latin typeface="Arial"/>
                <a:ea typeface="Arial"/>
                <a:cs typeface="Arial"/>
              </a:defRPr>
            </a:pPr>
            <a:r>
              <a:rPr sz="1125" b="1">
                <a:solidFill>
                  <a:srgbClr val="087C82"/>
                </a:solidFill>
                <a:latin typeface="Arial"/>
                <a:ea typeface="Arial"/>
                <a:cs typeface="Arial"/>
              </a:rPr>
              <a:t>10</a:t>
            </a:r>
          </a:p>
        </p:txBody>
      </p:sp>
      <p:sp>
        <p:nvSpPr>
          <p:cNvPr id="4" name="">
            <a:extLst xmlns:a="http://schemas.openxmlformats.org/drawingml/2006/main">
              <a:ext uri="{FF2B5EF4-FFF2-40B4-BE49-F238E27FC236}">
                <a16:creationId xmlns:a16="http://schemas.microsoft.com/office/drawing/2014/main" id="{C8FF03EE-86EF-457F-A30F-EC4C0B76A86F}"/>
              </a:ext>
            </a:extLst>
          </p:cNvPr>
          <p:cNvSpPr>
            <a:spLocks xmlns:a="http://schemas.openxmlformats.org/drawingml/2006/main" noGrp="1"/>
          </p:cNvSpPr>
          <p:nvPr/>
        </p:nvSpPr>
        <p:spPr>
          <a:xfrm xmlns:a="http://schemas.openxmlformats.org/drawingml/2006/main">
            <a:off x="666750" y="1428750"/>
            <a:ext cx="428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1">
                <a:solidFill>
                  <a:srgbClr val="087C82"/>
                </a:solidFill>
                <a:latin typeface="Arial"/>
                <a:ea typeface="Arial"/>
                <a:cs typeface="Arial"/>
              </a:defRPr>
            </a:pPr>
            <a:r>
              <a:rPr sz="1275" b="1">
                <a:solidFill>
                  <a:srgbClr val="087C82"/>
                </a:solidFill>
                <a:latin typeface="Arial"/>
                <a:ea typeface="Arial"/>
                <a:cs typeface="Arial"/>
              </a:rPr>
              <a:t>CUSTOMER INSTALLATION</a:t>
            </a:r>
          </a:p>
        </p:txBody>
      </p:sp>
      <p:sp>
        <p:nvSpPr>
          <p:cNvPr id="5" name="">
            <a:extLst xmlns:a="http://schemas.openxmlformats.org/drawingml/2006/main">
              <a:ext uri="{FF2B5EF4-FFF2-40B4-BE49-F238E27FC236}">
                <a16:creationId xmlns:a16="http://schemas.microsoft.com/office/drawing/2014/main" id="{BB169609-A12E-42AC-B0F0-2AF6F87315F7}"/>
              </a:ext>
            </a:extLst>
          </p:cNvPr>
          <p:cNvSpPr>
            <a:spLocks xmlns:a="http://schemas.openxmlformats.org/drawingml/2006/main" noGrp="1"/>
          </p:cNvSpPr>
          <p:nvPr/>
        </p:nvSpPr>
        <p:spPr>
          <a:xfrm xmlns:a="http://schemas.openxmlformats.org/drawingml/2006/main">
            <a:off x="666750" y="1905000"/>
            <a:ext cx="4905375"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14283F"/>
                </a:solidFill>
                <a:latin typeface="Arial"/>
                <a:ea typeface="Arial"/>
                <a:cs typeface="Arial"/>
              </a:defRPr>
            </a:pPr>
            <a:r>
              <a:rPr sz="1650" b="0">
                <a:solidFill>
                  <a:srgbClr val="14283F"/>
                </a:solidFill>
                <a:latin typeface="Arial"/>
                <a:ea typeface="Arial"/>
                <a:cs typeface="Arial"/>
              </a:rPr>
              <a:t>Workspace and principal privacy centre</a:t>
            </a:r>
          </a:p>
          <a:p xmlns:a="http://schemas.openxmlformats.org/drawingml/2006/main">
            <a:pPr>
              <a:defRPr sz="1650" b="0">
                <a:solidFill>
                  <a:srgbClr val="14283F"/>
                </a:solidFill>
                <a:latin typeface="Arial"/>
                <a:ea typeface="Arial"/>
                <a:cs typeface="Arial"/>
              </a:defRPr>
            </a:pPr>
            <a:r>
              <a:rPr sz="1650" b="0">
                <a:solidFill>
                  <a:srgbClr val="14283F"/>
                </a:solidFill>
                <a:latin typeface="Arial"/>
                <a:ea typeface="Arial"/>
                <a:cs typeface="Arial"/>
              </a:rPr>
              <a:t>APIs, durable worker and local database</a:t>
            </a:r>
          </a:p>
          <a:p xmlns:a="http://schemas.openxmlformats.org/drawingml/2006/main">
            <a:pPr>
              <a:defRPr sz="1650" b="0">
                <a:solidFill>
                  <a:srgbClr val="14283F"/>
                </a:solidFill>
                <a:latin typeface="Arial"/>
                <a:ea typeface="Arial"/>
                <a:cs typeface="Arial"/>
              </a:defRPr>
            </a:pPr>
            <a:r>
              <a:rPr sz="1650" b="0">
                <a:solidFill>
                  <a:srgbClr val="14283F"/>
                </a:solidFill>
                <a:latin typeface="Arial"/>
                <a:ea typeface="Arial"/>
                <a:cs typeface="Arial"/>
              </a:rPr>
              <a:t>Approved connectors, evidence and tests</a:t>
            </a:r>
          </a:p>
          <a:p xmlns:a="http://schemas.openxmlformats.org/drawingml/2006/main">
            <a:pPr>
              <a:defRPr sz="1650" b="0">
                <a:solidFill>
                  <a:srgbClr val="14283F"/>
                </a:solidFill>
                <a:latin typeface="Arial"/>
                <a:ea typeface="Arial"/>
                <a:cs typeface="Arial"/>
              </a:defRPr>
            </a:pPr>
            <a:r>
              <a:rPr sz="1650" b="0">
                <a:solidFill>
                  <a:srgbClr val="14283F"/>
                </a:solidFill>
                <a:latin typeface="Arial"/>
                <a:ea typeface="Arial"/>
                <a:cs typeface="Arial"/>
              </a:rPr>
              <a:t>Operational records kept in the customer environment</a:t>
            </a:r>
          </a:p>
        </p:txBody>
      </p:sp>
      <p:sp>
        <p:nvSpPr>
          <p:cNvPr id="6" name="">
            <a:extLst xmlns:a="http://schemas.openxmlformats.org/drawingml/2006/main">
              <a:ext uri="{FF2B5EF4-FFF2-40B4-BE49-F238E27FC236}">
                <a16:creationId xmlns:a16="http://schemas.microsoft.com/office/drawing/2014/main" id="{16AF5EED-F3FA-480A-AF34-E2783EAC1BB3}"/>
              </a:ext>
            </a:extLst>
          </p:cNvPr>
          <p:cNvSpPr>
            <a:spLocks xmlns:a="http://schemas.openxmlformats.org/drawingml/2006/main" noGrp="1"/>
          </p:cNvSpPr>
          <p:nvPr/>
        </p:nvSpPr>
        <p:spPr>
          <a:xfrm xmlns:a="http://schemas.openxmlformats.org/drawingml/2006/main">
            <a:off x="6334125" y="1428750"/>
            <a:ext cx="3524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1">
                <a:solidFill>
                  <a:srgbClr val="087C82"/>
                </a:solidFill>
                <a:latin typeface="Arial"/>
                <a:ea typeface="Arial"/>
                <a:cs typeface="Arial"/>
              </a:defRPr>
            </a:pPr>
            <a:r>
              <a:rPr sz="1275" b="1">
                <a:solidFill>
                  <a:srgbClr val="087C82"/>
                </a:solidFill>
                <a:latin typeface="Arial"/>
                <a:ea typeface="Arial"/>
                <a:cs typeface="Arial"/>
              </a:rPr>
              <a:t>VENDOR BOUNDARY</a:t>
            </a:r>
          </a:p>
        </p:txBody>
      </p:sp>
      <p:sp>
        <p:nvSpPr>
          <p:cNvPr id="7" name="">
            <a:extLst xmlns:a="http://schemas.openxmlformats.org/drawingml/2006/main">
              <a:ext uri="{FF2B5EF4-FFF2-40B4-BE49-F238E27FC236}">
                <a16:creationId xmlns:a16="http://schemas.microsoft.com/office/drawing/2014/main" id="{2B11F4AB-EB06-455A-B9D8-651CBC17E5FD}"/>
              </a:ext>
            </a:extLst>
          </p:cNvPr>
          <p:cNvSpPr>
            <a:spLocks xmlns:a="http://schemas.openxmlformats.org/drawingml/2006/main" noGrp="1"/>
          </p:cNvSpPr>
          <p:nvPr/>
        </p:nvSpPr>
        <p:spPr>
          <a:xfrm xmlns:a="http://schemas.openxmlformats.org/drawingml/2006/main">
            <a:off x="6334125" y="1905000"/>
            <a:ext cx="47148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14283F"/>
                </a:solidFill>
                <a:latin typeface="Arial"/>
                <a:ea typeface="Arial"/>
                <a:cs typeface="Arial"/>
              </a:defRPr>
            </a:pPr>
            <a:r>
              <a:rPr sz="1650" b="0">
                <a:solidFill>
                  <a:srgbClr val="14283F"/>
                </a:solidFill>
                <a:latin typeface="Arial"/>
                <a:ea typeface="Arial"/>
                <a:cs typeface="Arial"/>
              </a:rPr>
              <a:t>A separate account and delivery service handles licence, signed download/update metadata and limited support metadata. Operational records stay with the customer.</a:t>
            </a:r>
          </a:p>
        </p:txBody>
      </p:sp>
      <p:sp>
        <p:nvSpPr>
          <p:cNvPr id="8" name="">
            <a:extLst xmlns:a="http://schemas.openxmlformats.org/drawingml/2006/main">
              <a:ext uri="{FF2B5EF4-FFF2-40B4-BE49-F238E27FC236}">
                <a16:creationId xmlns:a16="http://schemas.microsoft.com/office/drawing/2014/main" id="{8AE59C84-1D31-4DA4-933E-F68C336695BD}"/>
              </a:ext>
            </a:extLst>
          </p:cNvPr>
          <p:cNvSpPr>
            <a:spLocks xmlns:a="http://schemas.openxmlformats.org/drawingml/2006/main" noGrp="1"/>
          </p:cNvSpPr>
          <p:nvPr/>
        </p:nvSpPr>
        <p:spPr>
          <a:xfrm xmlns:a="http://schemas.openxmlformats.org/drawingml/2006/main">
            <a:off x="666750" y="5238750"/>
            <a:ext cx="1028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14283F"/>
                </a:solidFill>
                <a:latin typeface="Arial"/>
                <a:ea typeface="Arial"/>
                <a:cs typeface="Arial"/>
              </a:defRPr>
            </a:pPr>
            <a:r>
              <a:rPr sz="1500" b="0">
                <a:solidFill>
                  <a:srgbClr val="14283F"/>
                </a:solidFill>
                <a:latin typeface="Arial"/>
                <a:ea typeface="Arial"/>
                <a:cs typeface="Arial"/>
              </a:rPr>
              <a:t>Local licensing and update primitives are coded. Payment processing primitives exist; complete billing, live provider integration and the full account/download journey still need qualification.</a:t>
            </a:r>
          </a:p>
        </p:txBody>
      </p:sp>
    </p:spTree>
    <p:extLst>
      <p:ext uri="{BB962C8B-B14F-4D97-AF65-F5344CB8AC3E}">
        <p14:creationId xmlns:p14="http://schemas.microsoft.com/office/powerpoint/2010/main" val="25583953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2026-09-25T13:19:24.8600000Z</dcterms:created>
  <dcterms:modified xsi:type="dcterms:W3CDTF">2026-09-25T13:19:24.8600000Z</dcterms:modified>
</coreProperties>
</file>